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279e918347fc40eb" /><Relationship Type="http://schemas.openxmlformats.org/officeDocument/2006/relationships/extended-properties" Target="/docProps/app.xml" Id="Rfaa6b92cb0044591" /><Relationship Type="http://schemas.openxmlformats.org/officeDocument/2006/relationships/officeDocument" Target="/ppt/presentation.xml" Id="R443d6ba40e73455e" /></Relationships>
</file>

<file path=ppt/presentation.xml><?xml version="1.0" encoding="utf-8"?>
<p:presentation xmlns:p="http://schemas.openxmlformats.org/presentationml/2006/main">
  <p:sldMasterIdLst>
    <p:sldMasterId xmlns:r="http://schemas.openxmlformats.org/officeDocument/2006/relationships" id="2147483648" r:id="R6c61ae764d624d1f"/>
  </p:sldMasterIdLst>
  <p:notesMasterIdLst>
    <p:notesMasterId xmlns:r="http://schemas.openxmlformats.org/officeDocument/2006/relationships" r:id="Rbf108aef4e3543cb"/>
  </p:notesMasterIdLst>
  <p:sldIdLst>
    <p:sldId xmlns:r="http://schemas.openxmlformats.org/officeDocument/2006/relationships" id="256" r:id="R611c3cbf37f54395"/>
    <p:sldId xmlns:r="http://schemas.openxmlformats.org/officeDocument/2006/relationships" id="257" r:id="R33408a6d1c9148cd"/>
    <p:sldId xmlns:r="http://schemas.openxmlformats.org/officeDocument/2006/relationships" id="258" r:id="R42eb007fa8304fa6"/>
    <p:sldId xmlns:r="http://schemas.openxmlformats.org/officeDocument/2006/relationships" id="259" r:id="R642cfa9df26d44e0"/>
    <p:sldId xmlns:r="http://schemas.openxmlformats.org/officeDocument/2006/relationships" id="260" r:id="R888bcd5d94144088"/>
    <p:sldId xmlns:r="http://schemas.openxmlformats.org/officeDocument/2006/relationships" id="261" r:id="Ra6ab350e7f3b4310"/>
    <p:sldId xmlns:r="http://schemas.openxmlformats.org/officeDocument/2006/relationships" id="262" r:id="R53b9f43f742b4d8f"/>
    <p:sldId xmlns:r="http://schemas.openxmlformats.org/officeDocument/2006/relationships" id="263" r:id="R43c3075b57c04c86"/>
    <p:sldId xmlns:r="http://schemas.openxmlformats.org/officeDocument/2006/relationships" id="264" r:id="Re6826cb35f914c1f"/>
    <p:sldId xmlns:r="http://schemas.openxmlformats.org/officeDocument/2006/relationships" id="265" r:id="R9dfc56bf23be48d1"/>
    <p:sldId xmlns:r="http://schemas.openxmlformats.org/officeDocument/2006/relationships" id="266" r:id="R2130319181f640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9939b606c94cf4" /><Relationship Type="http://schemas.openxmlformats.org/officeDocument/2006/relationships/slideMaster" Target="/ppt/slideMasters/slideMaster1.xml" Id="R6c61ae764d624d1f" /><Relationship Type="http://schemas.openxmlformats.org/officeDocument/2006/relationships/notesMaster" Target="/ppt/notesMasters/notesMaster1.xml" Id="Rbf108aef4e3543cb" /><Relationship Type="http://schemas.openxmlformats.org/officeDocument/2006/relationships/presProps" Target="/ppt/presProps.xml" Id="Rb860035f754c4eae" /><Relationship Type="http://schemas.openxmlformats.org/officeDocument/2006/relationships/tableStyles" Target="/ppt/tableStyles.xml" Id="R5d6d01a6d4d047ee" /><Relationship Type="http://schemas.openxmlformats.org/officeDocument/2006/relationships/slide" Target="/ppt/slides/slide1.xml" Id="R611c3cbf37f54395" /><Relationship Type="http://schemas.openxmlformats.org/officeDocument/2006/relationships/slide" Target="/ppt/slides/slide2.xml" Id="R33408a6d1c9148cd" /><Relationship Type="http://schemas.openxmlformats.org/officeDocument/2006/relationships/slide" Target="/ppt/slides/slide3.xml" Id="R42eb007fa8304fa6" /><Relationship Type="http://schemas.openxmlformats.org/officeDocument/2006/relationships/slide" Target="/ppt/slides/slide4.xml" Id="R642cfa9df26d44e0" /><Relationship Type="http://schemas.openxmlformats.org/officeDocument/2006/relationships/slide" Target="/ppt/slides/slide5.xml" Id="R888bcd5d94144088" /><Relationship Type="http://schemas.openxmlformats.org/officeDocument/2006/relationships/slide" Target="/ppt/slides/slide6.xml" Id="Ra6ab350e7f3b4310" /><Relationship Type="http://schemas.openxmlformats.org/officeDocument/2006/relationships/slide" Target="/ppt/slides/slide7.xml" Id="R53b9f43f742b4d8f" /><Relationship Type="http://schemas.openxmlformats.org/officeDocument/2006/relationships/slide" Target="/ppt/slides/slide8.xml" Id="R43c3075b57c04c86" /><Relationship Type="http://schemas.openxmlformats.org/officeDocument/2006/relationships/slide" Target="/ppt/slides/slide9.xml" Id="Re6826cb35f914c1f" /><Relationship Type="http://schemas.openxmlformats.org/officeDocument/2006/relationships/slide" Target="/ppt/slides/slide10.xml" Id="R9dfc56bf23be48d1" /><Relationship Type="http://schemas.openxmlformats.org/officeDocument/2006/relationships/slide" Target="/ppt/slides/slide11.xml" Id="R2130319181f640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69a61b85f54a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8653ecc5334c8b" /><Relationship Type="http://schemas.openxmlformats.org/officeDocument/2006/relationships/notesMaster" Target="/ppt/notesMasters/notesMaster1.xml" Id="R7d0ea7464bc141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a3bc469eed4979" /><Relationship Type="http://schemas.openxmlformats.org/officeDocument/2006/relationships/notesMaster" Target="/ppt/notesMasters/notesMaster1.xml" Id="Rd5cbfc0b4fba4a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33403ae2c84c81" /><Relationship Type="http://schemas.openxmlformats.org/officeDocument/2006/relationships/notesMaster" Target="/ppt/notesMasters/notesMaster1.xml" Id="R909564f0baaa41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d53c1efdfa4a66" /><Relationship Type="http://schemas.openxmlformats.org/officeDocument/2006/relationships/notesMaster" Target="/ppt/notesMasters/notesMaster1.xml" Id="R1146e372f3824e6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ca2ce8f6614f70" /><Relationship Type="http://schemas.openxmlformats.org/officeDocument/2006/relationships/notesMaster" Target="/ppt/notesMasters/notesMaster1.xml" Id="R43d076f0856b4c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03f65b9acf4dee" /><Relationship Type="http://schemas.openxmlformats.org/officeDocument/2006/relationships/notesMaster" Target="/ppt/notesMasters/notesMaster1.xml" Id="Rc83f7514ee984d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8de8d5cb0c4ef8" /><Relationship Type="http://schemas.openxmlformats.org/officeDocument/2006/relationships/notesMaster" Target="/ppt/notesMasters/notesMaster1.xml" Id="R54856c4c66504d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a2cf77d25542c4" /><Relationship Type="http://schemas.openxmlformats.org/officeDocument/2006/relationships/notesMaster" Target="/ppt/notesMasters/notesMaster1.xml" Id="R6895092b280e4b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4c06fd3180481f" /><Relationship Type="http://schemas.openxmlformats.org/officeDocument/2006/relationships/notesMaster" Target="/ppt/notesMasters/notesMaster1.xml" Id="R8054b01b60294f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a8fa630bb34e69" /><Relationship Type="http://schemas.openxmlformats.org/officeDocument/2006/relationships/notesMaster" Target="/ppt/notesMasters/notesMaster1.xml" Id="Rb33fb74f3bbd4a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6387d4b4bc4c2f" /><Relationship Type="http://schemas.openxmlformats.org/officeDocument/2006/relationships/notesMaster" Target="/ppt/notesMasters/notesMaster1.xml" Id="Rf6299fa49fe849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uses original 2560×1440 vehicle-viewer image frontend/public/images/bmw/exterior/31GE/04.webp. The 1 SERIES text is an editable background layer, occluded by the original car silhouette. Vehicle imagery is representative, without an equipment or BMW approval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BMW source package includes G60 feedback, a US_2025 customer study, and a G60 option list. The supplied option list is not a validated US equipment baseline. The three categories are distinct interpretation paths, not four evidence boxes or conclusions already proven by the cited record. See doc/frontend/MODEL-COVERAGE.md and doc/googledrive/F70_G60_G68_G70_customer_studies.xlsx.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verified against plan.md, backend_plan.md and the implemented API/workflow. The actual product interface screenshot is from doc/frontend/evidence/workshop-desktop.png; this visual crop removes the synthetic suggestion sidebar requested in review. Remaining visible vehicle/viewer context is fixture-based, so the screenshot is not evidence of a live BMW analysis. Core path: upload and freeze run/source scope; parse and normalize; extract source-linked findings; check baseline and optionally run Deep Dive; create versioned proposals; PM edits/decides; optional Reimagine uses a bound proposal version; export preserves selected versions and audit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Cross-checked against the supplied BMW challenge in doc/more.md, plan.md, backend_plan.md, backend/TESTING_HANDOFF.md and backend/app/workflows.py. The core pipeline covers heterogeneous upload and source snapshot; parsing, normalization and deduplication; source-linked findings and baseline checks; optional Deep Dive; versioned requirements/proposals with explainable scoring; PM edits/decisions; optional exact-version Reimagine; and exact-version export with audit. Research failures yield explicit gaps, and renderer failure does not block proposals. AI does not approve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doc/googledrive/G60_feedback_hackathon.xlsx, worksheet Feedback_Explorer, row 313. ID G60-0248, country US, derivative code G60, engine type ICE, category Operating concept, operating system. The former visible label “Difficult to Use” has been removed. This single source row does not establish prevalence, trim applicability, or exact feature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anchor: G60-0248, row 313, requests simpler or click-type access. Counterpoint: G60-0105, row 129, says the customer is enjoying the screen interface. These are distinct records; they do not prove directly comparable customer groups or validate either proposed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previous 75-to-67 example and its factor ratings were synthetic. This slide deliberately withholds a score because the cited feedback records do not establish customer impact, target-group reach, matched feature availability, or successor relevance. Weights are project policy, not BMW-prescribed.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Draft language based on BMW G60 feedback workbook, Feedback_Explorer rows 313 (G60-0248) and 797 (G60-0635). This is a manually prepared candidate for the pitch deck, not a stored backend proposal or PM-approved requirement. It does not claim population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before/after is an editable UI concept based on G60 feedback, not an app-generated artifact. Repo documentation states current downloaded BMW geometry supports a bounded resize of one independently separated front seat. It does not establish touchscreen redesign or engineering validation. See README.md and doc/reimagine-assets.md.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 evidence: frontend and backend are connected. Backend handoff records a real three-record G60 run with three findings and three changes; the vehicle/part catalog was synthetic, so exact derivative and equipment applicability remain unverified. Combined frontend verification used synthetic UI harness content; no live service was running during this deck update. References: README.md, backend/TESTING_HANDOFF.md, doc/frontend/COMBINED-VERIFICATION.md.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bounded next proof. Do not claim one-record feedback validates broad market need, exact derivative fit, a BMW-approved score, or generated dashboard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6832572a3146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0b016e9529b48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33d01f2dd040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4b3d45504e4b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ab7f746d184a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ce322edfce43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0530A1-CFCC-411C-9F8A-DE4FA15FFFD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29BD806-047A-4C50-B9C0-337F90FF7F3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CE8DF05-DB74-43D7-B8C0-6796C36E794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002450-DB43-4287-B03A-A68201DE25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BDF3331-BD79-4466-A552-72E8A1B99E7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5637B0C-DDA2-4823-87C2-C5E0620C4E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630295-2069-4279-AE98-9B7EDE6492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4C743B3-2CE7-4A32-9607-F24575D0254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AB1928-D4C4-4A36-893C-24232EA919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A6380C-17AA-45CA-8BA8-FFB7BA19A7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c51dd459bf4f9b" /><Relationship Type="http://schemas.openxmlformats.org/officeDocument/2006/relationships/slideLayout" Target="/ppt/slideLayouts/slideLayout1.xml" Id="Rbdd38dbdf34a4b01" /><Relationship Type="http://schemas.openxmlformats.org/officeDocument/2006/relationships/slideLayout" Target="/ppt/slideLayouts/slideLayout2.xml" Id="Rb4f687951ddf4430" /><Relationship Type="http://schemas.openxmlformats.org/officeDocument/2006/relationships/slideLayout" Target="/ppt/slideLayouts/slideLayout3.xml" Id="Rd360fdccc1ab4f74" /><Relationship Type="http://schemas.openxmlformats.org/officeDocument/2006/relationships/slideLayout" Target="/ppt/slideLayouts/slideLayout4.xml" Id="R80d150da32a14f31" /><Relationship Type="http://schemas.openxmlformats.org/officeDocument/2006/relationships/slideLayout" Target="/ppt/slideLayouts/slideLayout5.xml" Id="Rbfe3d23d11f24aa2" /><Relationship Type="http://schemas.openxmlformats.org/officeDocument/2006/relationships/slideLayout" Target="/ppt/slideLayouts/slideLayout6.xml" Id="R8ced41ad37c34a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d38dbdf34a4b01"/>
    <p:sldLayoutId xmlns:r="http://schemas.openxmlformats.org/officeDocument/2006/relationships" id="2147483650" r:id="Rb4f687951ddf4430"/>
    <p:sldLayoutId xmlns:r="http://schemas.openxmlformats.org/officeDocument/2006/relationships" id="2147483651" r:id="Rd360fdccc1ab4f74"/>
    <p:sldLayoutId xmlns:r="http://schemas.openxmlformats.org/officeDocument/2006/relationships" id="2147483652" r:id="R80d150da32a14f31"/>
    <p:sldLayoutId xmlns:r="http://schemas.openxmlformats.org/officeDocument/2006/relationships" id="2147483653" r:id="Rbfe3d23d11f24aa2"/>
    <p:sldLayoutId xmlns:r="http://schemas.openxmlformats.org/officeDocument/2006/relationships" id="2147483654" r:id="R8ced41ad37c34a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33a50f41c4694654"/><Relationship Type="http://schemas.openxmlformats.org/officeDocument/2006/relationships/image" Target="/ppt/media/image.png" Id="R649bc444889248a6"/><Relationship Type="http://schemas.openxmlformats.org/officeDocument/2006/relationships/image" Target="/ppt/media/image2.png" Id="R76e17634a36647a2"/><Relationship Type="http://schemas.openxmlformats.org/officeDocument/2006/relationships/notesSlide" Target="/ppt/notesSlides/notesSlide1.xml" Id="R6e0bd1972a454f8c"/><Relationship Id="rIdFwdVideo" Type="http://schemas.openxmlformats.org/officeDocument/2006/relationships/video" Target="../media/fwd-intro.mp4"/><Relationship Id="rIdFwdMedia" Type="http://schemas.microsoft.com/office/2007/relationships/media" Target="../media/fwd-intro.mp4"/><Relationship Id="rIdFwdPoster" Type="http://schemas.openxmlformats.org/officeDocument/2006/relationships/image" Target="../media/fwd-intro-poster.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bbbbd36f38942de" /><Relationship Type="http://schemas.openxmlformats.org/officeDocument/2006/relationships/notesSlide" Target="/ppt/notesSlides/notesSlide2.xml" Id="Rb247bd8daaf740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a2c048835a4779" /><Relationship Type="http://schemas.openxmlformats.org/officeDocument/2006/relationships/image" Target="/ppt/media/image.jpeg" Id="R66923b1b91544904" /><Relationship Type="http://schemas.openxmlformats.org/officeDocument/2006/relationships/notesSlide" Target="/ppt/notesSlides/notesSlide3.xml" Id="R3e526023505d4d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b8ab4040fbe4aca" /><Relationship Type="http://schemas.openxmlformats.org/officeDocument/2006/relationships/notesSlide" Target="/ppt/notesSlides/notesSlide4.xml" Id="R3dc7042a1a8c4c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54aa53892f4f69" /><Relationship Type="http://schemas.openxmlformats.org/officeDocument/2006/relationships/notesSlide" Target="/ppt/notesSlides/notesSlide5.xml" Id="Rfdfaddc103844a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ae1345ea994294" /><Relationship Type="http://schemas.openxmlformats.org/officeDocument/2006/relationships/notesSlide" Target="/ppt/notesSlides/notesSlide6.xml" Id="R6c4812cf53054b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9140d8df718428b" /><Relationship Type="http://schemas.openxmlformats.org/officeDocument/2006/relationships/notesSlide" Target="/ppt/notesSlides/notesSlide7.xml" Id="R3428a83f7e0f42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81e8d278186484f" /><Relationship Type="http://schemas.openxmlformats.org/officeDocument/2006/relationships/notesSlide" Target="/ppt/notesSlides/notesSlide8.xml" Id="Rea71f9a801b24a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ae2b50902784cd0" /><Relationship Type="http://schemas.openxmlformats.org/officeDocument/2006/relationships/notesSlide" Target="/ppt/notesSlides/notesSlide9.xml" Id="R91e6cd47688c419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77856856d074f8b" /><Relationship Type="http://schemas.openxmlformats.org/officeDocument/2006/relationships/notesSlide" Target="/ppt/notesSlides/notesSlide10.xml" Id="R33019e39a6af46c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5714e03cffa4254" /><Relationship Type="http://schemas.openxmlformats.org/officeDocument/2006/relationships/notesSlide" Target="/ppt/notesSlides/notesSlide11.xml" Id="R05e1d81f1dce49d4" /></Relationships>
</file>

<file path=ppt/slides/slide1.xml><?xml version="1.0" encoding="utf-8"?>
<p:sld xmlns:p="http://schemas.openxmlformats.org/presentationml/2006/main">
  <p:cSld>
    <p:bg>
      <p:bgPr>
        <a:solidFill xmlns:a="http://schemas.openxmlformats.org/drawingml/2006/main">
          <a:srgbClr val="ECEAE6"/>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0771CE8-7F60-48ED-AB28-D83E4B0597BD}"/>
              </a:ext>
            </a:extLst>
          </p:cNvPr>
          <p:cNvPicPr>
            <a:picLocks xmlns:a="http://schemas.openxmlformats.org/drawingml/2006/main" noChangeAspect="1"/>
          </p:cNvPicPr>
          <p:nvPr/>
        </p:nvPicPr>
        <p:blipFill>
          <a:blip xmlns:r="http://schemas.openxmlformats.org/officeDocument/2006/relationships" xmlns:a="http://schemas.openxmlformats.org/drawingml/2006/main" r:embed="R649bc444889248a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31C5BF0-5BC8-4C64-BA73-3D20EFE73D32}"/>
              </a:ext>
            </a:extLst>
          </p:cNvPr>
          <p:cNvSpPr>
            <a:spLocks xmlns:a="http://schemas.openxmlformats.org/drawingml/2006/main" noGrp="1"/>
          </p:cNvSpPr>
          <p:nvPr/>
        </p:nvSpPr>
        <p:spPr>
          <a:xfrm xmlns:a="http://schemas.openxmlformats.org/drawingml/2006/main">
            <a:off x="4362450" y="1076325"/>
            <a:ext cx="7239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2000" b="1">
                <a:solidFill>
                  <a:srgbClr val="C5BFB7"/>
                </a:solidFill>
                <a:latin typeface="Calibri"/>
                <a:ea typeface="Calibri"/>
                <a:cs typeface="Calibri"/>
              </a:defRPr>
            </a:defPPr>
          </a:lstStyle>
          <a:p xmlns:a="http://schemas.openxmlformats.org/drawingml/2006/main">
            <a:pPr algn="l">
              <a:defRPr sz="12000" b="1">
                <a:solidFill>
                  <a:srgbClr val="C5BFB7"/>
                </a:solidFill>
                <a:latin typeface="Calibri"/>
                <a:ea typeface="Calibri"/>
                <a:cs typeface="Calibri"/>
              </a:defRPr>
            </a:pPr>
            <a:r>
              <a:rPr sz="12000" b="1">
                <a:solidFill>
                  <a:srgbClr val="C5BFB7"/>
                </a:solidFill>
                <a:latin typeface="Calibri"/>
                <a:ea typeface="Calibri"/>
                <a:cs typeface="Calibri"/>
              </a:rPr>
              <a:t>1 SERIES</a:t>
            </a:r>
          </a:p>
        </p:txBody>
      </p:sp>
      <p:pic>
        <p:nvPicPr>
          <p:cNvPr id="3" name="">
            <a:extLst xmlns:a="http://schemas.openxmlformats.org/drawingml/2006/main">
              <a:ext uri="{FF2B5EF4-FFF2-40B4-BE49-F238E27FC236}">
                <a16:creationId xmlns:a16="http://schemas.microsoft.com/office/drawing/2014/main" id="{7028E561-C0C2-4507-B5D9-D1CA16D09F3D}"/>
              </a:ext>
            </a:extLst>
          </p:cNvPr>
          <p:cNvPicPr>
            <a:picLocks xmlns:a="http://schemas.openxmlformats.org/drawingml/2006/main" noChangeAspect="1"/>
          </p:cNvPicPr>
          <p:nvPr/>
        </p:nvPicPr>
        <p:blipFill>
          <a:blip xmlns:r="http://schemas.openxmlformats.org/officeDocument/2006/relationships" xmlns:a="http://schemas.openxmlformats.org/drawingml/2006/main" r:embed="R76e17634a36647a2"/>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8E0FD52-A276-4A05-A504-C2B535F398D8}"/>
              </a:ext>
            </a:extLst>
          </p:cNvPr>
          <p:cNvSpPr>
            <a:spLocks xmlns:a="http://schemas.openxmlformats.org/drawingml/2006/main" noGrp="1"/>
          </p:cNvSpPr>
          <p:nvPr/>
        </p:nvSpPr>
        <p:spPr>
          <a:xfrm xmlns:a="http://schemas.openxmlformats.org/drawingml/2006/main">
            <a:off x="685800" y="742950"/>
            <a:ext cx="438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5" name="">
            <a:extLst xmlns:a="http://schemas.openxmlformats.org/drawingml/2006/main">
              <a:ext uri="{FF2B5EF4-FFF2-40B4-BE49-F238E27FC236}">
                <a16:creationId xmlns:a16="http://schemas.microsoft.com/office/drawing/2014/main" id="{CE9235C5-B12A-4B92-B22B-AA9B7B88A9D5}"/>
              </a:ext>
            </a:extLst>
          </p:cNvPr>
          <p:cNvSpPr>
            <a:spLocks xmlns:a="http://schemas.openxmlformats.org/drawingml/2006/main" noGrp="1"/>
          </p:cNvSpPr>
          <p:nvPr/>
        </p:nvSpPr>
        <p:spPr>
          <a:xfrm xmlns:a="http://schemas.openxmlformats.org/drawingml/2006/main">
            <a:off x="1200150" y="714375"/>
            <a:ext cx="28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575" b="1">
                <a:solidFill>
                  <a:srgbClr val="2D5FF4"/>
                </a:solidFill>
                <a:latin typeface="Calibri"/>
                <a:ea typeface="Calibri"/>
                <a:cs typeface="Calibri"/>
              </a:defRPr>
            </a:defPPr>
          </a:lstStyle>
          <a:p xmlns:a="http://schemas.openxmlformats.org/drawingml/2006/main">
            <a:pPr algn="l">
              <a:defRPr sz="1575" b="1">
                <a:solidFill>
                  <a:srgbClr val="2D5FF4"/>
                </a:solidFill>
                <a:latin typeface="Calibri"/>
                <a:ea typeface="Calibri"/>
                <a:cs typeface="Calibri"/>
              </a:defRPr>
            </a:pPr>
            <a:r>
              <a:rPr sz="1575" b="1">
                <a:solidFill>
                  <a:srgbClr val="2D5FF4"/>
                </a:solidFill>
                <a:latin typeface="Calibri"/>
                <a:ea typeface="Calibri"/>
                <a:cs typeface="Calibri"/>
              </a:rPr>
              <a:t>//</a:t>
            </a:r>
          </a:p>
        </p:txBody>
      </p:sp>
      <p:sp>
        <p:nvSpPr>
          <p:cNvPr id="6" name="">
            <a:extLst xmlns:a="http://schemas.openxmlformats.org/drawingml/2006/main">
              <a:ext uri="{FF2B5EF4-FFF2-40B4-BE49-F238E27FC236}">
                <a16:creationId xmlns:a16="http://schemas.microsoft.com/office/drawing/2014/main" id="{81EC687B-91D8-4A09-9859-A71E991268BA}"/>
              </a:ext>
            </a:extLst>
          </p:cNvPr>
          <p:cNvSpPr>
            <a:spLocks xmlns:a="http://schemas.openxmlformats.org/drawingml/2006/main" noGrp="1"/>
          </p:cNvSpPr>
          <p:nvPr/>
        </p:nvSpPr>
        <p:spPr>
          <a:xfrm xmlns:a="http://schemas.openxmlformats.org/drawingml/2006/main">
            <a:off x="1600200" y="781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BMW VEHICLE REQUIREMENTS</a:t>
            </a:r>
          </a:p>
        </p:txBody>
      </p:sp>
      <p:sp>
        <p:nvSpPr>
          <p:cNvPr id="7" name="">
            <a:extLst xmlns:a="http://schemas.openxmlformats.org/drawingml/2006/main">
              <a:ext uri="{FF2B5EF4-FFF2-40B4-BE49-F238E27FC236}">
                <a16:creationId xmlns:a16="http://schemas.microsoft.com/office/drawing/2014/main" id="{DC0C658D-F5B1-4540-8055-401F947410D8}"/>
              </a:ext>
            </a:extLst>
          </p:cNvPr>
          <p:cNvSpPr>
            <a:spLocks xmlns:a="http://schemas.openxmlformats.org/drawingml/2006/main" noGrp="1"/>
          </p:cNvSpPr>
          <p:nvPr/>
        </p:nvSpPr>
        <p:spPr>
          <a:xfrm xmlns:a="http://schemas.openxmlformats.org/drawingml/2006/main">
            <a:off x="685800" y="1438275"/>
            <a:ext cx="428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97222"/>
          </a:bodyPr>
          <a:lstStyle xmlns:a="http://schemas.openxmlformats.org/drawingml/2006/main">
            <a:defPPr algn="l">
              <a:defRPr sz="3600" b="1">
                <a:solidFill>
                  <a:srgbClr val="172131"/>
                </a:solidFill>
                <a:latin typeface="Calibri"/>
                <a:ea typeface="Calibri"/>
                <a:cs typeface="Calibri"/>
              </a:defRPr>
            </a:defPPr>
          </a:lstStyle>
          <a:p xmlns:a="http://schemas.openxmlformats.org/drawingml/2006/main">
            <a:pPr algn="l">
              <a:defRPr sz="3600" b="1">
                <a:solidFill>
                  <a:srgbClr val="172131"/>
                </a:solidFill>
                <a:latin typeface="Calibri"/>
                <a:ea typeface="Calibri"/>
                <a:cs typeface="Calibri"/>
              </a:defRPr>
            </a:pPr>
            <a:r>
              <a:rPr sz="3600" b="1">
                <a:solidFill>
                  <a:srgbClr val="172131"/>
                </a:solidFill>
                <a:latin typeface="Calibri"/>
                <a:ea typeface="Calibri"/>
                <a:cs typeface="Calibri"/>
              </a:rPr>
              <a:t>AI vehicle</a:t>
            </a:r>
          </a:p>
          <a:p xmlns:a="http://schemas.openxmlformats.org/drawingml/2006/main">
            <a:pPr algn="l">
              <a:defRPr sz="3600" b="1">
                <a:solidFill>
                  <a:srgbClr val="172131"/>
                </a:solidFill>
                <a:latin typeface="Calibri"/>
                <a:ea typeface="Calibri"/>
                <a:cs typeface="Calibri"/>
              </a:defRPr>
            </a:pPr>
            <a:r>
              <a:rPr sz="3600" b="1">
                <a:solidFill>
                  <a:srgbClr val="172131"/>
                </a:solidFill>
                <a:latin typeface="Calibri"/>
                <a:ea typeface="Calibri"/>
                <a:cs typeface="Calibri"/>
              </a:rPr>
              <a:t>requirements</a:t>
            </a:r>
          </a:p>
        </p:txBody>
      </p:sp>
      <p:sp>
        <p:nvSpPr>
          <p:cNvPr id="8" name="">
            <a:extLst xmlns:a="http://schemas.openxmlformats.org/drawingml/2006/main">
              <a:ext uri="{FF2B5EF4-FFF2-40B4-BE49-F238E27FC236}">
                <a16:creationId xmlns:a16="http://schemas.microsoft.com/office/drawing/2014/main" id="{4ADF974C-DB6F-4BCA-8FBD-9F06AED65793}"/>
              </a:ext>
            </a:extLst>
          </p:cNvPr>
          <p:cNvSpPr>
            <a:spLocks xmlns:a="http://schemas.openxmlformats.org/drawingml/2006/main" noGrp="1"/>
          </p:cNvSpPr>
          <p:nvPr/>
        </p:nvSpPr>
        <p:spPr>
          <a:xfrm xmlns:a="http://schemas.openxmlformats.org/drawingml/2006/main">
            <a:off x="723900" y="272415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From customer evidence to PM decisions</a:t>
            </a:r>
          </a:p>
        </p:txBody>
      </p:sp>
      <p:pic xmlns:a="http://schemas.openxmlformats.org/drawingml/2006/main" xmlns:r="http://schemas.openxmlformats.org/officeDocument/2006/relationships" xmlns:p14="http://schemas.microsoft.com/office/powerpoint/2010/main">
        <p:nvPicPr>
          <p:cNvPr id="10" name="FWD opening film — autoplay, 5 seconds" descr="Five-second car rotation, ending on the title cover. Editable title and series layers remain underneath.">
            <a:hlinkClick action="ppaction://media"/>
          </p:cNvPr>
          <p:cNvPicPr>
            <a:picLocks noChangeAspect="1"/>
          </p:cNvPicPr>
          <p:nvPr>
            <a:videoFile r:link="rIdFwdVideo"/>
            <p:extLst>
              <p:ext uri="{DAA4B4D4-6D71-4841-9C94-3DE7FCFB9230}">
                <p14:media r:embed="rIdFwdMedia"/>
              </p:ext>
            </p:extLst>
          </p:nvPr>
        </p:nvPicPr>
        <p:blipFill>
          <a:blip r:embed="rIdFwdPoster"/>
          <a:stretch>
            <a:fillRect/>
          </a:stretch>
        </p:blipFill>
        <p:spPr>
          <a:xfrm>
            <a:off x="0" y="0"/>
            <a:ext cx="12192000" cy="6858000"/>
          </a:xfrm>
          <a:prstGeom prst="rect">
            <a:avLst/>
          </a:prstGeom>
          <a:ln>
            <a:noFill/>
          </a:ln>
        </p:spPr>
      </p:pic>
    </p:spTree>
    <p:extLst>
      <p:ext uri="{BB962C8B-B14F-4D97-AF65-F5344CB8AC3E}">
        <p14:creationId xmlns:p14="http://schemas.microsoft.com/office/powerpoint/2010/main" val="393149835"/>
      </p:ext>
    </p:extLst>
  </p:cSld>
  <p:timing xmlns:a="http://schemas.openxmlformats.org/drawingml/2006/main" xmlns:r="http://schemas.openxmlformats.org/officeDocument/2006/relationships">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0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62C8478-1098-43E8-A730-5DAA031ED5E4}"/>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B0DBE76E-3A13-4B09-8E66-47D9ECBEFBB3}"/>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DA518E77-5302-400C-BF84-47B2E97401EA}"/>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977B8A39-89EA-460F-901D-48EC938BD015}"/>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CHALLENGE</a:t>
            </a:r>
          </a:p>
        </p:txBody>
      </p:sp>
      <p:sp>
        <p:nvSpPr>
          <p:cNvPr id="5" name="">
            <a:extLst xmlns:a="http://schemas.openxmlformats.org/drawingml/2006/main">
              <a:ext uri="{FF2B5EF4-FFF2-40B4-BE49-F238E27FC236}">
                <a16:creationId xmlns:a16="http://schemas.microsoft.com/office/drawing/2014/main" id="{841D4CAD-3399-450C-8F21-326B4E448AD9}"/>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G60 complaint. Three possible needs.</a:t>
            </a:r>
          </a:p>
        </p:txBody>
      </p:sp>
      <p:sp>
        <p:nvSpPr>
          <p:cNvPr id="6" name="">
            <a:extLst xmlns:a="http://schemas.openxmlformats.org/drawingml/2006/main">
              <a:ext uri="{FF2B5EF4-FFF2-40B4-BE49-F238E27FC236}">
                <a16:creationId xmlns:a16="http://schemas.microsoft.com/office/drawing/2014/main" id="{77801300-7E1C-4F56-AF40-28A8C3122ED2}"/>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02 / 11</a:t>
            </a:r>
          </a:p>
        </p:txBody>
      </p:sp>
      <p:sp>
        <p:nvSpPr>
          <p:cNvPr id="7" name="">
            <a:extLst xmlns:a="http://schemas.openxmlformats.org/drawingml/2006/main">
              <a:ext uri="{FF2B5EF4-FFF2-40B4-BE49-F238E27FC236}">
                <a16:creationId xmlns:a16="http://schemas.microsoft.com/office/drawing/2014/main" id="{DF522A30-52E0-47BD-8DDD-5DC5237DF6D3}"/>
              </a:ext>
            </a:extLst>
          </p:cNvPr>
          <p:cNvSpPr>
            <a:spLocks xmlns:a="http://schemas.openxmlformats.org/drawingml/2006/main" noGrp="1"/>
          </p:cNvSpPr>
          <p:nvPr/>
        </p:nvSpPr>
        <p:spPr>
          <a:xfrm xmlns:a="http://schemas.openxmlformats.org/drawingml/2006/main">
            <a:off x="552450" y="18669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B6B82"/>
                </a:solidFill>
                <a:latin typeface="Calibri"/>
                <a:ea typeface="Calibri"/>
                <a:cs typeface="Calibri"/>
              </a:defRPr>
            </a:defPPr>
          </a:lstStyle>
          <a:p xmlns:a="http://schemas.openxmlformats.org/drawingml/2006/main">
            <a:pPr algn="l">
              <a:defRPr sz="1800" b="0">
                <a:solidFill>
                  <a:srgbClr val="5B6B82"/>
                </a:solidFill>
                <a:latin typeface="Calibri"/>
                <a:ea typeface="Calibri"/>
                <a:cs typeface="Calibri"/>
              </a:defRPr>
            </a:pPr>
            <a:r>
              <a:rPr sz="1800" b="0">
                <a:solidFill>
                  <a:srgbClr val="5B6B82"/>
                </a:solidFill>
                <a:latin typeface="Calibri"/>
                <a:ea typeface="Calibri"/>
                <a:cs typeface="Calibri"/>
              </a:rPr>
              <a:t>Check feedback against study, equipment and market evidence.</a:t>
            </a:r>
          </a:p>
        </p:txBody>
      </p:sp>
      <p:sp>
        <p:nvSpPr>
          <p:cNvPr id="8" name="">
            <a:extLst xmlns:a="http://schemas.openxmlformats.org/drawingml/2006/main">
              <a:ext uri="{FF2B5EF4-FFF2-40B4-BE49-F238E27FC236}">
                <a16:creationId xmlns:a16="http://schemas.microsoft.com/office/drawing/2014/main" id="{F1FFEA3C-DFCA-4BF5-BB85-23EF416E7961}"/>
              </a:ext>
            </a:extLst>
          </p:cNvPr>
          <p:cNvSpPr>
            <a:spLocks xmlns:a="http://schemas.openxmlformats.org/drawingml/2006/main" noGrp="1"/>
          </p:cNvSpPr>
          <p:nvPr/>
        </p:nvSpPr>
        <p:spPr>
          <a:xfrm xmlns:a="http://schemas.openxmlformats.org/drawingml/2006/main">
            <a:off x="571500" y="33337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31"/>
                </a:solidFill>
                <a:latin typeface="Calibri"/>
                <a:ea typeface="Calibri"/>
                <a:cs typeface="Calibri"/>
              </a:defRPr>
            </a:defPPr>
          </a:lstStyle>
          <a:p xmlns:a="http://schemas.openxmlformats.org/drawingml/2006/main">
            <a:pPr algn="l">
              <a:defRPr sz="2400" b="1">
                <a:solidFill>
                  <a:srgbClr val="172131"/>
                </a:solidFill>
                <a:latin typeface="Calibri"/>
                <a:ea typeface="Calibri"/>
                <a:cs typeface="Calibri"/>
              </a:defRPr>
            </a:pPr>
            <a:r>
              <a:rPr sz="2400" b="1">
                <a:solidFill>
                  <a:srgbClr val="172131"/>
                </a:solidFill>
                <a:latin typeface="Calibri"/>
                <a:ea typeface="Calibri"/>
                <a:cs typeface="Calibri"/>
              </a:rPr>
              <a:t>What needs to change?</a:t>
            </a:r>
          </a:p>
        </p:txBody>
      </p:sp>
      <p:sp>
        <p:nvSpPr>
          <p:cNvPr id="9" name="">
            <a:extLst xmlns:a="http://schemas.openxmlformats.org/drawingml/2006/main">
              <a:ext uri="{FF2B5EF4-FFF2-40B4-BE49-F238E27FC236}">
                <a16:creationId xmlns:a16="http://schemas.microsoft.com/office/drawing/2014/main" id="{265900CC-AD56-4A6C-A2CD-35FE14CDE38E}"/>
              </a:ext>
            </a:extLst>
          </p:cNvPr>
          <p:cNvSpPr>
            <a:spLocks xmlns:a="http://schemas.openxmlformats.org/drawingml/2006/main" noGrp="1"/>
          </p:cNvSpPr>
          <p:nvPr/>
        </p:nvSpPr>
        <p:spPr>
          <a:xfrm xmlns:a="http://schemas.openxmlformats.org/drawingml/2006/main">
            <a:off x="571500" y="3943350"/>
            <a:ext cx="1070610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6FBF07-66B0-44E9-9ADE-EB4438CB662D}"/>
              </a:ext>
            </a:extLst>
          </p:cNvPr>
          <p:cNvSpPr>
            <a:spLocks xmlns:a="http://schemas.openxmlformats.org/drawingml/2006/main" noGrp="1"/>
          </p:cNvSpPr>
          <p:nvPr/>
        </p:nvSpPr>
        <p:spPr>
          <a:xfrm xmlns:a="http://schemas.openxmlformats.org/drawingml/2006/main">
            <a:off x="57150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E7A2A34C-21B1-4AAA-8A33-3D698752C6C4}"/>
              </a:ext>
            </a:extLst>
          </p:cNvPr>
          <p:cNvSpPr>
            <a:spLocks xmlns:a="http://schemas.openxmlformats.org/drawingml/2006/main" noGrp="1"/>
          </p:cNvSpPr>
          <p:nvPr/>
        </p:nvSpPr>
        <p:spPr>
          <a:xfrm xmlns:a="http://schemas.openxmlformats.org/drawingml/2006/main">
            <a:off x="57150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Capability</a:t>
            </a:r>
          </a:p>
        </p:txBody>
      </p:sp>
      <p:sp>
        <p:nvSpPr>
          <p:cNvPr id="12" name="">
            <a:extLst xmlns:a="http://schemas.openxmlformats.org/drawingml/2006/main">
              <a:ext uri="{FF2B5EF4-FFF2-40B4-BE49-F238E27FC236}">
                <a16:creationId xmlns:a16="http://schemas.microsoft.com/office/drawing/2014/main" id="{A44BA37F-6BB3-46F2-AEF4-9D9BC3D619EA}"/>
              </a:ext>
            </a:extLst>
          </p:cNvPr>
          <p:cNvSpPr>
            <a:spLocks xmlns:a="http://schemas.openxmlformats.org/drawingml/2006/main" noGrp="1"/>
          </p:cNvSpPr>
          <p:nvPr/>
        </p:nvSpPr>
        <p:spPr>
          <a:xfrm xmlns:a="http://schemas.openxmlformats.org/drawingml/2006/main">
            <a:off x="57150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Add a missing function</a:t>
            </a:r>
          </a:p>
        </p:txBody>
      </p:sp>
      <p:sp>
        <p:nvSpPr>
          <p:cNvPr id="13" name="">
            <a:extLst xmlns:a="http://schemas.openxmlformats.org/drawingml/2006/main">
              <a:ext uri="{FF2B5EF4-FFF2-40B4-BE49-F238E27FC236}">
                <a16:creationId xmlns:a16="http://schemas.microsoft.com/office/drawing/2014/main" id="{2332807F-1758-48CE-AE7A-2DBD6B1046E4}"/>
              </a:ext>
            </a:extLst>
          </p:cNvPr>
          <p:cNvSpPr>
            <a:spLocks xmlns:a="http://schemas.openxmlformats.org/drawingml/2006/main" noGrp="1"/>
          </p:cNvSpPr>
          <p:nvPr/>
        </p:nvSpPr>
        <p:spPr>
          <a:xfrm xmlns:a="http://schemas.openxmlformats.org/drawingml/2006/main">
            <a:off x="424815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4" name="">
            <a:extLst xmlns:a="http://schemas.openxmlformats.org/drawingml/2006/main">
              <a:ext uri="{FF2B5EF4-FFF2-40B4-BE49-F238E27FC236}">
                <a16:creationId xmlns:a16="http://schemas.microsoft.com/office/drawing/2014/main" id="{767CEBA2-9EB5-4964-88CA-5D6F89B9A75D}"/>
              </a:ext>
            </a:extLst>
          </p:cNvPr>
          <p:cNvSpPr>
            <a:spLocks xmlns:a="http://schemas.openxmlformats.org/drawingml/2006/main" noGrp="1"/>
          </p:cNvSpPr>
          <p:nvPr/>
        </p:nvSpPr>
        <p:spPr>
          <a:xfrm xmlns:a="http://schemas.openxmlformats.org/drawingml/2006/main">
            <a:off x="424815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Availability</a:t>
            </a:r>
          </a:p>
        </p:txBody>
      </p:sp>
      <p:sp>
        <p:nvSpPr>
          <p:cNvPr id="15" name="">
            <a:extLst xmlns:a="http://schemas.openxmlformats.org/drawingml/2006/main">
              <a:ext uri="{FF2B5EF4-FFF2-40B4-BE49-F238E27FC236}">
                <a16:creationId xmlns:a16="http://schemas.microsoft.com/office/drawing/2014/main" id="{358E4A2D-C93A-4299-985B-F87BED248884}"/>
              </a:ext>
            </a:extLst>
          </p:cNvPr>
          <p:cNvSpPr>
            <a:spLocks xmlns:a="http://schemas.openxmlformats.org/drawingml/2006/main" noGrp="1"/>
          </p:cNvSpPr>
          <p:nvPr/>
        </p:nvSpPr>
        <p:spPr>
          <a:xfrm xmlns:a="http://schemas.openxmlformats.org/drawingml/2006/main">
            <a:off x="424815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Offer it in the right variant</a:t>
            </a:r>
          </a:p>
        </p:txBody>
      </p:sp>
      <p:sp>
        <p:nvSpPr>
          <p:cNvPr id="16" name="">
            <a:extLst xmlns:a="http://schemas.openxmlformats.org/drawingml/2006/main">
              <a:ext uri="{FF2B5EF4-FFF2-40B4-BE49-F238E27FC236}">
                <a16:creationId xmlns:a16="http://schemas.microsoft.com/office/drawing/2014/main" id="{2A377815-9B90-47E7-8A1A-7CCFC5E287CE}"/>
              </a:ext>
            </a:extLst>
          </p:cNvPr>
          <p:cNvSpPr>
            <a:spLocks xmlns:a="http://schemas.openxmlformats.org/drawingml/2006/main" noGrp="1"/>
          </p:cNvSpPr>
          <p:nvPr/>
        </p:nvSpPr>
        <p:spPr>
          <a:xfrm xmlns:a="http://schemas.openxmlformats.org/drawingml/2006/main">
            <a:off x="7924800" y="43243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867079C1-099D-4EEA-AE98-BABE3F142788}"/>
              </a:ext>
            </a:extLst>
          </p:cNvPr>
          <p:cNvSpPr>
            <a:spLocks xmlns:a="http://schemas.openxmlformats.org/drawingml/2006/main" noGrp="1"/>
          </p:cNvSpPr>
          <p:nvPr/>
        </p:nvSpPr>
        <p:spPr>
          <a:xfrm xmlns:a="http://schemas.openxmlformats.org/drawingml/2006/main">
            <a:off x="7924800" y="47244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Usability</a:t>
            </a:r>
          </a:p>
        </p:txBody>
      </p:sp>
      <p:sp>
        <p:nvSpPr>
          <p:cNvPr id="18" name="">
            <a:extLst xmlns:a="http://schemas.openxmlformats.org/drawingml/2006/main">
              <a:ext uri="{FF2B5EF4-FFF2-40B4-BE49-F238E27FC236}">
                <a16:creationId xmlns:a16="http://schemas.microsoft.com/office/drawing/2014/main" id="{2CFC083A-C7FE-4D15-9662-0EB62F5BB17E}"/>
              </a:ext>
            </a:extLst>
          </p:cNvPr>
          <p:cNvSpPr>
            <a:spLocks xmlns:a="http://schemas.openxmlformats.org/drawingml/2006/main" noGrp="1"/>
          </p:cNvSpPr>
          <p:nvPr/>
        </p:nvSpPr>
        <p:spPr>
          <a:xfrm xmlns:a="http://schemas.openxmlformats.org/drawingml/2006/main">
            <a:off x="7924800" y="519112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B6B82"/>
                </a:solidFill>
                <a:latin typeface="Calibri"/>
                <a:ea typeface="Calibri"/>
                <a:cs typeface="Calibri"/>
              </a:defRPr>
            </a:defPPr>
          </a:lstStyle>
          <a:p xmlns:a="http://schemas.openxmlformats.org/drawingml/2006/main">
            <a:pPr algn="l">
              <a:defRPr sz="1425" b="0">
                <a:solidFill>
                  <a:srgbClr val="5B6B82"/>
                </a:solidFill>
                <a:latin typeface="Calibri"/>
                <a:ea typeface="Calibri"/>
                <a:cs typeface="Calibri"/>
              </a:defRPr>
            </a:pPr>
            <a:r>
              <a:rPr sz="1425" b="0">
                <a:solidFill>
                  <a:srgbClr val="5B6B82"/>
                </a:solidFill>
                <a:latin typeface="Calibri"/>
                <a:ea typeface="Calibri"/>
                <a:cs typeface="Calibri"/>
              </a:rPr>
              <a:t>Make it easier to use</a:t>
            </a:r>
          </a:p>
        </p:txBody>
      </p:sp>
      <p:sp>
        <p:nvSpPr>
          <p:cNvPr id="19" name="">
            <a:extLst xmlns:a="http://schemas.openxmlformats.org/drawingml/2006/main">
              <a:ext uri="{FF2B5EF4-FFF2-40B4-BE49-F238E27FC236}">
                <a16:creationId xmlns:a16="http://schemas.microsoft.com/office/drawing/2014/main" id="{BD1DDCD7-08D8-4F70-9B62-552EA4AE1992}"/>
              </a:ext>
            </a:extLst>
          </p:cNvPr>
          <p:cNvSpPr>
            <a:spLocks xmlns:a="http://schemas.openxmlformats.org/drawingml/2006/main" noGrp="1"/>
          </p:cNvSpPr>
          <p:nvPr/>
        </p:nvSpPr>
        <p:spPr>
          <a:xfrm xmlns:a="http://schemas.openxmlformats.org/drawingml/2006/main">
            <a:off x="571500" y="59626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The cited record points to usability; US equipment fit is still unverified.</a:t>
            </a:r>
          </a:p>
        </p:txBody>
      </p:sp>
    </p:spTree>
    <p:extLst>
      <p:ext uri="{BB962C8B-B14F-4D97-AF65-F5344CB8AC3E}">
        <p14:creationId xmlns:p14="http://schemas.microsoft.com/office/powerpoint/2010/main" val="1161935329"/>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132D1B0-AFE1-4934-88AC-C88FA6329F3F}"/>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C70929C8-AF7F-4F4D-A84E-C461FB5904B2}"/>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E33970F0-CFCD-4AE6-9FE7-2D1F6EEE890A}"/>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4B1EA5BD-6A98-4678-9A17-2FD037B91F9A}"/>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SOLUTION</a:t>
            </a:r>
          </a:p>
        </p:txBody>
      </p:sp>
      <p:sp>
        <p:nvSpPr>
          <p:cNvPr id="5" name="">
            <a:extLst xmlns:a="http://schemas.openxmlformats.org/drawingml/2006/main">
              <a:ext uri="{FF2B5EF4-FFF2-40B4-BE49-F238E27FC236}">
                <a16:creationId xmlns:a16="http://schemas.microsoft.com/office/drawing/2014/main" id="{7D253BB4-D337-414E-94A8-E8DFA841EF7C}"/>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application. A traceable decision path.</a:t>
            </a:r>
          </a:p>
        </p:txBody>
      </p:sp>
      <p:sp>
        <p:nvSpPr>
          <p:cNvPr id="6" name="">
            <a:extLst xmlns:a="http://schemas.openxmlformats.org/drawingml/2006/main">
              <a:ext uri="{FF2B5EF4-FFF2-40B4-BE49-F238E27FC236}">
                <a16:creationId xmlns:a16="http://schemas.microsoft.com/office/drawing/2014/main" id="{9A0EE9BE-9BB6-437F-A530-5272817B78F8}"/>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03 / 11</a:t>
            </a:r>
          </a:p>
        </p:txBody>
      </p:sp>
      <p:sp>
        <p:nvSpPr>
          <p:cNvPr id="7" name="">
            <a:extLst xmlns:a="http://schemas.openxmlformats.org/drawingml/2006/main">
              <a:ext uri="{FF2B5EF4-FFF2-40B4-BE49-F238E27FC236}">
                <a16:creationId xmlns:a16="http://schemas.microsoft.com/office/drawing/2014/main" id="{DC566D4B-D5D3-413D-82E5-2292C1ECB009}"/>
              </a:ext>
            </a:extLst>
          </p:cNvPr>
          <p:cNvSpPr>
            <a:spLocks xmlns:a="http://schemas.openxmlformats.org/drawingml/2006/main" noGrp="1"/>
          </p:cNvSpPr>
          <p:nvPr/>
        </p:nvSpPr>
        <p:spPr>
          <a:xfrm xmlns:a="http://schemas.openxmlformats.org/drawingml/2006/main">
            <a:off x="552450" y="1809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The frontend and backend now work as one product.</a:t>
            </a:r>
          </a:p>
        </p:txBody>
      </p:sp>
      <p:pic>
        <p:nvPicPr>
          <p:cNvPr id="8" name="">
            <a:extLst xmlns:a="http://schemas.openxmlformats.org/drawingml/2006/main">
              <a:ext uri="{FF2B5EF4-FFF2-40B4-BE49-F238E27FC236}">
                <a16:creationId xmlns:a16="http://schemas.microsoft.com/office/drawing/2014/main" id="{65F32AF2-114D-4513-99A4-750E3730413B}"/>
              </a:ext>
            </a:extLst>
          </p:cNvPr>
          <p:cNvPicPr>
            <a:picLocks xmlns:a="http://schemas.openxmlformats.org/drawingml/2006/main" noChangeAspect="1"/>
          </p:cNvPicPr>
          <p:nvPr/>
        </p:nvPicPr>
        <p:blipFill>
          <a:blip xmlns:r="http://schemas.openxmlformats.org/officeDocument/2006/relationships" xmlns:a="http://schemas.openxmlformats.org/drawingml/2006/main" r:embed="R66923b1b91544904"/>
          <a:stretch xmlns:a="http://schemas.openxmlformats.org/drawingml/2006/main"/>
        </p:blipFill>
        <p:spPr>
          <a:xfrm xmlns:a="http://schemas.openxmlformats.org/drawingml/2006/main">
            <a:off x="552450" y="2362200"/>
            <a:ext cx="3905250" cy="3905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F694D39-A78F-4E32-978B-8A84630991B0}"/>
              </a:ext>
            </a:extLst>
          </p:cNvPr>
          <p:cNvSpPr>
            <a:spLocks xmlns:a="http://schemas.openxmlformats.org/drawingml/2006/main" noGrp="1"/>
          </p:cNvSpPr>
          <p:nvPr/>
        </p:nvSpPr>
        <p:spPr>
          <a:xfrm xmlns:a="http://schemas.openxmlformats.org/drawingml/2006/main">
            <a:off x="5143500" y="24003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CORE PIPELINE</a:t>
            </a:r>
          </a:p>
        </p:txBody>
      </p:sp>
      <p:sp>
        <p:nvSpPr>
          <p:cNvPr id="10" name="">
            <a:extLst xmlns:a="http://schemas.openxmlformats.org/drawingml/2006/main">
              <a:ext uri="{FF2B5EF4-FFF2-40B4-BE49-F238E27FC236}">
                <a16:creationId xmlns:a16="http://schemas.microsoft.com/office/drawing/2014/main" id="{4D5CA26A-59F7-4CC7-97B9-81B1CB1A93B8}"/>
              </a:ext>
            </a:extLst>
          </p:cNvPr>
          <p:cNvSpPr>
            <a:spLocks xmlns:a="http://schemas.openxmlformats.org/drawingml/2006/main" noGrp="1"/>
          </p:cNvSpPr>
          <p:nvPr/>
        </p:nvSpPr>
        <p:spPr>
          <a:xfrm xmlns:a="http://schemas.openxmlformats.org/drawingml/2006/main">
            <a:off x="5143500" y="280035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FC323968-3103-4DB6-86BA-F0B947F17712}"/>
              </a:ext>
            </a:extLst>
          </p:cNvPr>
          <p:cNvSpPr>
            <a:spLocks xmlns:a="http://schemas.openxmlformats.org/drawingml/2006/main" noGrp="1"/>
          </p:cNvSpPr>
          <p:nvPr/>
        </p:nvSpPr>
        <p:spPr>
          <a:xfrm xmlns:a="http://schemas.openxmlformats.org/drawingml/2006/main">
            <a:off x="5600700" y="27813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Scope + upload</a:t>
            </a:r>
          </a:p>
        </p:txBody>
      </p:sp>
      <p:sp>
        <p:nvSpPr>
          <p:cNvPr id="12" name="">
            <a:extLst xmlns:a="http://schemas.openxmlformats.org/drawingml/2006/main">
              <a:ext uri="{FF2B5EF4-FFF2-40B4-BE49-F238E27FC236}">
                <a16:creationId xmlns:a16="http://schemas.microsoft.com/office/drawing/2014/main" id="{0658F87C-E241-470A-ACA7-3D593F041D1E}"/>
              </a:ext>
            </a:extLst>
          </p:cNvPr>
          <p:cNvSpPr>
            <a:spLocks xmlns:a="http://schemas.openxmlformats.org/drawingml/2006/main" noGrp="1"/>
          </p:cNvSpPr>
          <p:nvPr/>
        </p:nvSpPr>
        <p:spPr>
          <a:xfrm xmlns:a="http://schemas.openxmlformats.org/drawingml/2006/main">
            <a:off x="5600700" y="309562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Vehicle context and source files</a:t>
            </a:r>
          </a:p>
        </p:txBody>
      </p:sp>
      <p:sp>
        <p:nvSpPr>
          <p:cNvPr id="13" name="">
            <a:extLst xmlns:a="http://schemas.openxmlformats.org/drawingml/2006/main">
              <a:ext uri="{FF2B5EF4-FFF2-40B4-BE49-F238E27FC236}">
                <a16:creationId xmlns:a16="http://schemas.microsoft.com/office/drawing/2014/main" id="{7C69BB7C-26FA-44A5-BBCA-8BD55591E012}"/>
              </a:ext>
            </a:extLst>
          </p:cNvPr>
          <p:cNvSpPr>
            <a:spLocks xmlns:a="http://schemas.openxmlformats.org/drawingml/2006/main" noGrp="1"/>
          </p:cNvSpPr>
          <p:nvPr/>
        </p:nvSpPr>
        <p:spPr>
          <a:xfrm xmlns:a="http://schemas.openxmlformats.org/drawingml/2006/main">
            <a:off x="5600700" y="3390900"/>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0A513F4-8128-48E9-9B02-B2F246BE59AE}"/>
              </a:ext>
            </a:extLst>
          </p:cNvPr>
          <p:cNvSpPr>
            <a:spLocks xmlns:a="http://schemas.openxmlformats.org/drawingml/2006/main" noGrp="1"/>
          </p:cNvSpPr>
          <p:nvPr/>
        </p:nvSpPr>
        <p:spPr>
          <a:xfrm xmlns:a="http://schemas.openxmlformats.org/drawingml/2006/main">
            <a:off x="5143500" y="3552825"/>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02</a:t>
            </a:r>
          </a:p>
        </p:txBody>
      </p:sp>
      <p:sp>
        <p:nvSpPr>
          <p:cNvPr id="15" name="">
            <a:extLst xmlns:a="http://schemas.openxmlformats.org/drawingml/2006/main">
              <a:ext uri="{FF2B5EF4-FFF2-40B4-BE49-F238E27FC236}">
                <a16:creationId xmlns:a16="http://schemas.microsoft.com/office/drawing/2014/main" id="{A4AD5BB8-8A2B-4A07-8853-C907E1DFC547}"/>
              </a:ext>
            </a:extLst>
          </p:cNvPr>
          <p:cNvSpPr>
            <a:spLocks xmlns:a="http://schemas.openxmlformats.org/drawingml/2006/main" noGrp="1"/>
          </p:cNvSpPr>
          <p:nvPr/>
        </p:nvSpPr>
        <p:spPr>
          <a:xfrm xmlns:a="http://schemas.openxmlformats.org/drawingml/2006/main">
            <a:off x="5600700" y="353377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Analyze evidence</a:t>
            </a:r>
          </a:p>
        </p:txBody>
      </p:sp>
      <p:sp>
        <p:nvSpPr>
          <p:cNvPr id="16" name="">
            <a:extLst xmlns:a="http://schemas.openxmlformats.org/drawingml/2006/main">
              <a:ext uri="{FF2B5EF4-FFF2-40B4-BE49-F238E27FC236}">
                <a16:creationId xmlns:a16="http://schemas.microsoft.com/office/drawing/2014/main" id="{39FABB95-E634-4CF9-8767-2C7A74CE0965}"/>
              </a:ext>
            </a:extLst>
          </p:cNvPr>
          <p:cNvSpPr>
            <a:spLocks xmlns:a="http://schemas.openxmlformats.org/drawingml/2006/main" noGrp="1"/>
          </p:cNvSpPr>
          <p:nvPr/>
        </p:nvSpPr>
        <p:spPr>
          <a:xfrm xmlns:a="http://schemas.openxmlformats.org/drawingml/2006/main">
            <a:off x="5600700" y="38481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Normalize records; link findings to sources</a:t>
            </a:r>
          </a:p>
        </p:txBody>
      </p:sp>
      <p:sp>
        <p:nvSpPr>
          <p:cNvPr id="17" name="">
            <a:extLst xmlns:a="http://schemas.openxmlformats.org/drawingml/2006/main">
              <a:ext uri="{FF2B5EF4-FFF2-40B4-BE49-F238E27FC236}">
                <a16:creationId xmlns:a16="http://schemas.microsoft.com/office/drawing/2014/main" id="{63CD4FF2-0F23-4BDB-8C6E-928F435069AE}"/>
              </a:ext>
            </a:extLst>
          </p:cNvPr>
          <p:cNvSpPr>
            <a:spLocks xmlns:a="http://schemas.openxmlformats.org/drawingml/2006/main" noGrp="1"/>
          </p:cNvSpPr>
          <p:nvPr/>
        </p:nvSpPr>
        <p:spPr>
          <a:xfrm xmlns:a="http://schemas.openxmlformats.org/drawingml/2006/main">
            <a:off x="5600700" y="4143375"/>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ED87375-B789-4F23-8456-8EEF30A10E1D}"/>
              </a:ext>
            </a:extLst>
          </p:cNvPr>
          <p:cNvSpPr>
            <a:spLocks xmlns:a="http://schemas.openxmlformats.org/drawingml/2006/main" noGrp="1"/>
          </p:cNvSpPr>
          <p:nvPr/>
        </p:nvSpPr>
        <p:spPr>
          <a:xfrm xmlns:a="http://schemas.openxmlformats.org/drawingml/2006/main">
            <a:off x="5143500" y="4305300"/>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03</a:t>
            </a:r>
          </a:p>
        </p:txBody>
      </p:sp>
      <p:sp>
        <p:nvSpPr>
          <p:cNvPr id="19" name="">
            <a:extLst xmlns:a="http://schemas.openxmlformats.org/drawingml/2006/main">
              <a:ext uri="{FF2B5EF4-FFF2-40B4-BE49-F238E27FC236}">
                <a16:creationId xmlns:a16="http://schemas.microsoft.com/office/drawing/2014/main" id="{2F7C1388-C783-4F9F-9A15-89FC45442CBA}"/>
              </a:ext>
            </a:extLst>
          </p:cNvPr>
          <p:cNvSpPr>
            <a:spLocks xmlns:a="http://schemas.openxmlformats.org/drawingml/2006/main" noGrp="1"/>
          </p:cNvSpPr>
          <p:nvPr/>
        </p:nvSpPr>
        <p:spPr>
          <a:xfrm xmlns:a="http://schemas.openxmlformats.org/drawingml/2006/main">
            <a:off x="5600700" y="42862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Build proposals</a:t>
            </a:r>
          </a:p>
        </p:txBody>
      </p:sp>
      <p:sp>
        <p:nvSpPr>
          <p:cNvPr id="20" name="">
            <a:extLst xmlns:a="http://schemas.openxmlformats.org/drawingml/2006/main">
              <a:ext uri="{FF2B5EF4-FFF2-40B4-BE49-F238E27FC236}">
                <a16:creationId xmlns:a16="http://schemas.microsoft.com/office/drawing/2014/main" id="{F48352D5-C750-4161-8889-745D3E31FC35}"/>
              </a:ext>
            </a:extLst>
          </p:cNvPr>
          <p:cNvSpPr>
            <a:spLocks xmlns:a="http://schemas.openxmlformats.org/drawingml/2006/main" noGrp="1"/>
          </p:cNvSpPr>
          <p:nvPr/>
        </p:nvSpPr>
        <p:spPr>
          <a:xfrm xmlns:a="http://schemas.openxmlformats.org/drawingml/2006/main">
            <a:off x="5600700" y="4600575"/>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Check baseline; derive and prioritize changes</a:t>
            </a:r>
          </a:p>
        </p:txBody>
      </p:sp>
      <p:sp>
        <p:nvSpPr>
          <p:cNvPr id="21" name="">
            <a:extLst xmlns:a="http://schemas.openxmlformats.org/drawingml/2006/main">
              <a:ext uri="{FF2B5EF4-FFF2-40B4-BE49-F238E27FC236}">
                <a16:creationId xmlns:a16="http://schemas.microsoft.com/office/drawing/2014/main" id="{E057381D-93EF-44CD-8B84-EFB10EF2B67C}"/>
              </a:ext>
            </a:extLst>
          </p:cNvPr>
          <p:cNvSpPr>
            <a:spLocks xmlns:a="http://schemas.openxmlformats.org/drawingml/2006/main" noGrp="1"/>
          </p:cNvSpPr>
          <p:nvPr/>
        </p:nvSpPr>
        <p:spPr>
          <a:xfrm xmlns:a="http://schemas.openxmlformats.org/drawingml/2006/main">
            <a:off x="5600700" y="4895850"/>
            <a:ext cx="476250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6CB4D92-E651-42A4-A219-E47F87568B88}"/>
              </a:ext>
            </a:extLst>
          </p:cNvPr>
          <p:cNvSpPr>
            <a:spLocks xmlns:a="http://schemas.openxmlformats.org/drawingml/2006/main" noGrp="1"/>
          </p:cNvSpPr>
          <p:nvPr/>
        </p:nvSpPr>
        <p:spPr>
          <a:xfrm xmlns:a="http://schemas.openxmlformats.org/drawingml/2006/main">
            <a:off x="5143500" y="5057775"/>
            <a:ext cx="361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D5FF4"/>
                </a:solidFill>
                <a:latin typeface="Calibri"/>
                <a:ea typeface="Calibri"/>
                <a:cs typeface="Calibri"/>
              </a:defRPr>
            </a:defPPr>
          </a:lstStyle>
          <a:p xmlns:a="http://schemas.openxmlformats.org/drawingml/2006/main">
            <a:pPr algn="l">
              <a:defRPr sz="1275" b="1">
                <a:solidFill>
                  <a:srgbClr val="2D5FF4"/>
                </a:solidFill>
                <a:latin typeface="Calibri"/>
                <a:ea typeface="Calibri"/>
                <a:cs typeface="Calibri"/>
              </a:defRPr>
            </a:pPr>
            <a:r>
              <a:rPr sz="1275" b="1">
                <a:solidFill>
                  <a:srgbClr val="2D5FF4"/>
                </a:solidFill>
                <a:latin typeface="Calibri"/>
                <a:ea typeface="Calibri"/>
                <a:cs typeface="Calibri"/>
              </a:rPr>
              <a:t>04</a:t>
            </a:r>
          </a:p>
        </p:txBody>
      </p:sp>
      <p:sp>
        <p:nvSpPr>
          <p:cNvPr id="23" name="">
            <a:extLst xmlns:a="http://schemas.openxmlformats.org/drawingml/2006/main">
              <a:ext uri="{FF2B5EF4-FFF2-40B4-BE49-F238E27FC236}">
                <a16:creationId xmlns:a16="http://schemas.microsoft.com/office/drawing/2014/main" id="{C5D2A261-C793-431C-86DE-936925476355}"/>
              </a:ext>
            </a:extLst>
          </p:cNvPr>
          <p:cNvSpPr>
            <a:spLocks xmlns:a="http://schemas.openxmlformats.org/drawingml/2006/main" noGrp="1"/>
          </p:cNvSpPr>
          <p:nvPr/>
        </p:nvSpPr>
        <p:spPr>
          <a:xfrm xmlns:a="http://schemas.openxmlformats.org/drawingml/2006/main">
            <a:off x="5600700" y="5038725"/>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PM decision</a:t>
            </a:r>
          </a:p>
        </p:txBody>
      </p:sp>
      <p:sp>
        <p:nvSpPr>
          <p:cNvPr id="24" name="">
            <a:extLst xmlns:a="http://schemas.openxmlformats.org/drawingml/2006/main">
              <a:ext uri="{FF2B5EF4-FFF2-40B4-BE49-F238E27FC236}">
                <a16:creationId xmlns:a16="http://schemas.microsoft.com/office/drawing/2014/main" id="{88B4B3F4-DE43-4974-8134-3E40CEC5D2FC}"/>
              </a:ext>
            </a:extLst>
          </p:cNvPr>
          <p:cNvSpPr>
            <a:spLocks xmlns:a="http://schemas.openxmlformats.org/drawingml/2006/main" noGrp="1"/>
          </p:cNvSpPr>
          <p:nvPr/>
        </p:nvSpPr>
        <p:spPr>
          <a:xfrm xmlns:a="http://schemas.openxmlformats.org/drawingml/2006/main">
            <a:off x="5600700" y="53530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Edit, decide, preserve versions and export</a:t>
            </a:r>
          </a:p>
        </p:txBody>
      </p:sp>
      <p:sp>
        <p:nvSpPr>
          <p:cNvPr id="25" name="">
            <a:extLst xmlns:a="http://schemas.openxmlformats.org/drawingml/2006/main">
              <a:ext uri="{FF2B5EF4-FFF2-40B4-BE49-F238E27FC236}">
                <a16:creationId xmlns:a16="http://schemas.microsoft.com/office/drawing/2014/main" id="{B2AB6167-260D-430A-9C33-675DDCEDCC9F}"/>
              </a:ext>
            </a:extLst>
          </p:cNvPr>
          <p:cNvSpPr>
            <a:spLocks xmlns:a="http://schemas.openxmlformats.org/drawingml/2006/main" noGrp="1"/>
          </p:cNvSpPr>
          <p:nvPr/>
        </p:nvSpPr>
        <p:spPr>
          <a:xfrm xmlns:a="http://schemas.openxmlformats.org/drawingml/2006/main">
            <a:off x="5600700" y="5953125"/>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B6B82"/>
                </a:solidFill>
                <a:latin typeface="Calibri"/>
                <a:ea typeface="Calibri"/>
                <a:cs typeface="Calibri"/>
              </a:defRPr>
            </a:defPPr>
          </a:lstStyle>
          <a:p xmlns:a="http://schemas.openxmlformats.org/drawingml/2006/main">
            <a:pPr algn="l">
              <a:defRPr sz="1125" b="0">
                <a:solidFill>
                  <a:srgbClr val="5B6B82"/>
                </a:solidFill>
                <a:latin typeface="Calibri"/>
                <a:ea typeface="Calibri"/>
                <a:cs typeface="Calibri"/>
              </a:defRPr>
            </a:pPr>
            <a:r>
              <a:rPr sz="1125" b="0">
                <a:solidFill>
                  <a:srgbClr val="5B6B82"/>
                </a:solidFill>
                <a:latin typeface="Calibri"/>
                <a:ea typeface="Calibri"/>
                <a:cs typeface="Calibri"/>
              </a:rPr>
              <a:t>Deep Dive and Reimagine are optional steps.</a:t>
            </a:r>
          </a:p>
        </p:txBody>
      </p:sp>
    </p:spTree>
    <p:extLst>
      <p:ext uri="{BB962C8B-B14F-4D97-AF65-F5344CB8AC3E}">
        <p14:creationId xmlns:p14="http://schemas.microsoft.com/office/powerpoint/2010/main" val="78861485"/>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A839E96-A6E7-457A-AD6C-A1B5C3A88DCA}"/>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7BD776E2-E01B-435B-BD5F-300E37EDC1AF}"/>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392142C5-FBA8-46D0-882E-39A65343AE60}"/>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0E1F07E3-A2DB-466E-8F80-11B540A167B3}"/>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HOW FWD WORKS</a:t>
            </a:r>
          </a:p>
        </p:txBody>
      </p:sp>
      <p:sp>
        <p:nvSpPr>
          <p:cNvPr id="5" name="">
            <a:extLst xmlns:a="http://schemas.openxmlformats.org/drawingml/2006/main">
              <a:ext uri="{FF2B5EF4-FFF2-40B4-BE49-F238E27FC236}">
                <a16:creationId xmlns:a16="http://schemas.microsoft.com/office/drawing/2014/main" id="{A47E721A-6C56-42BE-90CD-A0184D219228}"/>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Evidence-to-decision workflow</a:t>
            </a:r>
          </a:p>
        </p:txBody>
      </p:sp>
      <p:sp>
        <p:nvSpPr>
          <p:cNvPr id="6" name="">
            <a:extLst xmlns:a="http://schemas.openxmlformats.org/drawingml/2006/main">
              <a:ext uri="{FF2B5EF4-FFF2-40B4-BE49-F238E27FC236}">
                <a16:creationId xmlns:a16="http://schemas.microsoft.com/office/drawing/2014/main" id="{18411379-9328-4CDA-9CFC-BB5153C88FD9}"/>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04 / 11</a:t>
            </a:r>
          </a:p>
        </p:txBody>
      </p:sp>
      <p:sp>
        <p:nvSpPr>
          <p:cNvPr id="7" name="">
            <a:extLst xmlns:a="http://schemas.openxmlformats.org/drawingml/2006/main">
              <a:ext uri="{FF2B5EF4-FFF2-40B4-BE49-F238E27FC236}">
                <a16:creationId xmlns:a16="http://schemas.microsoft.com/office/drawing/2014/main" id="{F5FF8009-BA16-42F2-993A-E154324546E1}"/>
              </a:ext>
            </a:extLst>
          </p:cNvPr>
          <p:cNvSpPr>
            <a:spLocks xmlns:a="http://schemas.openxmlformats.org/drawingml/2006/main" noGrp="1"/>
          </p:cNvSpPr>
          <p:nvPr/>
        </p:nvSpPr>
        <p:spPr>
          <a:xfrm xmlns:a="http://schemas.openxmlformats.org/drawingml/2006/main">
            <a:off x="552450" y="18097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B6B82"/>
                </a:solidFill>
                <a:latin typeface="Calibri"/>
                <a:ea typeface="Calibri"/>
                <a:cs typeface="Calibri"/>
              </a:defRPr>
            </a:defPPr>
          </a:lstStyle>
          <a:p xmlns:a="http://schemas.openxmlformats.org/drawingml/2006/main">
            <a:pPr algn="l">
              <a:defRPr sz="1650" b="0">
                <a:solidFill>
                  <a:srgbClr val="5B6B82"/>
                </a:solidFill>
                <a:latin typeface="Calibri"/>
                <a:ea typeface="Calibri"/>
                <a:cs typeface="Calibri"/>
              </a:defRPr>
            </a:pPr>
            <a:r>
              <a:rPr sz="1650" b="0">
                <a:solidFill>
                  <a:srgbClr val="5B6B82"/>
                </a:solidFill>
                <a:latin typeface="Calibri"/>
                <a:ea typeface="Calibri"/>
                <a:cs typeface="Calibri"/>
              </a:rPr>
              <a:t>Analysis runs autonomously; the PM owns changes and decisions.</a:t>
            </a:r>
          </a:p>
        </p:txBody>
      </p:sp>
      <p:sp>
        <p:nvSpPr>
          <p:cNvPr id="8" name="">
            <a:extLst xmlns:a="http://schemas.openxmlformats.org/drawingml/2006/main">
              <a:ext uri="{FF2B5EF4-FFF2-40B4-BE49-F238E27FC236}">
                <a16:creationId xmlns:a16="http://schemas.microsoft.com/office/drawing/2014/main" id="{6D83A6E3-525F-43C7-8A3B-E54CF8141965}"/>
              </a:ext>
            </a:extLst>
          </p:cNvPr>
          <p:cNvSpPr>
            <a:spLocks xmlns:a="http://schemas.openxmlformats.org/drawingml/2006/main" noGrp="1"/>
          </p:cNvSpPr>
          <p:nvPr/>
        </p:nvSpPr>
        <p:spPr>
          <a:xfrm xmlns:a="http://schemas.openxmlformats.org/drawingml/2006/main">
            <a:off x="4191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01</a:t>
            </a:r>
          </a:p>
        </p:txBody>
      </p:sp>
      <p:sp>
        <p:nvSpPr>
          <p:cNvPr id="9" name="">
            <a:extLst xmlns:a="http://schemas.openxmlformats.org/drawingml/2006/main">
              <a:ext uri="{FF2B5EF4-FFF2-40B4-BE49-F238E27FC236}">
                <a16:creationId xmlns:a16="http://schemas.microsoft.com/office/drawing/2014/main" id="{933BECF7-A812-40BD-9E15-80B171C4C223}"/>
              </a:ext>
            </a:extLst>
          </p:cNvPr>
          <p:cNvSpPr>
            <a:spLocks xmlns:a="http://schemas.openxmlformats.org/drawingml/2006/main" noGrp="1"/>
          </p:cNvSpPr>
          <p:nvPr/>
        </p:nvSpPr>
        <p:spPr>
          <a:xfrm xmlns:a="http://schemas.openxmlformats.org/drawingml/2006/main">
            <a:off x="4191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Scope + ingest</a:t>
            </a:r>
          </a:p>
        </p:txBody>
      </p:sp>
      <p:sp>
        <p:nvSpPr>
          <p:cNvPr id="10" name="">
            <a:extLst xmlns:a="http://schemas.openxmlformats.org/drawingml/2006/main">
              <a:ext uri="{FF2B5EF4-FFF2-40B4-BE49-F238E27FC236}">
                <a16:creationId xmlns:a16="http://schemas.microsoft.com/office/drawing/2014/main" id="{61EEAFD7-B7D7-4CCF-9780-C9CFCD4E0CD4}"/>
              </a:ext>
            </a:extLst>
          </p:cNvPr>
          <p:cNvSpPr>
            <a:spLocks xmlns:a="http://schemas.openxmlformats.org/drawingml/2006/main" noGrp="1"/>
          </p:cNvSpPr>
          <p:nvPr/>
        </p:nvSpPr>
        <p:spPr>
          <a:xfrm xmlns:a="http://schemas.openxmlformats.org/drawingml/2006/main">
            <a:off x="4191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market</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source files</a:t>
            </a:r>
          </a:p>
        </p:txBody>
      </p:sp>
      <p:sp>
        <p:nvSpPr>
          <p:cNvPr id="11" name="">
            <a:extLst xmlns:a="http://schemas.openxmlformats.org/drawingml/2006/main">
              <a:ext uri="{FF2B5EF4-FFF2-40B4-BE49-F238E27FC236}">
                <a16:creationId xmlns:a16="http://schemas.microsoft.com/office/drawing/2014/main" id="{682B7305-E534-4975-A419-8C70EF64F268}"/>
              </a:ext>
            </a:extLst>
          </p:cNvPr>
          <p:cNvSpPr>
            <a:spLocks xmlns:a="http://schemas.openxmlformats.org/drawingml/2006/main" noGrp="1"/>
          </p:cNvSpPr>
          <p:nvPr/>
        </p:nvSpPr>
        <p:spPr>
          <a:xfrm xmlns:a="http://schemas.openxmlformats.org/drawingml/2006/main">
            <a:off x="4191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CB71CE0-2F99-48D6-ABD8-578636245958}"/>
              </a:ext>
            </a:extLst>
          </p:cNvPr>
          <p:cNvSpPr>
            <a:spLocks xmlns:a="http://schemas.openxmlformats.org/drawingml/2006/main" noGrp="1"/>
          </p:cNvSpPr>
          <p:nvPr/>
        </p:nvSpPr>
        <p:spPr>
          <a:xfrm xmlns:a="http://schemas.openxmlformats.org/drawingml/2006/main">
            <a:off x="27432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8EF1EED3-C0CE-4C68-BBBF-E718092E87ED}"/>
              </a:ext>
            </a:extLst>
          </p:cNvPr>
          <p:cNvSpPr>
            <a:spLocks xmlns:a="http://schemas.openxmlformats.org/drawingml/2006/main" noGrp="1"/>
          </p:cNvSpPr>
          <p:nvPr/>
        </p:nvSpPr>
        <p:spPr>
          <a:xfrm xmlns:a="http://schemas.openxmlformats.org/drawingml/2006/main">
            <a:off x="27432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Normalize</a:t>
            </a:r>
          </a:p>
        </p:txBody>
      </p:sp>
      <p:sp>
        <p:nvSpPr>
          <p:cNvPr id="14" name="">
            <a:extLst xmlns:a="http://schemas.openxmlformats.org/drawingml/2006/main">
              <a:ext uri="{FF2B5EF4-FFF2-40B4-BE49-F238E27FC236}">
                <a16:creationId xmlns:a16="http://schemas.microsoft.com/office/drawing/2014/main" id="{CEBB766C-FBBC-48CB-8368-411CB01D5A8F}"/>
              </a:ext>
            </a:extLst>
          </p:cNvPr>
          <p:cNvSpPr>
            <a:spLocks xmlns:a="http://schemas.openxmlformats.org/drawingml/2006/main" noGrp="1"/>
          </p:cNvSpPr>
          <p:nvPr/>
        </p:nvSpPr>
        <p:spPr>
          <a:xfrm xmlns:a="http://schemas.openxmlformats.org/drawingml/2006/main">
            <a:off x="27432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Deduplicate; keep</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source locations</a:t>
            </a:r>
          </a:p>
        </p:txBody>
      </p:sp>
      <p:sp>
        <p:nvSpPr>
          <p:cNvPr id="15" name="">
            <a:extLst xmlns:a="http://schemas.openxmlformats.org/drawingml/2006/main">
              <a:ext uri="{FF2B5EF4-FFF2-40B4-BE49-F238E27FC236}">
                <a16:creationId xmlns:a16="http://schemas.microsoft.com/office/drawing/2014/main" id="{0435D91E-5158-49AC-89CE-BB6DCDFA5263}"/>
              </a:ext>
            </a:extLst>
          </p:cNvPr>
          <p:cNvSpPr>
            <a:spLocks xmlns:a="http://schemas.openxmlformats.org/drawingml/2006/main" noGrp="1"/>
          </p:cNvSpPr>
          <p:nvPr/>
        </p:nvSpPr>
        <p:spPr>
          <a:xfrm xmlns:a="http://schemas.openxmlformats.org/drawingml/2006/main">
            <a:off x="27432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550D05A-F347-4DF4-81BB-ED4ACC95BB48}"/>
              </a:ext>
            </a:extLst>
          </p:cNvPr>
          <p:cNvSpPr>
            <a:spLocks xmlns:a="http://schemas.openxmlformats.org/drawingml/2006/main" noGrp="1"/>
          </p:cNvSpPr>
          <p:nvPr/>
        </p:nvSpPr>
        <p:spPr>
          <a:xfrm xmlns:a="http://schemas.openxmlformats.org/drawingml/2006/main">
            <a:off x="50673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03</a:t>
            </a:r>
          </a:p>
        </p:txBody>
      </p:sp>
      <p:sp>
        <p:nvSpPr>
          <p:cNvPr id="17" name="">
            <a:extLst xmlns:a="http://schemas.openxmlformats.org/drawingml/2006/main">
              <a:ext uri="{FF2B5EF4-FFF2-40B4-BE49-F238E27FC236}">
                <a16:creationId xmlns:a16="http://schemas.microsoft.com/office/drawing/2014/main" id="{94FC22AC-E083-4A15-9AE2-2BA9E446B492}"/>
              </a:ext>
            </a:extLst>
          </p:cNvPr>
          <p:cNvSpPr>
            <a:spLocks xmlns:a="http://schemas.openxmlformats.org/drawingml/2006/main" noGrp="1"/>
          </p:cNvSpPr>
          <p:nvPr/>
        </p:nvSpPr>
        <p:spPr>
          <a:xfrm xmlns:a="http://schemas.openxmlformats.org/drawingml/2006/main">
            <a:off x="50673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Analyze</a:t>
            </a:r>
          </a:p>
        </p:txBody>
      </p:sp>
      <p:sp>
        <p:nvSpPr>
          <p:cNvPr id="18" name="">
            <a:extLst xmlns:a="http://schemas.openxmlformats.org/drawingml/2006/main">
              <a:ext uri="{FF2B5EF4-FFF2-40B4-BE49-F238E27FC236}">
                <a16:creationId xmlns:a16="http://schemas.microsoft.com/office/drawing/2014/main" id="{C5F35AC2-3C3A-49B6-A30D-BB219CC078EB}"/>
              </a:ext>
            </a:extLst>
          </p:cNvPr>
          <p:cNvSpPr>
            <a:spLocks xmlns:a="http://schemas.openxmlformats.org/drawingml/2006/main" noGrp="1"/>
          </p:cNvSpPr>
          <p:nvPr/>
        </p:nvSpPr>
        <p:spPr>
          <a:xfrm xmlns:a="http://schemas.openxmlformats.org/drawingml/2006/main">
            <a:off x="50673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Group findings; check</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baseline; research if selected</a:t>
            </a:r>
          </a:p>
        </p:txBody>
      </p:sp>
      <p:sp>
        <p:nvSpPr>
          <p:cNvPr id="19" name="">
            <a:extLst xmlns:a="http://schemas.openxmlformats.org/drawingml/2006/main">
              <a:ext uri="{FF2B5EF4-FFF2-40B4-BE49-F238E27FC236}">
                <a16:creationId xmlns:a16="http://schemas.microsoft.com/office/drawing/2014/main" id="{2AF5A24A-3C55-4090-986B-31E70AEAE223}"/>
              </a:ext>
            </a:extLst>
          </p:cNvPr>
          <p:cNvSpPr>
            <a:spLocks xmlns:a="http://schemas.openxmlformats.org/drawingml/2006/main" noGrp="1"/>
          </p:cNvSpPr>
          <p:nvPr/>
        </p:nvSpPr>
        <p:spPr>
          <a:xfrm xmlns:a="http://schemas.openxmlformats.org/drawingml/2006/main">
            <a:off x="50673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9DDAA20-D0B8-40B9-BFC6-B4294875D85C}"/>
              </a:ext>
            </a:extLst>
          </p:cNvPr>
          <p:cNvSpPr>
            <a:spLocks xmlns:a="http://schemas.openxmlformats.org/drawingml/2006/main" noGrp="1"/>
          </p:cNvSpPr>
          <p:nvPr/>
        </p:nvSpPr>
        <p:spPr>
          <a:xfrm xmlns:a="http://schemas.openxmlformats.org/drawingml/2006/main">
            <a:off x="73914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04</a:t>
            </a:r>
          </a:p>
        </p:txBody>
      </p:sp>
      <p:sp>
        <p:nvSpPr>
          <p:cNvPr id="21" name="">
            <a:extLst xmlns:a="http://schemas.openxmlformats.org/drawingml/2006/main">
              <a:ext uri="{FF2B5EF4-FFF2-40B4-BE49-F238E27FC236}">
                <a16:creationId xmlns:a16="http://schemas.microsoft.com/office/drawing/2014/main" id="{745D2B1B-50E1-4884-9744-FF884F1F84CF}"/>
              </a:ext>
            </a:extLst>
          </p:cNvPr>
          <p:cNvSpPr>
            <a:spLocks xmlns:a="http://schemas.openxmlformats.org/drawingml/2006/main" noGrp="1"/>
          </p:cNvSpPr>
          <p:nvPr/>
        </p:nvSpPr>
        <p:spPr>
          <a:xfrm xmlns:a="http://schemas.openxmlformats.org/drawingml/2006/main">
            <a:off x="73914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Propose</a:t>
            </a:r>
          </a:p>
        </p:txBody>
      </p:sp>
      <p:sp>
        <p:nvSpPr>
          <p:cNvPr id="22" name="">
            <a:extLst xmlns:a="http://schemas.openxmlformats.org/drawingml/2006/main">
              <a:ext uri="{FF2B5EF4-FFF2-40B4-BE49-F238E27FC236}">
                <a16:creationId xmlns:a16="http://schemas.microsoft.com/office/drawing/2014/main" id="{8B925D6B-DD3E-49BC-A8DA-9D8B6A6D18CE}"/>
              </a:ext>
            </a:extLst>
          </p:cNvPr>
          <p:cNvSpPr>
            <a:spLocks xmlns:a="http://schemas.openxmlformats.org/drawingml/2006/main" noGrp="1"/>
          </p:cNvSpPr>
          <p:nvPr/>
        </p:nvSpPr>
        <p:spPr>
          <a:xfrm xmlns:a="http://schemas.openxmlformats.org/drawingml/2006/main">
            <a:off x="73914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Alternatives, requirements</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explained priority</a:t>
            </a:r>
          </a:p>
        </p:txBody>
      </p:sp>
      <p:sp>
        <p:nvSpPr>
          <p:cNvPr id="23" name="">
            <a:extLst xmlns:a="http://schemas.openxmlformats.org/drawingml/2006/main">
              <a:ext uri="{FF2B5EF4-FFF2-40B4-BE49-F238E27FC236}">
                <a16:creationId xmlns:a16="http://schemas.microsoft.com/office/drawing/2014/main" id="{4791471E-FF79-4DAE-ACBA-E6E1DBCE4A6D}"/>
              </a:ext>
            </a:extLst>
          </p:cNvPr>
          <p:cNvSpPr>
            <a:spLocks xmlns:a="http://schemas.openxmlformats.org/drawingml/2006/main" noGrp="1"/>
          </p:cNvSpPr>
          <p:nvPr/>
        </p:nvSpPr>
        <p:spPr>
          <a:xfrm xmlns:a="http://schemas.openxmlformats.org/drawingml/2006/main">
            <a:off x="7391400" y="3124200"/>
            <a:ext cx="2000250" cy="1905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2A867DB-15D8-4517-A7AC-6C8C4EA88578}"/>
              </a:ext>
            </a:extLst>
          </p:cNvPr>
          <p:cNvSpPr>
            <a:spLocks xmlns:a="http://schemas.openxmlformats.org/drawingml/2006/main" noGrp="1"/>
          </p:cNvSpPr>
          <p:nvPr/>
        </p:nvSpPr>
        <p:spPr>
          <a:xfrm xmlns:a="http://schemas.openxmlformats.org/drawingml/2006/main">
            <a:off x="9715500" y="26479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2D5FF4"/>
                </a:solidFill>
                <a:latin typeface="Calibri"/>
                <a:ea typeface="Calibri"/>
                <a:cs typeface="Calibri"/>
              </a:defRPr>
            </a:defPPr>
          </a:lstStyle>
          <a:p xmlns:a="http://schemas.openxmlformats.org/drawingml/2006/main">
            <a:pPr algn="l">
              <a:defRPr sz="2550" b="1">
                <a:solidFill>
                  <a:srgbClr val="2D5FF4"/>
                </a:solidFill>
                <a:latin typeface="Calibri"/>
                <a:ea typeface="Calibri"/>
                <a:cs typeface="Calibri"/>
              </a:defRPr>
            </a:pPr>
            <a:r>
              <a:rPr sz="2550" b="1">
                <a:solidFill>
                  <a:srgbClr val="2D5FF4"/>
                </a:solidFill>
                <a:latin typeface="Calibri"/>
                <a:ea typeface="Calibri"/>
                <a:cs typeface="Calibri"/>
              </a:rPr>
              <a:t>05</a:t>
            </a:r>
          </a:p>
        </p:txBody>
      </p:sp>
      <p:sp>
        <p:nvSpPr>
          <p:cNvPr id="25" name="">
            <a:extLst xmlns:a="http://schemas.openxmlformats.org/drawingml/2006/main">
              <a:ext uri="{FF2B5EF4-FFF2-40B4-BE49-F238E27FC236}">
                <a16:creationId xmlns:a16="http://schemas.microsoft.com/office/drawing/2014/main" id="{6DB8C5DA-4C45-41ED-ACA9-062A3EF145B3}"/>
              </a:ext>
            </a:extLst>
          </p:cNvPr>
          <p:cNvSpPr>
            <a:spLocks xmlns:a="http://schemas.openxmlformats.org/drawingml/2006/main" noGrp="1"/>
          </p:cNvSpPr>
          <p:nvPr/>
        </p:nvSpPr>
        <p:spPr>
          <a:xfrm xmlns:a="http://schemas.openxmlformats.org/drawingml/2006/main">
            <a:off x="9715500" y="327660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PM review</a:t>
            </a:r>
          </a:p>
        </p:txBody>
      </p:sp>
      <p:sp>
        <p:nvSpPr>
          <p:cNvPr id="26" name="">
            <a:extLst xmlns:a="http://schemas.openxmlformats.org/drawingml/2006/main">
              <a:ext uri="{FF2B5EF4-FFF2-40B4-BE49-F238E27FC236}">
                <a16:creationId xmlns:a16="http://schemas.microsoft.com/office/drawing/2014/main" id="{8E9D4925-81C9-4AC9-A698-49B85D7FD5AE}"/>
              </a:ext>
            </a:extLst>
          </p:cNvPr>
          <p:cNvSpPr>
            <a:spLocks xmlns:a="http://schemas.openxmlformats.org/drawingml/2006/main" noGrp="1"/>
          </p:cNvSpPr>
          <p:nvPr/>
        </p:nvSpPr>
        <p:spPr>
          <a:xfrm xmlns:a="http://schemas.openxmlformats.org/drawingml/2006/main">
            <a:off x="9715500" y="381000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Edit, decide, version</a:t>
            </a:r>
          </a:p>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and export</a:t>
            </a:r>
          </a:p>
        </p:txBody>
      </p:sp>
      <p:sp>
        <p:nvSpPr>
          <p:cNvPr id="27" name="">
            <a:extLst xmlns:a="http://schemas.openxmlformats.org/drawingml/2006/main">
              <a:ext uri="{FF2B5EF4-FFF2-40B4-BE49-F238E27FC236}">
                <a16:creationId xmlns:a16="http://schemas.microsoft.com/office/drawing/2014/main" id="{9EAB8A62-473F-4FEE-9AAC-51D28B8D992E}"/>
              </a:ext>
            </a:extLst>
          </p:cNvPr>
          <p:cNvSpPr>
            <a:spLocks xmlns:a="http://schemas.openxmlformats.org/drawingml/2006/main" noGrp="1"/>
          </p:cNvSpPr>
          <p:nvPr/>
        </p:nvSpPr>
        <p:spPr>
          <a:xfrm xmlns:a="http://schemas.openxmlformats.org/drawingml/2006/main">
            <a:off x="419100" y="5067300"/>
            <a:ext cx="11220450" cy="9525"/>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3CB502E-7623-47EE-8CD7-ECF2659F0396}"/>
              </a:ext>
            </a:extLst>
          </p:cNvPr>
          <p:cNvSpPr>
            <a:spLocks xmlns:a="http://schemas.openxmlformats.org/drawingml/2006/main" noGrp="1"/>
          </p:cNvSpPr>
          <p:nvPr/>
        </p:nvSpPr>
        <p:spPr>
          <a:xfrm xmlns:a="http://schemas.openxmlformats.org/drawingml/2006/main">
            <a:off x="419100" y="5353050"/>
            <a:ext cx="1114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Optional: Deep Dive research during analysis; Reimagine after proposals. PM edits create a new version; prior versions stay inspectable.</a:t>
            </a:r>
          </a:p>
        </p:txBody>
      </p:sp>
    </p:spTree>
    <p:extLst>
      <p:ext uri="{BB962C8B-B14F-4D97-AF65-F5344CB8AC3E}">
        <p14:creationId xmlns:p14="http://schemas.microsoft.com/office/powerpoint/2010/main" val="2063759476"/>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A92FD0E-9D75-450F-8402-0EAC7BE5F30C}"/>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34E40BDE-CD6E-4835-B185-FCA43B9101C7}"/>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86DD19C9-107F-42B4-9F8E-1715F31F9A52}"/>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053A4285-93D5-46D1-BC0D-1F1D40233739}"/>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BMW FEEDBACK</a:t>
            </a:r>
          </a:p>
        </p:txBody>
      </p:sp>
      <p:sp>
        <p:nvSpPr>
          <p:cNvPr id="5" name="">
            <a:extLst xmlns:a="http://schemas.openxmlformats.org/drawingml/2006/main">
              <a:ext uri="{FF2B5EF4-FFF2-40B4-BE49-F238E27FC236}">
                <a16:creationId xmlns:a16="http://schemas.microsoft.com/office/drawing/2014/main" id="{2095662A-A5E0-4A34-869B-BCA13C532FF8}"/>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G60 feedback on screen access</a:t>
            </a:r>
          </a:p>
        </p:txBody>
      </p:sp>
      <p:sp>
        <p:nvSpPr>
          <p:cNvPr id="6" name="">
            <a:extLst xmlns:a="http://schemas.openxmlformats.org/drawingml/2006/main">
              <a:ext uri="{FF2B5EF4-FFF2-40B4-BE49-F238E27FC236}">
                <a16:creationId xmlns:a16="http://schemas.microsoft.com/office/drawing/2014/main" id="{91D204BA-1F37-435C-9A97-F5AFA0B3CACF}"/>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05 / 11</a:t>
            </a:r>
          </a:p>
        </p:txBody>
      </p:sp>
      <p:sp>
        <p:nvSpPr>
          <p:cNvPr id="7" name="">
            <a:extLst xmlns:a="http://schemas.openxmlformats.org/drawingml/2006/main">
              <a:ext uri="{FF2B5EF4-FFF2-40B4-BE49-F238E27FC236}">
                <a16:creationId xmlns:a16="http://schemas.microsoft.com/office/drawing/2014/main" id="{4B4A1B56-F64A-48EB-884A-37B6C569FC71}"/>
              </a:ext>
            </a:extLst>
          </p:cNvPr>
          <p:cNvSpPr>
            <a:spLocks xmlns:a="http://schemas.openxmlformats.org/drawingml/2006/main" noGrp="1"/>
          </p:cNvSpPr>
          <p:nvPr/>
        </p:nvSpPr>
        <p:spPr>
          <a:xfrm xmlns:a="http://schemas.openxmlformats.org/drawingml/2006/main">
            <a:off x="571500" y="2571750"/>
            <a:ext cx="47625" cy="217170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1905544-1F51-4B60-8060-F023FB50EE6C}"/>
              </a:ext>
            </a:extLst>
          </p:cNvPr>
          <p:cNvSpPr>
            <a:spLocks xmlns:a="http://schemas.openxmlformats.org/drawingml/2006/main" noGrp="1"/>
          </p:cNvSpPr>
          <p:nvPr/>
        </p:nvSpPr>
        <p:spPr>
          <a:xfrm xmlns:a="http://schemas.openxmlformats.org/drawingml/2006/main">
            <a:off x="914400" y="2647950"/>
            <a:ext cx="10096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2131"/>
                </a:solidFill>
                <a:latin typeface="Calibri"/>
                <a:ea typeface="Calibri"/>
                <a:cs typeface="Calibri"/>
              </a:defRPr>
            </a:defPPr>
          </a:lstStyle>
          <a:p xmlns:a="http://schemas.openxmlformats.org/drawingml/2006/main">
            <a:pPr algn="l">
              <a:defRPr sz="3000" b="1">
                <a:solidFill>
                  <a:srgbClr val="172131"/>
                </a:solidFill>
                <a:latin typeface="Calibri"/>
                <a:ea typeface="Calibri"/>
                <a:cs typeface="Calibri"/>
              </a:defRPr>
            </a:pPr>
            <a:r>
              <a:rPr sz="3000" b="1">
                <a:solidFill>
                  <a:srgbClr val="172131"/>
                </a:solidFill>
                <a:latin typeface="Calibri"/>
                <a:ea typeface="Calibri"/>
                <a:cs typeface="Calibri"/>
              </a:rPr>
              <a:t>“The screen layout is not very intuitive for accessing some functions.”</a:t>
            </a:r>
          </a:p>
        </p:txBody>
      </p:sp>
      <p:sp>
        <p:nvSpPr>
          <p:cNvPr id="9" name="">
            <a:extLst xmlns:a="http://schemas.openxmlformats.org/drawingml/2006/main">
              <a:ext uri="{FF2B5EF4-FFF2-40B4-BE49-F238E27FC236}">
                <a16:creationId xmlns:a16="http://schemas.microsoft.com/office/drawing/2014/main" id="{1D4FB3B9-37FD-42AD-8994-3AF9C934CA52}"/>
              </a:ext>
            </a:extLst>
          </p:cNvPr>
          <p:cNvSpPr>
            <a:spLocks xmlns:a="http://schemas.openxmlformats.org/drawingml/2006/main" noGrp="1"/>
          </p:cNvSpPr>
          <p:nvPr/>
        </p:nvSpPr>
        <p:spPr>
          <a:xfrm xmlns:a="http://schemas.openxmlformats.org/drawingml/2006/main">
            <a:off x="933450" y="45339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US · G60-0248 · Feedback_Explorer, row 313</a:t>
            </a:r>
          </a:p>
        </p:txBody>
      </p:sp>
    </p:spTree>
    <p:extLst>
      <p:ext uri="{BB962C8B-B14F-4D97-AF65-F5344CB8AC3E}">
        <p14:creationId xmlns:p14="http://schemas.microsoft.com/office/powerpoint/2010/main" val="631633843"/>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AAAEBEB-8EBC-4306-91BF-65C8C4AA06B4}"/>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9F1FE115-C2AF-490F-9774-336CBFE0A495}"/>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47CEC816-F166-447B-BD59-B20CD9D3C181}"/>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298FAD0E-DDCC-4903-9D03-6FF3CE4CC9E0}"/>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ALTERNATIVES</a:t>
            </a:r>
          </a:p>
        </p:txBody>
      </p:sp>
      <p:sp>
        <p:nvSpPr>
          <p:cNvPr id="5" name="">
            <a:extLst xmlns:a="http://schemas.openxmlformats.org/drawingml/2006/main">
              <a:ext uri="{FF2B5EF4-FFF2-40B4-BE49-F238E27FC236}">
                <a16:creationId xmlns:a16="http://schemas.microsoft.com/office/drawing/2014/main" id="{66593CF8-6010-462D-B0BB-F3B2D828A75E}"/>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One task. More than one plausible design.</a:t>
            </a:r>
          </a:p>
        </p:txBody>
      </p:sp>
      <p:sp>
        <p:nvSpPr>
          <p:cNvPr id="6" name="">
            <a:extLst xmlns:a="http://schemas.openxmlformats.org/drawingml/2006/main">
              <a:ext uri="{FF2B5EF4-FFF2-40B4-BE49-F238E27FC236}">
                <a16:creationId xmlns:a16="http://schemas.microsoft.com/office/drawing/2014/main" id="{EED9D426-97BB-4792-B2CC-562F74A56A44}"/>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06 / 11</a:t>
            </a:r>
          </a:p>
        </p:txBody>
      </p:sp>
      <p:sp>
        <p:nvSpPr>
          <p:cNvPr id="7" name="">
            <a:extLst xmlns:a="http://schemas.openxmlformats.org/drawingml/2006/main">
              <a:ext uri="{FF2B5EF4-FFF2-40B4-BE49-F238E27FC236}">
                <a16:creationId xmlns:a16="http://schemas.microsoft.com/office/drawing/2014/main" id="{A5BE83A7-82EC-4189-A20A-AFE3504DDA57}"/>
              </a:ext>
            </a:extLst>
          </p:cNvPr>
          <p:cNvSpPr>
            <a:spLocks xmlns:a="http://schemas.openxmlformats.org/drawingml/2006/main" noGrp="1"/>
          </p:cNvSpPr>
          <p:nvPr/>
        </p:nvSpPr>
        <p:spPr>
          <a:xfrm xmlns:a="http://schemas.openxmlformats.org/drawingml/2006/main">
            <a:off x="552450" y="2590800"/>
            <a:ext cx="2857500" cy="1676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8427F68-A60C-4B0B-9629-D932C90B87B3}"/>
              </a:ext>
            </a:extLst>
          </p:cNvPr>
          <p:cNvSpPr>
            <a:spLocks xmlns:a="http://schemas.openxmlformats.org/drawingml/2006/main" noGrp="1"/>
          </p:cNvSpPr>
          <p:nvPr/>
        </p:nvSpPr>
        <p:spPr>
          <a:xfrm xmlns:a="http://schemas.openxmlformats.org/drawingml/2006/main">
            <a:off x="781050" y="281940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CUSTOMER TASK</a:t>
            </a:r>
          </a:p>
        </p:txBody>
      </p:sp>
      <p:sp>
        <p:nvSpPr>
          <p:cNvPr id="9" name="">
            <a:extLst xmlns:a="http://schemas.openxmlformats.org/drawingml/2006/main">
              <a:ext uri="{FF2B5EF4-FFF2-40B4-BE49-F238E27FC236}">
                <a16:creationId xmlns:a16="http://schemas.microsoft.com/office/drawing/2014/main" id="{7C3A21BF-6865-413E-9BEA-D2F8DEF406E4}"/>
              </a:ext>
            </a:extLst>
          </p:cNvPr>
          <p:cNvSpPr>
            <a:spLocks xmlns:a="http://schemas.openxmlformats.org/drawingml/2006/main" noGrp="1"/>
          </p:cNvSpPr>
          <p:nvPr/>
        </p:nvSpPr>
        <p:spPr>
          <a:xfrm xmlns:a="http://schemas.openxmlformats.org/drawingml/2006/main">
            <a:off x="781050" y="3162300"/>
            <a:ext cx="2362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2131"/>
                </a:solidFill>
                <a:latin typeface="Calibri"/>
                <a:ea typeface="Calibri"/>
                <a:cs typeface="Calibri"/>
              </a:defRPr>
            </a:defPPr>
          </a:lstStyle>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Reach frequent</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vehicle functions</a:t>
            </a:r>
          </a:p>
          <a:p xmlns:a="http://schemas.openxmlformats.org/drawingml/2006/main">
            <a:pPr algn="l">
              <a:defRPr sz="1875" b="1">
                <a:solidFill>
                  <a:srgbClr val="172131"/>
                </a:solidFill>
                <a:latin typeface="Calibri"/>
                <a:ea typeface="Calibri"/>
                <a:cs typeface="Calibri"/>
              </a:defRPr>
            </a:pPr>
            <a:r>
              <a:rPr sz="1875" b="1">
                <a:solidFill>
                  <a:srgbClr val="172131"/>
                </a:solidFill>
                <a:latin typeface="Calibri"/>
                <a:ea typeface="Calibri"/>
                <a:cs typeface="Calibri"/>
              </a:rPr>
              <a:t>with fewer steps</a:t>
            </a:r>
          </a:p>
        </p:txBody>
      </p:sp>
      <p:sp>
        <p:nvSpPr>
          <p:cNvPr id="10" name="">
            <a:extLst xmlns:a="http://schemas.openxmlformats.org/drawingml/2006/main">
              <a:ext uri="{FF2B5EF4-FFF2-40B4-BE49-F238E27FC236}">
                <a16:creationId xmlns:a16="http://schemas.microsoft.com/office/drawing/2014/main" id="{C6834C7C-E5E0-47A8-9D13-AE9F08AD43B1}"/>
              </a:ext>
            </a:extLst>
          </p:cNvPr>
          <p:cNvSpPr>
            <a:spLocks xmlns:a="http://schemas.openxmlformats.org/drawingml/2006/main" noGrp="1"/>
          </p:cNvSpPr>
          <p:nvPr/>
        </p:nvSpPr>
        <p:spPr>
          <a:xfrm xmlns:a="http://schemas.openxmlformats.org/drawingml/2006/main">
            <a:off x="3409950" y="3371850"/>
            <a:ext cx="552450" cy="571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6938540-EEF5-47A7-82B5-719E4D5BD189}"/>
              </a:ext>
            </a:extLst>
          </p:cNvPr>
          <p:cNvSpPr>
            <a:spLocks xmlns:a="http://schemas.openxmlformats.org/drawingml/2006/main" noGrp="1"/>
          </p:cNvSpPr>
          <p:nvPr/>
        </p:nvSpPr>
        <p:spPr>
          <a:xfrm xmlns:a="http://schemas.openxmlformats.org/drawingml/2006/main">
            <a:off x="3905250" y="2667000"/>
            <a:ext cx="57150" cy="1428750"/>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6DC0B85-73B3-4B41-AEA4-D61C0035B882}"/>
              </a:ext>
            </a:extLst>
          </p:cNvPr>
          <p:cNvSpPr>
            <a:spLocks xmlns:a="http://schemas.openxmlformats.org/drawingml/2006/main" noGrp="1"/>
          </p:cNvSpPr>
          <p:nvPr/>
        </p:nvSpPr>
        <p:spPr>
          <a:xfrm xmlns:a="http://schemas.openxmlformats.org/drawingml/2006/main">
            <a:off x="3905250" y="259080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B324E78-841E-4B20-935A-FC7ACEA9C0FE}"/>
              </a:ext>
            </a:extLst>
          </p:cNvPr>
          <p:cNvSpPr>
            <a:spLocks xmlns:a="http://schemas.openxmlformats.org/drawingml/2006/main" noGrp="1"/>
          </p:cNvSpPr>
          <p:nvPr/>
        </p:nvSpPr>
        <p:spPr>
          <a:xfrm xmlns:a="http://schemas.openxmlformats.org/drawingml/2006/main">
            <a:off x="3905250" y="3981450"/>
            <a:ext cx="552450" cy="266700"/>
          </a:xfrm>
          <a:prstGeom xmlns:a="http://schemas.openxmlformats.org/drawingml/2006/main" prst="rightArrow">
            <a:avLst/>
          </a:prstGeom>
          <a:solidFill xmlns:a="http://schemas.openxmlformats.org/drawingml/2006/main">
            <a:srgbClr val="2D5F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6E47E00-BA85-4110-81FB-28459C240CD1}"/>
              </a:ext>
            </a:extLst>
          </p:cNvPr>
          <p:cNvSpPr>
            <a:spLocks xmlns:a="http://schemas.openxmlformats.org/drawingml/2006/main" noGrp="1"/>
          </p:cNvSpPr>
          <p:nvPr/>
        </p:nvSpPr>
        <p:spPr>
          <a:xfrm xmlns:a="http://schemas.openxmlformats.org/drawingml/2006/main">
            <a:off x="4533900" y="219075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5" name="">
            <a:extLst xmlns:a="http://schemas.openxmlformats.org/drawingml/2006/main">
              <a:ext uri="{FF2B5EF4-FFF2-40B4-BE49-F238E27FC236}">
                <a16:creationId xmlns:a16="http://schemas.microsoft.com/office/drawing/2014/main" id="{14558A9B-1B8A-44DD-B3D7-592387E1BA56}"/>
              </a:ext>
            </a:extLst>
          </p:cNvPr>
          <p:cNvSpPr>
            <a:spLocks xmlns:a="http://schemas.openxmlformats.org/drawingml/2006/main" noGrp="1"/>
          </p:cNvSpPr>
          <p:nvPr/>
        </p:nvSpPr>
        <p:spPr>
          <a:xfrm xmlns:a="http://schemas.openxmlformats.org/drawingml/2006/main">
            <a:off x="4533900" y="4000500"/>
            <a:ext cx="676275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54FB67C3-8CD6-44E8-A7D7-9C61A16A56B7}"/>
              </a:ext>
            </a:extLst>
          </p:cNvPr>
          <p:cNvSpPr>
            <a:spLocks xmlns:a="http://schemas.openxmlformats.org/drawingml/2006/main" noGrp="1"/>
          </p:cNvSpPr>
          <p:nvPr/>
        </p:nvSpPr>
        <p:spPr>
          <a:xfrm xmlns:a="http://schemas.openxmlformats.org/drawingml/2006/main">
            <a:off x="4800600" y="252412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A</a:t>
            </a:r>
          </a:p>
        </p:txBody>
      </p:sp>
      <p:sp>
        <p:nvSpPr>
          <p:cNvPr id="17" name="">
            <a:extLst xmlns:a="http://schemas.openxmlformats.org/drawingml/2006/main">
              <a:ext uri="{FF2B5EF4-FFF2-40B4-BE49-F238E27FC236}">
                <a16:creationId xmlns:a16="http://schemas.microsoft.com/office/drawing/2014/main" id="{DBD9B850-CB73-4DE1-8E57-308C301B446C}"/>
              </a:ext>
            </a:extLst>
          </p:cNvPr>
          <p:cNvSpPr>
            <a:spLocks xmlns:a="http://schemas.openxmlformats.org/drawingml/2006/main" noGrp="1"/>
          </p:cNvSpPr>
          <p:nvPr/>
        </p:nvSpPr>
        <p:spPr>
          <a:xfrm xmlns:a="http://schemas.openxmlformats.org/drawingml/2006/main">
            <a:off x="5524500" y="24955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Shorter digital path</a:t>
            </a:r>
          </a:p>
        </p:txBody>
      </p:sp>
      <p:sp>
        <p:nvSpPr>
          <p:cNvPr id="18" name="">
            <a:extLst xmlns:a="http://schemas.openxmlformats.org/drawingml/2006/main">
              <a:ext uri="{FF2B5EF4-FFF2-40B4-BE49-F238E27FC236}">
                <a16:creationId xmlns:a16="http://schemas.microsoft.com/office/drawing/2014/main" id="{E846CE7C-DF89-4FB6-8F3C-E5FE64309EA9}"/>
              </a:ext>
            </a:extLst>
          </p:cNvPr>
          <p:cNvSpPr>
            <a:spLocks xmlns:a="http://schemas.openxmlformats.org/drawingml/2006/main" noGrp="1"/>
          </p:cNvSpPr>
          <p:nvPr/>
        </p:nvSpPr>
        <p:spPr>
          <a:xfrm xmlns:a="http://schemas.openxmlformats.org/drawingml/2006/main">
            <a:off x="5524500" y="2971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Favorites or shortcuts for frequent tasks.</a:t>
            </a:r>
          </a:p>
        </p:txBody>
      </p:sp>
      <p:sp>
        <p:nvSpPr>
          <p:cNvPr id="19" name="">
            <a:extLst xmlns:a="http://schemas.openxmlformats.org/drawingml/2006/main">
              <a:ext uri="{FF2B5EF4-FFF2-40B4-BE49-F238E27FC236}">
                <a16:creationId xmlns:a16="http://schemas.microsoft.com/office/drawing/2014/main" id="{1993E833-91C9-4328-BA28-C97E97CA63F1}"/>
              </a:ext>
            </a:extLst>
          </p:cNvPr>
          <p:cNvSpPr>
            <a:spLocks xmlns:a="http://schemas.openxmlformats.org/drawingml/2006/main" noGrp="1"/>
          </p:cNvSpPr>
          <p:nvPr/>
        </p:nvSpPr>
        <p:spPr>
          <a:xfrm xmlns:a="http://schemas.openxmlformats.org/drawingml/2006/main">
            <a:off x="4800600" y="4333875"/>
            <a:ext cx="552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a:solidFill>
                  <a:srgbClr val="2D5FF4"/>
                </a:solidFill>
                <a:latin typeface="Calibri"/>
                <a:ea typeface="Calibri"/>
                <a:cs typeface="Calibri"/>
              </a:defRPr>
            </a:defPPr>
          </a:lstStyle>
          <a:p xmlns:a="http://schemas.openxmlformats.org/drawingml/2006/main">
            <a:pPr algn="ctr">
              <a:defRPr sz="2550" b="1">
                <a:solidFill>
                  <a:srgbClr val="2D5FF4"/>
                </a:solidFill>
                <a:latin typeface="Calibri"/>
                <a:ea typeface="Calibri"/>
                <a:cs typeface="Calibri"/>
              </a:defRPr>
            </a:pPr>
            <a:r>
              <a:rPr sz="2550" b="1">
                <a:solidFill>
                  <a:srgbClr val="2D5FF4"/>
                </a:solidFill>
                <a:latin typeface="Calibri"/>
                <a:ea typeface="Calibri"/>
                <a:cs typeface="Calibri"/>
              </a:rPr>
              <a:t>B</a:t>
            </a:r>
          </a:p>
        </p:txBody>
      </p:sp>
      <p:sp>
        <p:nvSpPr>
          <p:cNvPr id="20" name="">
            <a:extLst xmlns:a="http://schemas.openxmlformats.org/drawingml/2006/main">
              <a:ext uri="{FF2B5EF4-FFF2-40B4-BE49-F238E27FC236}">
                <a16:creationId xmlns:a16="http://schemas.microsoft.com/office/drawing/2014/main" id="{8609E8E4-ACD4-4BE5-9C54-2DEAC4BAD06D}"/>
              </a:ext>
            </a:extLst>
          </p:cNvPr>
          <p:cNvSpPr>
            <a:spLocks xmlns:a="http://schemas.openxmlformats.org/drawingml/2006/main" noGrp="1"/>
          </p:cNvSpPr>
          <p:nvPr/>
        </p:nvSpPr>
        <p:spPr>
          <a:xfrm xmlns:a="http://schemas.openxmlformats.org/drawingml/2006/main">
            <a:off x="5524500" y="429577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Tactile access for selected tasks</a:t>
            </a:r>
          </a:p>
        </p:txBody>
      </p:sp>
      <p:sp>
        <p:nvSpPr>
          <p:cNvPr id="21" name="">
            <a:extLst xmlns:a="http://schemas.openxmlformats.org/drawingml/2006/main">
              <a:ext uri="{FF2B5EF4-FFF2-40B4-BE49-F238E27FC236}">
                <a16:creationId xmlns:a16="http://schemas.microsoft.com/office/drawing/2014/main" id="{A6546953-C4CD-41CE-88B5-75D6F6B199F2}"/>
              </a:ext>
            </a:extLst>
          </p:cNvPr>
          <p:cNvSpPr>
            <a:spLocks xmlns:a="http://schemas.openxmlformats.org/drawingml/2006/main" noGrp="1"/>
          </p:cNvSpPr>
          <p:nvPr/>
        </p:nvSpPr>
        <p:spPr>
          <a:xfrm xmlns:a="http://schemas.openxmlformats.org/drawingml/2006/main">
            <a:off x="5524500" y="477202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Test whether some controls need a more direct interaction.</a:t>
            </a:r>
          </a:p>
        </p:txBody>
      </p:sp>
    </p:spTree>
    <p:extLst>
      <p:ext uri="{BB962C8B-B14F-4D97-AF65-F5344CB8AC3E}">
        <p14:creationId xmlns:p14="http://schemas.microsoft.com/office/powerpoint/2010/main" val="845588953"/>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D8AEDD3-B735-4194-A8A4-7E4853AA402F}"/>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983A4D39-7C05-460E-8231-86A32F43A141}"/>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3C935824-1739-438A-9AFC-C0528860C092}"/>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392D7746-BCC2-48D4-BF32-354AF3387443}"/>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SETTING PRIORITIES</a:t>
            </a:r>
          </a:p>
        </p:txBody>
      </p:sp>
      <p:sp>
        <p:nvSpPr>
          <p:cNvPr id="5" name="">
            <a:extLst xmlns:a="http://schemas.openxmlformats.org/drawingml/2006/main">
              <a:ext uri="{FF2B5EF4-FFF2-40B4-BE49-F238E27FC236}">
                <a16:creationId xmlns:a16="http://schemas.microsoft.com/office/drawing/2014/main" id="{A85CFEE2-23D6-4A14-96E0-E9BBEF40C28C}"/>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Priority waits for matched evidence.</a:t>
            </a:r>
          </a:p>
        </p:txBody>
      </p:sp>
      <p:sp>
        <p:nvSpPr>
          <p:cNvPr id="6" name="">
            <a:extLst xmlns:a="http://schemas.openxmlformats.org/drawingml/2006/main">
              <a:ext uri="{FF2B5EF4-FFF2-40B4-BE49-F238E27FC236}">
                <a16:creationId xmlns:a16="http://schemas.microsoft.com/office/drawing/2014/main" id="{4FC1F5A6-98A9-40B5-8557-4395E3DC8F2E}"/>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07 / 11</a:t>
            </a:r>
          </a:p>
        </p:txBody>
      </p:sp>
      <p:sp>
        <p:nvSpPr>
          <p:cNvPr id="7" name="">
            <a:extLst xmlns:a="http://schemas.openxmlformats.org/drawingml/2006/main">
              <a:ext uri="{FF2B5EF4-FFF2-40B4-BE49-F238E27FC236}">
                <a16:creationId xmlns:a16="http://schemas.microsoft.com/office/drawing/2014/main" id="{40E8CD4B-6167-4C36-8D4F-FCB6A2CC792E}"/>
              </a:ext>
            </a:extLst>
          </p:cNvPr>
          <p:cNvSpPr>
            <a:spLocks xmlns:a="http://schemas.openxmlformats.org/drawingml/2006/main" noGrp="1"/>
          </p:cNvSpPr>
          <p:nvPr/>
        </p:nvSpPr>
        <p:spPr>
          <a:xfrm xmlns:a="http://schemas.openxmlformats.org/drawingml/2006/main">
            <a:off x="552450" y="1962150"/>
            <a:ext cx="2381250" cy="285750"/>
          </a:xfrm>
          <a:prstGeom xmlns:a="http://schemas.openxmlformats.org/drawingml/2006/main" prst="rect">
            <a:avLst/>
          </a:prstGeom>
          <a:solidFill xmlns:a="http://schemas.openxmlformats.org/drawingml/2006/main">
            <a:srgbClr val="FFF4D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DD644B6-BF9A-4E6A-BE44-28D64545F054}"/>
              </a:ext>
            </a:extLst>
          </p:cNvPr>
          <p:cNvSpPr>
            <a:spLocks xmlns:a="http://schemas.openxmlformats.org/drawingml/2006/main" noGrp="1"/>
          </p:cNvSpPr>
          <p:nvPr/>
        </p:nvSpPr>
        <p:spPr>
          <a:xfrm xmlns:a="http://schemas.openxmlformats.org/drawingml/2006/main">
            <a:off x="666750" y="2028825"/>
            <a:ext cx="2152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96620B"/>
                </a:solidFill>
                <a:latin typeface="Calibri"/>
                <a:ea typeface="Calibri"/>
                <a:cs typeface="Calibri"/>
              </a:defRPr>
            </a:defPPr>
          </a:lstStyle>
          <a:p xmlns:a="http://schemas.openxmlformats.org/drawingml/2006/main">
            <a:pPr algn="ctr">
              <a:defRPr sz="975" b="1">
                <a:solidFill>
                  <a:srgbClr val="96620B"/>
                </a:solidFill>
                <a:latin typeface="Calibri"/>
                <a:ea typeface="Calibri"/>
                <a:cs typeface="Calibri"/>
              </a:defRPr>
            </a:pPr>
            <a:r>
              <a:rPr sz="975" b="1">
                <a:solidFill>
                  <a:srgbClr val="96620B"/>
                </a:solidFill>
                <a:latin typeface="Calibri"/>
                <a:ea typeface="Calibri"/>
                <a:cs typeface="Calibri"/>
              </a:rPr>
              <a:t>REAL G60 CASE · NOT SCORED</a:t>
            </a:r>
          </a:p>
        </p:txBody>
      </p:sp>
      <p:sp>
        <p:nvSpPr>
          <p:cNvPr id="9" name="">
            <a:extLst xmlns:a="http://schemas.openxmlformats.org/drawingml/2006/main">
              <a:ext uri="{FF2B5EF4-FFF2-40B4-BE49-F238E27FC236}">
                <a16:creationId xmlns:a16="http://schemas.microsoft.com/office/drawing/2014/main" id="{ADA4B1B2-8613-443D-AAF8-74150EC2C0DC}"/>
              </a:ext>
            </a:extLst>
          </p:cNvPr>
          <p:cNvSpPr>
            <a:spLocks xmlns:a="http://schemas.openxmlformats.org/drawingml/2006/main" noGrp="1"/>
          </p:cNvSpPr>
          <p:nvPr/>
        </p:nvSpPr>
        <p:spPr>
          <a:xfrm xmlns:a="http://schemas.openxmlformats.org/drawingml/2006/main">
            <a:off x="5715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AD67F10C-400F-443B-BD93-9B1AFCB04DB2}"/>
              </a:ext>
            </a:extLst>
          </p:cNvPr>
          <p:cNvSpPr>
            <a:spLocks xmlns:a="http://schemas.openxmlformats.org/drawingml/2006/main" noGrp="1"/>
          </p:cNvSpPr>
          <p:nvPr/>
        </p:nvSpPr>
        <p:spPr>
          <a:xfrm xmlns:a="http://schemas.openxmlformats.org/drawingml/2006/main">
            <a:off x="7429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CUSTOMER IMPACT</a:t>
            </a:r>
          </a:p>
        </p:txBody>
      </p:sp>
      <p:sp>
        <p:nvSpPr>
          <p:cNvPr id="11" name="">
            <a:extLst xmlns:a="http://schemas.openxmlformats.org/drawingml/2006/main">
              <a:ext uri="{FF2B5EF4-FFF2-40B4-BE49-F238E27FC236}">
                <a16:creationId xmlns:a16="http://schemas.microsoft.com/office/drawing/2014/main" id="{1AD68A1A-0841-450D-881D-084C9A797362}"/>
              </a:ext>
            </a:extLst>
          </p:cNvPr>
          <p:cNvSpPr>
            <a:spLocks xmlns:a="http://schemas.openxmlformats.org/drawingml/2006/main" noGrp="1"/>
          </p:cNvSpPr>
          <p:nvPr/>
        </p:nvSpPr>
        <p:spPr>
          <a:xfrm xmlns:a="http://schemas.openxmlformats.org/drawingml/2006/main">
            <a:off x="7429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rated</a:t>
            </a:r>
          </a:p>
        </p:txBody>
      </p:sp>
      <p:sp>
        <p:nvSpPr>
          <p:cNvPr id="12" name="">
            <a:extLst xmlns:a="http://schemas.openxmlformats.org/drawingml/2006/main">
              <a:ext uri="{FF2B5EF4-FFF2-40B4-BE49-F238E27FC236}">
                <a16:creationId xmlns:a16="http://schemas.microsoft.com/office/drawing/2014/main" id="{E1CC0B1F-A0EE-412B-926D-621F013018AF}"/>
              </a:ext>
            </a:extLst>
          </p:cNvPr>
          <p:cNvSpPr>
            <a:spLocks xmlns:a="http://schemas.openxmlformats.org/drawingml/2006/main" noGrp="1"/>
          </p:cNvSpPr>
          <p:nvPr/>
        </p:nvSpPr>
        <p:spPr>
          <a:xfrm xmlns:a="http://schemas.openxmlformats.org/drawingml/2006/main">
            <a:off x="33718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3" name="">
            <a:extLst xmlns:a="http://schemas.openxmlformats.org/drawingml/2006/main">
              <a:ext uri="{FF2B5EF4-FFF2-40B4-BE49-F238E27FC236}">
                <a16:creationId xmlns:a16="http://schemas.microsoft.com/office/drawing/2014/main" id="{4239D6A3-675B-4CEB-878F-91F632AE37EC}"/>
              </a:ext>
            </a:extLst>
          </p:cNvPr>
          <p:cNvSpPr>
            <a:spLocks xmlns:a="http://schemas.openxmlformats.org/drawingml/2006/main" noGrp="1"/>
          </p:cNvSpPr>
          <p:nvPr/>
        </p:nvSpPr>
        <p:spPr>
          <a:xfrm xmlns:a="http://schemas.openxmlformats.org/drawingml/2006/main">
            <a:off x="35433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TARGET-GROUP REACH</a:t>
            </a:r>
          </a:p>
        </p:txBody>
      </p:sp>
      <p:sp>
        <p:nvSpPr>
          <p:cNvPr id="14" name="">
            <a:extLst xmlns:a="http://schemas.openxmlformats.org/drawingml/2006/main">
              <a:ext uri="{FF2B5EF4-FFF2-40B4-BE49-F238E27FC236}">
                <a16:creationId xmlns:a16="http://schemas.microsoft.com/office/drawing/2014/main" id="{426B831A-F1F1-455F-AE88-235792106A41}"/>
              </a:ext>
            </a:extLst>
          </p:cNvPr>
          <p:cNvSpPr>
            <a:spLocks xmlns:a="http://schemas.openxmlformats.org/drawingml/2006/main" noGrp="1"/>
          </p:cNvSpPr>
          <p:nvPr/>
        </p:nvSpPr>
        <p:spPr>
          <a:xfrm xmlns:a="http://schemas.openxmlformats.org/drawingml/2006/main">
            <a:off x="35433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Not established</a:t>
            </a:r>
          </a:p>
        </p:txBody>
      </p:sp>
      <p:sp>
        <p:nvSpPr>
          <p:cNvPr id="15" name="">
            <a:extLst xmlns:a="http://schemas.openxmlformats.org/drawingml/2006/main">
              <a:ext uri="{FF2B5EF4-FFF2-40B4-BE49-F238E27FC236}">
                <a16:creationId xmlns:a16="http://schemas.microsoft.com/office/drawing/2014/main" id="{F6B608D2-91BD-4196-BA77-3897579C5EF6}"/>
              </a:ext>
            </a:extLst>
          </p:cNvPr>
          <p:cNvSpPr>
            <a:spLocks xmlns:a="http://schemas.openxmlformats.org/drawingml/2006/main" noGrp="1"/>
          </p:cNvSpPr>
          <p:nvPr/>
        </p:nvSpPr>
        <p:spPr>
          <a:xfrm xmlns:a="http://schemas.openxmlformats.org/drawingml/2006/main">
            <a:off x="617220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A9A2F9D0-069E-49FC-9936-BEAF9D5B89DC}"/>
              </a:ext>
            </a:extLst>
          </p:cNvPr>
          <p:cNvSpPr>
            <a:spLocks xmlns:a="http://schemas.openxmlformats.org/drawingml/2006/main" noGrp="1"/>
          </p:cNvSpPr>
          <p:nvPr/>
        </p:nvSpPr>
        <p:spPr>
          <a:xfrm xmlns:a="http://schemas.openxmlformats.org/drawingml/2006/main">
            <a:off x="634365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CURRENT OFFERING GAP</a:t>
            </a:r>
          </a:p>
        </p:txBody>
      </p:sp>
      <p:sp>
        <p:nvSpPr>
          <p:cNvPr id="17" name="">
            <a:extLst xmlns:a="http://schemas.openxmlformats.org/drawingml/2006/main">
              <a:ext uri="{FF2B5EF4-FFF2-40B4-BE49-F238E27FC236}">
                <a16:creationId xmlns:a16="http://schemas.microsoft.com/office/drawing/2014/main" id="{7C2289D5-4BFA-4256-8349-8A5AD7153B71}"/>
              </a:ext>
            </a:extLst>
          </p:cNvPr>
          <p:cNvSpPr>
            <a:spLocks xmlns:a="http://schemas.openxmlformats.org/drawingml/2006/main" noGrp="1"/>
          </p:cNvSpPr>
          <p:nvPr/>
        </p:nvSpPr>
        <p:spPr>
          <a:xfrm xmlns:a="http://schemas.openxmlformats.org/drawingml/2006/main">
            <a:off x="634365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Unknown</a:t>
            </a:r>
          </a:p>
        </p:txBody>
      </p:sp>
      <p:sp>
        <p:nvSpPr>
          <p:cNvPr id="18" name="">
            <a:extLst xmlns:a="http://schemas.openxmlformats.org/drawingml/2006/main">
              <a:ext uri="{FF2B5EF4-FFF2-40B4-BE49-F238E27FC236}">
                <a16:creationId xmlns:a16="http://schemas.microsoft.com/office/drawing/2014/main" id="{CA5B3F59-8491-4E3A-A273-19A666069706}"/>
              </a:ext>
            </a:extLst>
          </p:cNvPr>
          <p:cNvSpPr>
            <a:spLocks xmlns:a="http://schemas.openxmlformats.org/drawingml/2006/main" noGrp="1"/>
          </p:cNvSpPr>
          <p:nvPr/>
        </p:nvSpPr>
        <p:spPr>
          <a:xfrm xmlns:a="http://schemas.openxmlformats.org/drawingml/2006/main">
            <a:off x="8972550" y="2619375"/>
            <a:ext cx="257175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9" name="">
            <a:extLst xmlns:a="http://schemas.openxmlformats.org/drawingml/2006/main">
              <a:ext uri="{FF2B5EF4-FFF2-40B4-BE49-F238E27FC236}">
                <a16:creationId xmlns:a16="http://schemas.microsoft.com/office/drawing/2014/main" id="{AA79D606-B44B-400C-A5D5-8BED19D4E76A}"/>
              </a:ext>
            </a:extLst>
          </p:cNvPr>
          <p:cNvSpPr>
            <a:spLocks xmlns:a="http://schemas.openxmlformats.org/drawingml/2006/main" noGrp="1"/>
          </p:cNvSpPr>
          <p:nvPr/>
        </p:nvSpPr>
        <p:spPr>
          <a:xfrm xmlns:a="http://schemas.openxmlformats.org/drawingml/2006/main">
            <a:off x="9144000" y="2828925"/>
            <a:ext cx="2247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B6B82"/>
                </a:solidFill>
                <a:latin typeface="Calibri"/>
                <a:ea typeface="Calibri"/>
                <a:cs typeface="Calibri"/>
              </a:defRPr>
            </a:defPPr>
          </a:lstStyle>
          <a:p xmlns:a="http://schemas.openxmlformats.org/drawingml/2006/main">
            <a:pPr algn="l">
              <a:defRPr sz="975" b="1">
                <a:solidFill>
                  <a:srgbClr val="5B6B82"/>
                </a:solidFill>
                <a:latin typeface="Calibri"/>
                <a:ea typeface="Calibri"/>
                <a:cs typeface="Calibri"/>
              </a:defRPr>
            </a:pPr>
            <a:r>
              <a:rPr sz="975" b="1">
                <a:solidFill>
                  <a:srgbClr val="5B6B82"/>
                </a:solidFill>
                <a:latin typeface="Calibri"/>
                <a:ea typeface="Calibri"/>
                <a:cs typeface="Calibri"/>
              </a:rPr>
              <a:t>FUTURE RELEVANCE</a:t>
            </a:r>
          </a:p>
        </p:txBody>
      </p:sp>
      <p:sp>
        <p:nvSpPr>
          <p:cNvPr id="20" name="">
            <a:extLst xmlns:a="http://schemas.openxmlformats.org/drawingml/2006/main">
              <a:ext uri="{FF2B5EF4-FFF2-40B4-BE49-F238E27FC236}">
                <a16:creationId xmlns:a16="http://schemas.microsoft.com/office/drawing/2014/main" id="{499192E5-0EFE-4CFE-9561-93B426ECFE15}"/>
              </a:ext>
            </a:extLst>
          </p:cNvPr>
          <p:cNvSpPr>
            <a:spLocks xmlns:a="http://schemas.openxmlformats.org/drawingml/2006/main" noGrp="1"/>
          </p:cNvSpPr>
          <p:nvPr/>
        </p:nvSpPr>
        <p:spPr>
          <a:xfrm xmlns:a="http://schemas.openxmlformats.org/drawingml/2006/main">
            <a:off x="9144000" y="32194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2131"/>
                </a:solidFill>
                <a:latin typeface="Calibri"/>
                <a:ea typeface="Calibri"/>
                <a:cs typeface="Calibri"/>
              </a:defRPr>
            </a:defPPr>
          </a:lstStyle>
          <a:p xmlns:a="http://schemas.openxmlformats.org/drawingml/2006/main">
            <a:pPr algn="l">
              <a:defRPr sz="1650" b="1">
                <a:solidFill>
                  <a:srgbClr val="172131"/>
                </a:solidFill>
                <a:latin typeface="Calibri"/>
                <a:ea typeface="Calibri"/>
                <a:cs typeface="Calibri"/>
              </a:defRPr>
            </a:pPr>
            <a:r>
              <a:rPr sz="1650" b="1">
                <a:solidFill>
                  <a:srgbClr val="172131"/>
                </a:solidFill>
                <a:latin typeface="Calibri"/>
                <a:ea typeface="Calibri"/>
                <a:cs typeface="Calibri"/>
              </a:rPr>
              <a:t>Assumption</a:t>
            </a:r>
          </a:p>
        </p:txBody>
      </p:sp>
      <p:sp>
        <p:nvSpPr>
          <p:cNvPr id="21" name="">
            <a:extLst xmlns:a="http://schemas.openxmlformats.org/drawingml/2006/main">
              <a:ext uri="{FF2B5EF4-FFF2-40B4-BE49-F238E27FC236}">
                <a16:creationId xmlns:a16="http://schemas.microsoft.com/office/drawing/2014/main" id="{4A0F892E-FD55-46AB-A832-4D98E35579C1}"/>
              </a:ext>
            </a:extLst>
          </p:cNvPr>
          <p:cNvSpPr>
            <a:spLocks xmlns:a="http://schemas.openxmlformats.org/drawingml/2006/main" noGrp="1"/>
          </p:cNvSpPr>
          <p:nvPr/>
        </p:nvSpPr>
        <p:spPr>
          <a:xfrm xmlns:a="http://schemas.openxmlformats.org/drawingml/2006/main">
            <a:off x="571500" y="4267200"/>
            <a:ext cx="10706100" cy="1352550"/>
          </a:xfrm>
          <a:prstGeom xmlns:a="http://schemas.openxmlformats.org/drawingml/2006/main" prst="rect">
            <a:avLst/>
          </a:prstGeom>
          <a:solidFill xmlns:a="http://schemas.openxmlformats.org/drawingml/2006/main">
            <a:srgbClr val="11192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ED66B19-1F88-4109-9CBD-35CC32FAF14C}"/>
              </a:ext>
            </a:extLst>
          </p:cNvPr>
          <p:cNvSpPr>
            <a:spLocks xmlns:a="http://schemas.openxmlformats.org/drawingml/2006/main" noGrp="1"/>
          </p:cNvSpPr>
          <p:nvPr/>
        </p:nvSpPr>
        <p:spPr>
          <a:xfrm xmlns:a="http://schemas.openxmlformats.org/drawingml/2006/main">
            <a:off x="838200" y="45720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EBBD0"/>
                </a:solidFill>
                <a:latin typeface="Calibri"/>
                <a:ea typeface="Calibri"/>
                <a:cs typeface="Calibri"/>
              </a:defRPr>
            </a:defPPr>
          </a:lstStyle>
          <a:p xmlns:a="http://schemas.openxmlformats.org/drawingml/2006/main">
            <a:pPr algn="l">
              <a:defRPr sz="1050" b="1">
                <a:solidFill>
                  <a:srgbClr val="AEBBD0"/>
                </a:solidFill>
                <a:latin typeface="Calibri"/>
                <a:ea typeface="Calibri"/>
                <a:cs typeface="Calibri"/>
              </a:defRPr>
            </a:pPr>
            <a:r>
              <a:rPr sz="1050" b="1">
                <a:solidFill>
                  <a:srgbClr val="AEBBD0"/>
                </a:solidFill>
                <a:latin typeface="Calibri"/>
                <a:ea typeface="Calibri"/>
                <a:cs typeface="Calibri"/>
              </a:rPr>
              <a:t>PRIORITY</a:t>
            </a:r>
          </a:p>
        </p:txBody>
      </p:sp>
      <p:sp>
        <p:nvSpPr>
          <p:cNvPr id="23" name="">
            <a:extLst xmlns:a="http://schemas.openxmlformats.org/drawingml/2006/main">
              <a:ext uri="{FF2B5EF4-FFF2-40B4-BE49-F238E27FC236}">
                <a16:creationId xmlns:a16="http://schemas.microsoft.com/office/drawing/2014/main" id="{47420EBB-35F6-4DC1-A521-670F9A28163C}"/>
              </a:ext>
            </a:extLst>
          </p:cNvPr>
          <p:cNvSpPr>
            <a:spLocks xmlns:a="http://schemas.openxmlformats.org/drawingml/2006/main" noGrp="1"/>
          </p:cNvSpPr>
          <p:nvPr/>
        </p:nvSpPr>
        <p:spPr>
          <a:xfrm xmlns:a="http://schemas.openxmlformats.org/drawingml/2006/main">
            <a:off x="838200" y="48958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FFFFFF"/>
                </a:solidFill>
                <a:latin typeface="Calibri"/>
                <a:ea typeface="Calibri"/>
                <a:cs typeface="Calibri"/>
              </a:defRPr>
            </a:defPPr>
          </a:lstStyle>
          <a:p xmlns:a="http://schemas.openxmlformats.org/drawingml/2006/main">
            <a:pPr algn="l">
              <a:defRPr sz="2850" b="1">
                <a:solidFill>
                  <a:srgbClr val="FFFFFF"/>
                </a:solidFill>
                <a:latin typeface="Calibri"/>
                <a:ea typeface="Calibri"/>
                <a:cs typeface="Calibri"/>
              </a:defRPr>
            </a:pPr>
            <a:r>
              <a:rPr sz="2850" b="1">
                <a:solidFill>
                  <a:srgbClr val="FFFFFF"/>
                </a:solidFill>
                <a:latin typeface="Calibri"/>
                <a:ea typeface="Calibri"/>
                <a:cs typeface="Calibri"/>
              </a:rPr>
              <a:t>Not scored</a:t>
            </a:r>
          </a:p>
        </p:txBody>
      </p:sp>
      <p:sp>
        <p:nvSpPr>
          <p:cNvPr id="24" name="">
            <a:extLst xmlns:a="http://schemas.openxmlformats.org/drawingml/2006/main">
              <a:ext uri="{FF2B5EF4-FFF2-40B4-BE49-F238E27FC236}">
                <a16:creationId xmlns:a16="http://schemas.microsoft.com/office/drawing/2014/main" id="{709897AD-B413-4141-B3F3-92C6D9873A02}"/>
              </a:ext>
            </a:extLst>
          </p:cNvPr>
          <p:cNvSpPr>
            <a:spLocks xmlns:a="http://schemas.openxmlformats.org/drawingml/2006/main" noGrp="1"/>
          </p:cNvSpPr>
          <p:nvPr/>
        </p:nvSpPr>
        <p:spPr>
          <a:xfrm xmlns:a="http://schemas.openxmlformats.org/drawingml/2006/main">
            <a:off x="5143500" y="4695825"/>
            <a:ext cx="552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D4DCEA"/>
                </a:solidFill>
                <a:latin typeface="Calibri"/>
                <a:ea typeface="Calibri"/>
                <a:cs typeface="Calibri"/>
              </a:defRPr>
            </a:defPPr>
          </a:lstStyle>
          <a:p xmlns:a="http://schemas.openxmlformats.org/drawingml/2006/main">
            <a:pPr algn="l">
              <a:defRPr sz="1500" b="0">
                <a:solidFill>
                  <a:srgbClr val="D4DCEA"/>
                </a:solidFill>
                <a:latin typeface="Calibri"/>
                <a:ea typeface="Calibri"/>
                <a:cs typeface="Calibri"/>
              </a:defRPr>
            </a:pPr>
            <a:r>
              <a:rPr sz="1500" b="0">
                <a:solidFill>
                  <a:srgbClr val="D4DCEA"/>
                </a:solidFill>
                <a:latin typeface="Calibri"/>
                <a:ea typeface="Calibri"/>
                <a:cs typeface="Calibri"/>
              </a:rPr>
              <a:t>A few source records and an unmatched vehicle baseline cannot support a defensible case score.</a:t>
            </a:r>
          </a:p>
        </p:txBody>
      </p:sp>
      <p:sp>
        <p:nvSpPr>
          <p:cNvPr id="25" name="">
            <a:extLst xmlns:a="http://schemas.openxmlformats.org/drawingml/2006/main">
              <a:ext uri="{FF2B5EF4-FFF2-40B4-BE49-F238E27FC236}">
                <a16:creationId xmlns:a16="http://schemas.microsoft.com/office/drawing/2014/main" id="{DE4FAA4F-3A70-4B16-9232-862639A19889}"/>
              </a:ext>
            </a:extLst>
          </p:cNvPr>
          <p:cNvSpPr>
            <a:spLocks xmlns:a="http://schemas.openxmlformats.org/drawingml/2006/main" noGrp="1"/>
          </p:cNvSpPr>
          <p:nvPr/>
        </p:nvSpPr>
        <p:spPr>
          <a:xfrm xmlns:a="http://schemas.openxmlformats.org/drawingml/2006/main">
            <a:off x="571500" y="58293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Scoring workflow exists. Weights remain a project policy, not BMW guidance.</a:t>
            </a:r>
          </a:p>
        </p:txBody>
      </p:sp>
    </p:spTree>
    <p:extLst>
      <p:ext uri="{BB962C8B-B14F-4D97-AF65-F5344CB8AC3E}">
        <p14:creationId xmlns:p14="http://schemas.microsoft.com/office/powerpoint/2010/main" val="757345653"/>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7E41CA0-2CA4-4A90-9ED2-68CB163D7823}"/>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76506FD7-C8E0-429A-AE28-80721D2C484D}"/>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366256B7-B498-4B5B-AE58-7427C11264D3}"/>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62A1D2E7-AADB-4D9D-9FE3-9F9B0CBFDA41}"/>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THE OUTPUT</a:t>
            </a:r>
          </a:p>
        </p:txBody>
      </p:sp>
      <p:sp>
        <p:nvSpPr>
          <p:cNvPr id="5" name="">
            <a:extLst xmlns:a="http://schemas.openxmlformats.org/drawingml/2006/main">
              <a:ext uri="{FF2B5EF4-FFF2-40B4-BE49-F238E27FC236}">
                <a16:creationId xmlns:a16="http://schemas.microsoft.com/office/drawing/2014/main" id="{EF98EF04-F8F6-465C-9ED1-ACD5391C6B50}"/>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candidate requirement, pending review.</a:t>
            </a:r>
          </a:p>
        </p:txBody>
      </p:sp>
      <p:sp>
        <p:nvSpPr>
          <p:cNvPr id="6" name="">
            <a:extLst xmlns:a="http://schemas.openxmlformats.org/drawingml/2006/main">
              <a:ext uri="{FF2B5EF4-FFF2-40B4-BE49-F238E27FC236}">
                <a16:creationId xmlns:a16="http://schemas.microsoft.com/office/drawing/2014/main" id="{592F16B2-B5E2-4DFF-9831-90B66A52DB26}"/>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08 / 11</a:t>
            </a:r>
          </a:p>
        </p:txBody>
      </p:sp>
      <p:sp>
        <p:nvSpPr>
          <p:cNvPr id="7" name="">
            <a:extLst xmlns:a="http://schemas.openxmlformats.org/drawingml/2006/main">
              <a:ext uri="{FF2B5EF4-FFF2-40B4-BE49-F238E27FC236}">
                <a16:creationId xmlns:a16="http://schemas.microsoft.com/office/drawing/2014/main" id="{69BF7538-441C-4849-8BCB-7EFC6E7AA02C}"/>
              </a:ext>
            </a:extLst>
          </p:cNvPr>
          <p:cNvSpPr>
            <a:spLocks xmlns:a="http://schemas.openxmlformats.org/drawingml/2006/main" noGrp="1"/>
          </p:cNvSpPr>
          <p:nvPr/>
        </p:nvSpPr>
        <p:spPr>
          <a:xfrm xmlns:a="http://schemas.openxmlformats.org/drawingml/2006/main">
            <a:off x="552450" y="1924050"/>
            <a:ext cx="30289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51BCBAE-C44C-4A07-A4F3-010C1B69D9BC}"/>
              </a:ext>
            </a:extLst>
          </p:cNvPr>
          <p:cNvSpPr>
            <a:spLocks xmlns:a="http://schemas.openxmlformats.org/drawingml/2006/main" noGrp="1"/>
          </p:cNvSpPr>
          <p:nvPr/>
        </p:nvSpPr>
        <p:spPr>
          <a:xfrm xmlns:a="http://schemas.openxmlformats.org/drawingml/2006/main">
            <a:off x="666750" y="1990725"/>
            <a:ext cx="2800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SOURCE-BASED DRAFT · NOT APPROVED</a:t>
            </a:r>
          </a:p>
        </p:txBody>
      </p:sp>
      <p:sp>
        <p:nvSpPr>
          <p:cNvPr id="9" name="">
            <a:extLst xmlns:a="http://schemas.openxmlformats.org/drawingml/2006/main">
              <a:ext uri="{FF2B5EF4-FFF2-40B4-BE49-F238E27FC236}">
                <a16:creationId xmlns:a16="http://schemas.microsoft.com/office/drawing/2014/main" id="{5BC60CC5-74CE-471A-9234-3C390B2D9A7F}"/>
              </a:ext>
            </a:extLst>
          </p:cNvPr>
          <p:cNvSpPr>
            <a:spLocks xmlns:a="http://schemas.openxmlformats.org/drawingml/2006/main" noGrp="1"/>
          </p:cNvSpPr>
          <p:nvPr/>
        </p:nvSpPr>
        <p:spPr>
          <a:xfrm xmlns:a="http://schemas.openxmlformats.org/drawingml/2006/main">
            <a:off x="552450" y="2438400"/>
            <a:ext cx="11087100" cy="31623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1BC77409-5298-4597-B126-C6198E570ADF}"/>
              </a:ext>
            </a:extLst>
          </p:cNvPr>
          <p:cNvSpPr>
            <a:spLocks xmlns:a="http://schemas.openxmlformats.org/drawingml/2006/main" noGrp="1"/>
          </p:cNvSpPr>
          <p:nvPr/>
        </p:nvSpPr>
        <p:spPr>
          <a:xfrm xmlns:a="http://schemas.openxmlformats.org/drawingml/2006/main">
            <a:off x="552450" y="2438400"/>
            <a:ext cx="1790700" cy="31623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02E4A65-CAFB-48F1-850F-0E980D0CEEB2}"/>
              </a:ext>
            </a:extLst>
          </p:cNvPr>
          <p:cNvSpPr>
            <a:spLocks xmlns:a="http://schemas.openxmlformats.org/drawingml/2006/main" noGrp="1"/>
          </p:cNvSpPr>
          <p:nvPr/>
        </p:nvSpPr>
        <p:spPr>
          <a:xfrm xmlns:a="http://schemas.openxmlformats.org/drawingml/2006/main">
            <a:off x="781050" y="2686050"/>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FWD</a:t>
            </a:r>
          </a:p>
        </p:txBody>
      </p:sp>
      <p:sp>
        <p:nvSpPr>
          <p:cNvPr id="12" name="">
            <a:extLst xmlns:a="http://schemas.openxmlformats.org/drawingml/2006/main">
              <a:ext uri="{FF2B5EF4-FFF2-40B4-BE49-F238E27FC236}">
                <a16:creationId xmlns:a16="http://schemas.microsoft.com/office/drawing/2014/main" id="{79E226FA-5A18-4CDE-9A22-CF5BFC3FF055}"/>
              </a:ext>
            </a:extLst>
          </p:cNvPr>
          <p:cNvSpPr>
            <a:spLocks xmlns:a="http://schemas.openxmlformats.org/drawingml/2006/main" noGrp="1"/>
          </p:cNvSpPr>
          <p:nvPr/>
        </p:nvSpPr>
        <p:spPr>
          <a:xfrm xmlns:a="http://schemas.openxmlformats.org/drawingml/2006/main">
            <a:off x="781050" y="3390900"/>
            <a:ext cx="123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Review</a:t>
            </a:r>
          </a:p>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workspace</a:t>
            </a:r>
          </a:p>
        </p:txBody>
      </p:sp>
      <p:sp>
        <p:nvSpPr>
          <p:cNvPr id="13" name="">
            <a:extLst xmlns:a="http://schemas.openxmlformats.org/drawingml/2006/main">
              <a:ext uri="{FF2B5EF4-FFF2-40B4-BE49-F238E27FC236}">
                <a16:creationId xmlns:a16="http://schemas.microsoft.com/office/drawing/2014/main" id="{5D700A33-B40D-41AE-80CC-1CFB13CF49CE}"/>
              </a:ext>
            </a:extLst>
          </p:cNvPr>
          <p:cNvSpPr>
            <a:spLocks xmlns:a="http://schemas.openxmlformats.org/drawingml/2006/main" noGrp="1"/>
          </p:cNvSpPr>
          <p:nvPr/>
        </p:nvSpPr>
        <p:spPr>
          <a:xfrm xmlns:a="http://schemas.openxmlformats.org/drawingml/2006/main">
            <a:off x="781050" y="4276725"/>
            <a:ext cx="1238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Evidence</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Requirements</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Versions</a:t>
            </a:r>
          </a:p>
        </p:txBody>
      </p:sp>
      <p:sp>
        <p:nvSpPr>
          <p:cNvPr id="14" name="">
            <a:extLst xmlns:a="http://schemas.openxmlformats.org/drawingml/2006/main">
              <a:ext uri="{FF2B5EF4-FFF2-40B4-BE49-F238E27FC236}">
                <a16:creationId xmlns:a16="http://schemas.microsoft.com/office/drawing/2014/main" id="{B34D224F-0E94-4E8C-9A8E-C63E062ABDEE}"/>
              </a:ext>
            </a:extLst>
          </p:cNvPr>
          <p:cNvSpPr>
            <a:spLocks xmlns:a="http://schemas.openxmlformats.org/drawingml/2006/main" noGrp="1"/>
          </p:cNvSpPr>
          <p:nvPr/>
        </p:nvSpPr>
        <p:spPr>
          <a:xfrm xmlns:a="http://schemas.openxmlformats.org/drawingml/2006/main">
            <a:off x="2628900" y="272415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REQ-DRAFT-01</a:t>
            </a:r>
          </a:p>
        </p:txBody>
      </p:sp>
      <p:sp>
        <p:nvSpPr>
          <p:cNvPr id="15" name="">
            <a:extLst xmlns:a="http://schemas.openxmlformats.org/drawingml/2006/main">
              <a:ext uri="{FF2B5EF4-FFF2-40B4-BE49-F238E27FC236}">
                <a16:creationId xmlns:a16="http://schemas.microsoft.com/office/drawing/2014/main" id="{E79D0ED3-4435-41D8-AD67-AFFAF04A3486}"/>
              </a:ext>
            </a:extLst>
          </p:cNvPr>
          <p:cNvSpPr>
            <a:spLocks xmlns:a="http://schemas.openxmlformats.org/drawingml/2006/main" noGrp="1"/>
          </p:cNvSpPr>
          <p:nvPr/>
        </p:nvSpPr>
        <p:spPr>
          <a:xfrm xmlns:a="http://schemas.openxmlformats.org/drawingml/2006/main">
            <a:off x="2628900" y="3105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72131"/>
                </a:solidFill>
                <a:latin typeface="Calibri"/>
                <a:ea typeface="Calibri"/>
                <a:cs typeface="Calibri"/>
              </a:defRPr>
            </a:defPPr>
          </a:lstStyle>
          <a:p xmlns:a="http://schemas.openxmlformats.org/drawingml/2006/main">
            <a:pPr algn="l">
              <a:defRPr sz="2025" b="1">
                <a:solidFill>
                  <a:srgbClr val="172131"/>
                </a:solidFill>
                <a:latin typeface="Calibri"/>
                <a:ea typeface="Calibri"/>
                <a:cs typeface="Calibri"/>
              </a:defRPr>
            </a:pPr>
            <a:r>
              <a:rPr sz="2025" b="1">
                <a:solidFill>
                  <a:srgbClr val="172131"/>
                </a:solidFill>
                <a:latin typeface="Calibri"/>
                <a:ea typeface="Calibri"/>
                <a:cs typeface="Calibri"/>
              </a:rPr>
              <a:t>Drivers can reach frequently used functions through clear, consistent paths with fewer steps.</a:t>
            </a:r>
          </a:p>
        </p:txBody>
      </p:sp>
      <p:sp>
        <p:nvSpPr>
          <p:cNvPr id="16" name="">
            <a:extLst xmlns:a="http://schemas.openxmlformats.org/drawingml/2006/main">
              <a:ext uri="{FF2B5EF4-FFF2-40B4-BE49-F238E27FC236}">
                <a16:creationId xmlns:a16="http://schemas.microsoft.com/office/drawing/2014/main" id="{C17A744A-5B3E-4C54-AFBE-690928CF4706}"/>
              </a:ext>
            </a:extLst>
          </p:cNvPr>
          <p:cNvSpPr>
            <a:spLocks xmlns:a="http://schemas.openxmlformats.org/drawingml/2006/main" noGrp="1"/>
          </p:cNvSpPr>
          <p:nvPr/>
        </p:nvSpPr>
        <p:spPr>
          <a:xfrm xmlns:a="http://schemas.openxmlformats.org/drawingml/2006/main">
            <a:off x="2628900" y="43624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D5FF4"/>
                </a:solidFill>
                <a:latin typeface="Calibri"/>
                <a:ea typeface="Calibri"/>
                <a:cs typeface="Calibri"/>
              </a:defRPr>
            </a:defPPr>
          </a:lstStyle>
          <a:p xmlns:a="http://schemas.openxmlformats.org/drawingml/2006/main">
            <a:pPr algn="l">
              <a:defRPr sz="1050" b="1">
                <a:solidFill>
                  <a:srgbClr val="2D5FF4"/>
                </a:solidFill>
                <a:latin typeface="Calibri"/>
                <a:ea typeface="Calibri"/>
                <a:cs typeface="Calibri"/>
              </a:defRPr>
            </a:pPr>
            <a:r>
              <a:rPr sz="1050" b="1">
                <a:solidFill>
                  <a:srgbClr val="2D5FF4"/>
                </a:solidFill>
                <a:latin typeface="Calibri"/>
                <a:ea typeface="Calibri"/>
                <a:cs typeface="Calibri"/>
              </a:rPr>
              <a:t>Evidence</a:t>
            </a:r>
          </a:p>
        </p:txBody>
      </p:sp>
      <p:sp>
        <p:nvSpPr>
          <p:cNvPr id="17" name="">
            <a:extLst xmlns:a="http://schemas.openxmlformats.org/drawingml/2006/main">
              <a:ext uri="{FF2B5EF4-FFF2-40B4-BE49-F238E27FC236}">
                <a16:creationId xmlns:a16="http://schemas.microsoft.com/office/drawing/2014/main" id="{56E22019-A55A-4F89-98EA-CC9F4911FCFC}"/>
              </a:ext>
            </a:extLst>
          </p:cNvPr>
          <p:cNvSpPr>
            <a:spLocks xmlns:a="http://schemas.openxmlformats.org/drawingml/2006/main" noGrp="1"/>
          </p:cNvSpPr>
          <p:nvPr/>
        </p:nvSpPr>
        <p:spPr>
          <a:xfrm xmlns:a="http://schemas.openxmlformats.org/drawingml/2006/main">
            <a:off x="2628900" y="46482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B6B82"/>
                </a:solidFill>
                <a:latin typeface="Calibri"/>
                <a:ea typeface="Calibri"/>
                <a:cs typeface="Calibri"/>
              </a:defRPr>
            </a:defPPr>
          </a:lstStyle>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G60-0248 · row 313</a:t>
            </a:r>
          </a:p>
          <a:p xmlns:a="http://schemas.openxmlformats.org/drawingml/2006/main">
            <a:pPr algn="l">
              <a:defRPr sz="1200" b="0">
                <a:solidFill>
                  <a:srgbClr val="5B6B82"/>
                </a:solidFill>
                <a:latin typeface="Calibri"/>
                <a:ea typeface="Calibri"/>
                <a:cs typeface="Calibri"/>
              </a:defRPr>
            </a:pPr>
            <a:r>
              <a:rPr sz="1200" b="0">
                <a:solidFill>
                  <a:srgbClr val="5B6B82"/>
                </a:solidFill>
                <a:latin typeface="Calibri"/>
                <a:ea typeface="Calibri"/>
                <a:cs typeface="Calibri"/>
              </a:rPr>
              <a:t>G60-0635 · row 797</a:t>
            </a:r>
          </a:p>
        </p:txBody>
      </p:sp>
      <p:sp>
        <p:nvSpPr>
          <p:cNvPr id="18" name="">
            <a:extLst xmlns:a="http://schemas.openxmlformats.org/drawingml/2006/main">
              <a:ext uri="{FF2B5EF4-FFF2-40B4-BE49-F238E27FC236}">
                <a16:creationId xmlns:a16="http://schemas.microsoft.com/office/drawing/2014/main" id="{8FC509FB-136B-434D-85CC-C3AE170216D0}"/>
              </a:ext>
            </a:extLst>
          </p:cNvPr>
          <p:cNvSpPr>
            <a:spLocks xmlns:a="http://schemas.openxmlformats.org/drawingml/2006/main" noGrp="1"/>
          </p:cNvSpPr>
          <p:nvPr/>
        </p:nvSpPr>
        <p:spPr>
          <a:xfrm xmlns:a="http://schemas.openxmlformats.org/drawingml/2006/main">
            <a:off x="8191500" y="2724150"/>
            <a:ext cx="9525" cy="2476500"/>
          </a:xfrm>
          <a:prstGeom xmlns:a="http://schemas.openxmlformats.org/drawingml/2006/main" prst="rect">
            <a:avLst/>
          </a:prstGeom>
          <a:solidFill xmlns:a="http://schemas.openxmlformats.org/drawingml/2006/main">
            <a:srgbClr val="D6DF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885762B-20ED-414C-B2A8-1E2217665922}"/>
              </a:ext>
            </a:extLst>
          </p:cNvPr>
          <p:cNvSpPr>
            <a:spLocks xmlns:a="http://schemas.openxmlformats.org/drawingml/2006/main" noGrp="1"/>
          </p:cNvSpPr>
          <p:nvPr/>
        </p:nvSpPr>
        <p:spPr>
          <a:xfrm xmlns:a="http://schemas.openxmlformats.org/drawingml/2006/main">
            <a:off x="8572500" y="28003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SCOPE</a:t>
            </a:r>
          </a:p>
        </p:txBody>
      </p:sp>
      <p:sp>
        <p:nvSpPr>
          <p:cNvPr id="20" name="">
            <a:extLst xmlns:a="http://schemas.openxmlformats.org/drawingml/2006/main">
              <a:ext uri="{FF2B5EF4-FFF2-40B4-BE49-F238E27FC236}">
                <a16:creationId xmlns:a16="http://schemas.microsoft.com/office/drawing/2014/main" id="{4F7679F6-5BC1-4326-B189-817184C3F674}"/>
              </a:ext>
            </a:extLst>
          </p:cNvPr>
          <p:cNvSpPr>
            <a:spLocks xmlns:a="http://schemas.openxmlformats.org/drawingml/2006/main" noGrp="1"/>
          </p:cNvSpPr>
          <p:nvPr/>
        </p:nvSpPr>
        <p:spPr>
          <a:xfrm xmlns:a="http://schemas.openxmlformats.org/drawingml/2006/main">
            <a:off x="8572500" y="3143250"/>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2131"/>
                </a:solidFill>
                <a:latin typeface="Calibri"/>
                <a:ea typeface="Calibri"/>
                <a:cs typeface="Calibri"/>
              </a:defRPr>
            </a:defPPr>
          </a:lstStyle>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BMW 5 Series G60</a:t>
            </a:r>
          </a:p>
          <a:p xmlns:a="http://schemas.openxmlformats.org/drawingml/2006/main">
            <a:pPr algn="l">
              <a:defRPr sz="1575" b="1">
                <a:solidFill>
                  <a:srgbClr val="172131"/>
                </a:solidFill>
                <a:latin typeface="Calibri"/>
                <a:ea typeface="Calibri"/>
                <a:cs typeface="Calibri"/>
              </a:defRPr>
            </a:pPr>
            <a:r>
              <a:rPr sz="1575" b="1">
                <a:solidFill>
                  <a:srgbClr val="172131"/>
                </a:solidFill>
                <a:latin typeface="Calibri"/>
                <a:ea typeface="Calibri"/>
                <a:cs typeface="Calibri"/>
              </a:rPr>
              <a:t>US feedback records</a:t>
            </a:r>
          </a:p>
        </p:txBody>
      </p:sp>
      <p:sp>
        <p:nvSpPr>
          <p:cNvPr id="21" name="">
            <a:extLst xmlns:a="http://schemas.openxmlformats.org/drawingml/2006/main">
              <a:ext uri="{FF2B5EF4-FFF2-40B4-BE49-F238E27FC236}">
                <a16:creationId xmlns:a16="http://schemas.microsoft.com/office/drawing/2014/main" id="{6E61298B-614A-430C-8447-F03F0580DF7E}"/>
              </a:ext>
            </a:extLst>
          </p:cNvPr>
          <p:cNvSpPr>
            <a:spLocks xmlns:a="http://schemas.openxmlformats.org/drawingml/2006/main" noGrp="1"/>
          </p:cNvSpPr>
          <p:nvPr/>
        </p:nvSpPr>
        <p:spPr>
          <a:xfrm xmlns:a="http://schemas.openxmlformats.org/drawingml/2006/main">
            <a:off x="8572500" y="39719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OPEN CHECKS</a:t>
            </a:r>
          </a:p>
        </p:txBody>
      </p:sp>
      <p:sp>
        <p:nvSpPr>
          <p:cNvPr id="22" name="">
            <a:extLst xmlns:a="http://schemas.openxmlformats.org/drawingml/2006/main">
              <a:ext uri="{FF2B5EF4-FFF2-40B4-BE49-F238E27FC236}">
                <a16:creationId xmlns:a16="http://schemas.microsoft.com/office/drawing/2014/main" id="{1EE2C1AE-737F-47F4-BC18-6DC5E6B0F1D8}"/>
              </a:ext>
            </a:extLst>
          </p:cNvPr>
          <p:cNvSpPr>
            <a:spLocks xmlns:a="http://schemas.openxmlformats.org/drawingml/2006/main" noGrp="1"/>
          </p:cNvSpPr>
          <p:nvPr/>
        </p:nvSpPr>
        <p:spPr>
          <a:xfrm xmlns:a="http://schemas.openxmlformats.org/drawingml/2006/main">
            <a:off x="8572500" y="4295775"/>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Exact trim, current feature baseline, reach and successor relevance.</a:t>
            </a:r>
          </a:p>
        </p:txBody>
      </p:sp>
      <p:sp>
        <p:nvSpPr>
          <p:cNvPr id="23" name="">
            <a:extLst xmlns:a="http://schemas.openxmlformats.org/drawingml/2006/main">
              <a:ext uri="{FF2B5EF4-FFF2-40B4-BE49-F238E27FC236}">
                <a16:creationId xmlns:a16="http://schemas.microsoft.com/office/drawing/2014/main" id="{95F04DA9-1CF9-4535-9578-BD2A793713CA}"/>
              </a:ext>
            </a:extLst>
          </p:cNvPr>
          <p:cNvSpPr>
            <a:spLocks xmlns:a="http://schemas.openxmlformats.org/drawingml/2006/main" noGrp="1"/>
          </p:cNvSpPr>
          <p:nvPr/>
        </p:nvSpPr>
        <p:spPr>
          <a:xfrm xmlns:a="http://schemas.openxmlformats.org/drawingml/2006/main">
            <a:off x="8572500" y="5105400"/>
            <a:ext cx="2724150" cy="28575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35418D5-E964-4F5B-AF26-661C7BC6B8D2}"/>
              </a:ext>
            </a:extLst>
          </p:cNvPr>
          <p:cNvSpPr>
            <a:spLocks xmlns:a="http://schemas.openxmlformats.org/drawingml/2006/main" noGrp="1"/>
          </p:cNvSpPr>
          <p:nvPr/>
        </p:nvSpPr>
        <p:spPr>
          <a:xfrm xmlns:a="http://schemas.openxmlformats.org/drawingml/2006/main">
            <a:off x="8686800" y="5172075"/>
            <a:ext cx="2495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981"/>
          </a:bodyPr>
          <a:lstStyle xmlns:a="http://schemas.openxmlformats.org/drawingml/2006/main">
            <a:defPPr algn="ctr">
              <a:defRPr sz="975" b="1">
                <a:solidFill>
                  <a:srgbClr val="2D5FF4"/>
                </a:solidFill>
                <a:latin typeface="Calibri"/>
                <a:ea typeface="Calibri"/>
                <a:cs typeface="Calibri"/>
              </a:defRPr>
            </a:defPPr>
          </a:lstStyle>
          <a:p xmlns:a="http://schemas.openxmlformats.org/drawingml/2006/main">
            <a:pPr algn="ctr">
              <a:defRPr sz="975" b="1">
                <a:solidFill>
                  <a:srgbClr val="2D5FF4"/>
                </a:solidFill>
                <a:latin typeface="Calibri"/>
                <a:ea typeface="Calibri"/>
                <a:cs typeface="Calibri"/>
              </a:defRPr>
            </a:pPr>
            <a:r>
              <a:rPr sz="975" b="1">
                <a:solidFill>
                  <a:srgbClr val="2D5FF4"/>
                </a:solidFill>
                <a:latin typeface="Calibri"/>
                <a:ea typeface="Calibri"/>
                <a:cs typeface="Calibri"/>
              </a:rPr>
              <a:t>PROPOSED WORDING · NEEDS PM REVIEW</a:t>
            </a:r>
          </a:p>
        </p:txBody>
      </p:sp>
      <p:sp>
        <p:nvSpPr>
          <p:cNvPr id="25" name="">
            <a:extLst xmlns:a="http://schemas.openxmlformats.org/drawingml/2006/main">
              <a:ext uri="{FF2B5EF4-FFF2-40B4-BE49-F238E27FC236}">
                <a16:creationId xmlns:a16="http://schemas.microsoft.com/office/drawing/2014/main" id="{37C87596-4512-45B3-8BD7-D766BC7590C8}"/>
              </a:ext>
            </a:extLst>
          </p:cNvPr>
          <p:cNvSpPr>
            <a:spLocks xmlns:a="http://schemas.openxmlformats.org/drawingml/2006/main" noGrp="1"/>
          </p:cNvSpPr>
          <p:nvPr/>
        </p:nvSpPr>
        <p:spPr>
          <a:xfrm xmlns:a="http://schemas.openxmlformats.org/drawingml/2006/main">
            <a:off x="2628900" y="52768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B6B82"/>
                </a:solidFill>
                <a:latin typeface="Calibri"/>
                <a:ea typeface="Calibri"/>
                <a:cs typeface="Calibri"/>
              </a:defRPr>
            </a:defPPr>
          </a:lstStyle>
          <a:p xmlns:a="http://schemas.openxmlformats.org/drawingml/2006/main">
            <a:pPr algn="l">
              <a:defRPr sz="1050" b="0">
                <a:solidFill>
                  <a:srgbClr val="5B6B82"/>
                </a:solidFill>
                <a:latin typeface="Calibri"/>
                <a:ea typeface="Calibri"/>
                <a:cs typeface="Calibri"/>
              </a:defRPr>
            </a:pPr>
            <a:r>
              <a:rPr sz="1050" b="0">
                <a:solidFill>
                  <a:srgbClr val="5B6B82"/>
                </a:solidFill>
                <a:latin typeface="Calibri"/>
                <a:ea typeface="Calibri"/>
                <a:cs typeface="Calibri"/>
              </a:rPr>
              <a:t>Two source examples. Not a prevalence estimate.</a:t>
            </a:r>
          </a:p>
        </p:txBody>
      </p:sp>
    </p:spTree>
    <p:extLst>
      <p:ext uri="{BB962C8B-B14F-4D97-AF65-F5344CB8AC3E}">
        <p14:creationId xmlns:p14="http://schemas.microsoft.com/office/powerpoint/2010/main" val="1491197582"/>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487EF08-97B8-487D-B9D5-80ED70A2977B}"/>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AF2C8080-262E-488F-AD2A-CA6A731DE945}"/>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9ECDB0CD-BD99-40AB-B60D-E0292C366A71}"/>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DD864BFB-6EFD-4EB3-9437-F93D7A4D6EAA}"/>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REIMAGINE</a:t>
            </a:r>
          </a:p>
        </p:txBody>
      </p:sp>
      <p:sp>
        <p:nvSpPr>
          <p:cNvPr id="5" name="">
            <a:extLst xmlns:a="http://schemas.openxmlformats.org/drawingml/2006/main">
              <a:ext uri="{FF2B5EF4-FFF2-40B4-BE49-F238E27FC236}">
                <a16:creationId xmlns:a16="http://schemas.microsoft.com/office/drawing/2014/main" id="{F1DC4023-FDE6-4FD5-8BDC-CA57B9C061AE}"/>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A design hypothesis for faster access.</a:t>
            </a:r>
          </a:p>
        </p:txBody>
      </p:sp>
      <p:sp>
        <p:nvSpPr>
          <p:cNvPr id="6" name="">
            <a:extLst xmlns:a="http://schemas.openxmlformats.org/drawingml/2006/main">
              <a:ext uri="{FF2B5EF4-FFF2-40B4-BE49-F238E27FC236}">
                <a16:creationId xmlns:a16="http://schemas.microsoft.com/office/drawing/2014/main" id="{B8AA618A-B2CC-484E-9E8A-CA20948F08E1}"/>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09 / 11</a:t>
            </a:r>
          </a:p>
        </p:txBody>
      </p:sp>
      <p:sp>
        <p:nvSpPr>
          <p:cNvPr id="7" name="">
            <a:extLst xmlns:a="http://schemas.openxmlformats.org/drawingml/2006/main">
              <a:ext uri="{FF2B5EF4-FFF2-40B4-BE49-F238E27FC236}">
                <a16:creationId xmlns:a16="http://schemas.microsoft.com/office/drawing/2014/main" id="{D657962E-BAEB-4884-98BD-81E947BBBDDF}"/>
              </a:ext>
            </a:extLst>
          </p:cNvPr>
          <p:cNvSpPr>
            <a:spLocks xmlns:a="http://schemas.openxmlformats.org/drawingml/2006/main" noGrp="1"/>
          </p:cNvSpPr>
          <p:nvPr/>
        </p:nvSpPr>
        <p:spPr>
          <a:xfrm xmlns:a="http://schemas.openxmlformats.org/drawingml/2006/main">
            <a:off x="571500" y="2209800"/>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 · REPORTED FRICTION</a:t>
            </a:r>
          </a:p>
        </p:txBody>
      </p:sp>
      <p:sp>
        <p:nvSpPr>
          <p:cNvPr id="8" name="">
            <a:extLst xmlns:a="http://schemas.openxmlformats.org/drawingml/2006/main">
              <a:ext uri="{FF2B5EF4-FFF2-40B4-BE49-F238E27FC236}">
                <a16:creationId xmlns:a16="http://schemas.microsoft.com/office/drawing/2014/main" id="{18E619E9-B575-43C2-95A9-510FCAC4F85D}"/>
              </a:ext>
            </a:extLst>
          </p:cNvPr>
          <p:cNvSpPr>
            <a:spLocks xmlns:a="http://schemas.openxmlformats.org/drawingml/2006/main" noGrp="1"/>
          </p:cNvSpPr>
          <p:nvPr/>
        </p:nvSpPr>
        <p:spPr>
          <a:xfrm xmlns:a="http://schemas.openxmlformats.org/drawingml/2006/main">
            <a:off x="6324600" y="220980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CONCEPT · FEWER STEPS</a:t>
            </a:r>
          </a:p>
        </p:txBody>
      </p:sp>
      <p:sp>
        <p:nvSpPr>
          <p:cNvPr id="9" name="">
            <a:extLst xmlns:a="http://schemas.openxmlformats.org/drawingml/2006/main">
              <a:ext uri="{FF2B5EF4-FFF2-40B4-BE49-F238E27FC236}">
                <a16:creationId xmlns:a16="http://schemas.microsoft.com/office/drawing/2014/main" id="{D95251EC-0FA5-401D-94CA-B0DA94FA78BA}"/>
              </a:ext>
            </a:extLst>
          </p:cNvPr>
          <p:cNvSpPr>
            <a:spLocks xmlns:a="http://schemas.openxmlformats.org/drawingml/2006/main" noGrp="1"/>
          </p:cNvSpPr>
          <p:nvPr/>
        </p:nvSpPr>
        <p:spPr>
          <a:xfrm xmlns:a="http://schemas.openxmlformats.org/drawingml/2006/main">
            <a:off x="571500" y="2609850"/>
            <a:ext cx="49530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0" name="">
            <a:extLst xmlns:a="http://schemas.openxmlformats.org/drawingml/2006/main">
              <a:ext uri="{FF2B5EF4-FFF2-40B4-BE49-F238E27FC236}">
                <a16:creationId xmlns:a16="http://schemas.microsoft.com/office/drawing/2014/main" id="{220B9094-DEAB-4B28-843A-752F601839AD}"/>
              </a:ext>
            </a:extLst>
          </p:cNvPr>
          <p:cNvSpPr>
            <a:spLocks xmlns:a="http://schemas.openxmlformats.org/drawingml/2006/main" noGrp="1"/>
          </p:cNvSpPr>
          <p:nvPr/>
        </p:nvSpPr>
        <p:spPr>
          <a:xfrm xmlns:a="http://schemas.openxmlformats.org/drawingml/2006/main">
            <a:off x="571500" y="2609850"/>
            <a:ext cx="49530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5B1CEF4-04D6-4F07-8804-E79772A5E1C7}"/>
              </a:ext>
            </a:extLst>
          </p:cNvPr>
          <p:cNvSpPr>
            <a:spLocks xmlns:a="http://schemas.openxmlformats.org/drawingml/2006/main" noGrp="1"/>
          </p:cNvSpPr>
          <p:nvPr/>
        </p:nvSpPr>
        <p:spPr>
          <a:xfrm xmlns:a="http://schemas.openxmlformats.org/drawingml/2006/main">
            <a:off x="8001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settings</a:t>
            </a:r>
          </a:p>
        </p:txBody>
      </p:sp>
      <p:sp>
        <p:nvSpPr>
          <p:cNvPr id="12" name="">
            <a:extLst xmlns:a="http://schemas.openxmlformats.org/drawingml/2006/main">
              <a:ext uri="{FF2B5EF4-FFF2-40B4-BE49-F238E27FC236}">
                <a16:creationId xmlns:a16="http://schemas.microsoft.com/office/drawing/2014/main" id="{64E12F7D-4DDE-4CC3-9CB4-E1498064D78A}"/>
              </a:ext>
            </a:extLst>
          </p:cNvPr>
          <p:cNvSpPr>
            <a:spLocks xmlns:a="http://schemas.openxmlformats.org/drawingml/2006/main" noGrp="1"/>
          </p:cNvSpPr>
          <p:nvPr/>
        </p:nvSpPr>
        <p:spPr>
          <a:xfrm xmlns:a="http://schemas.openxmlformats.org/drawingml/2006/main">
            <a:off x="819150" y="33337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B6B82"/>
                </a:solidFill>
                <a:latin typeface="Calibri"/>
                <a:ea typeface="Calibri"/>
                <a:cs typeface="Calibri"/>
              </a:defRPr>
            </a:defPPr>
          </a:lstStyle>
          <a:p xmlns:a="http://schemas.openxmlformats.org/drawingml/2006/main">
            <a:pPr algn="l">
              <a:defRPr sz="1350" b="0">
                <a:solidFill>
                  <a:srgbClr val="5B6B82"/>
                </a:solidFill>
                <a:latin typeface="Calibri"/>
                <a:ea typeface="Calibri"/>
                <a:cs typeface="Calibri"/>
              </a:defRPr>
            </a:pPr>
            <a:r>
              <a:rPr sz="1350" b="0">
                <a:solidFill>
                  <a:srgbClr val="5B6B82"/>
                </a:solidFill>
                <a:latin typeface="Calibri"/>
                <a:ea typeface="Calibri"/>
                <a:cs typeface="Calibri"/>
              </a:rPr>
              <a:t>Home  /  Vehicle  /  Function</a:t>
            </a:r>
          </a:p>
        </p:txBody>
      </p:sp>
      <p:sp>
        <p:nvSpPr>
          <p:cNvPr id="13" name="">
            <a:extLst xmlns:a="http://schemas.openxmlformats.org/drawingml/2006/main">
              <a:ext uri="{FF2B5EF4-FFF2-40B4-BE49-F238E27FC236}">
                <a16:creationId xmlns:a16="http://schemas.microsoft.com/office/drawing/2014/main" id="{49DB6AB5-F188-4FE4-AC3F-3C82C17BDCA8}"/>
              </a:ext>
            </a:extLst>
          </p:cNvPr>
          <p:cNvSpPr>
            <a:spLocks xmlns:a="http://schemas.openxmlformats.org/drawingml/2006/main" noGrp="1"/>
          </p:cNvSpPr>
          <p:nvPr/>
        </p:nvSpPr>
        <p:spPr>
          <a:xfrm xmlns:a="http://schemas.openxmlformats.org/drawingml/2006/main">
            <a:off x="819150" y="3857625"/>
            <a:ext cx="4419600" cy="704850"/>
          </a:xfrm>
          <a:prstGeom xmlns:a="http://schemas.openxmlformats.org/drawingml/2006/main" prst="rect">
            <a:avLst/>
          </a:prstGeom>
          <a:solidFill xmlns:a="http://schemas.openxmlformats.org/drawingml/2006/main">
            <a:srgbClr val="F2F5FA"/>
          </a:solidFill>
          <a:ln xmlns:a="http://schemas.openxmlformats.org/drawingml/2006/main" w="9525">
            <a:solidFill>
              <a:srgbClr val="D6DFEC"/>
            </a:solidFill>
            <a:prstDash val="solid"/>
          </a:ln>
        </p:spPr>
      </p:sp>
      <p:sp>
        <p:nvSpPr>
          <p:cNvPr id="14" name="">
            <a:extLst xmlns:a="http://schemas.openxmlformats.org/drawingml/2006/main">
              <a:ext uri="{FF2B5EF4-FFF2-40B4-BE49-F238E27FC236}">
                <a16:creationId xmlns:a16="http://schemas.microsoft.com/office/drawing/2014/main" id="{7DCFD13E-91D3-4B9A-80D8-7744FFFFEF1F}"/>
              </a:ext>
            </a:extLst>
          </p:cNvPr>
          <p:cNvSpPr>
            <a:spLocks xmlns:a="http://schemas.openxmlformats.org/drawingml/2006/main" noGrp="1"/>
          </p:cNvSpPr>
          <p:nvPr/>
        </p:nvSpPr>
        <p:spPr>
          <a:xfrm xmlns:a="http://schemas.openxmlformats.org/drawingml/2006/main">
            <a:off x="1028700" y="4076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Find function through several screens</a:t>
            </a:r>
          </a:p>
        </p:txBody>
      </p:sp>
      <p:sp>
        <p:nvSpPr>
          <p:cNvPr id="15" name="">
            <a:extLst xmlns:a="http://schemas.openxmlformats.org/drawingml/2006/main">
              <a:ext uri="{FF2B5EF4-FFF2-40B4-BE49-F238E27FC236}">
                <a16:creationId xmlns:a16="http://schemas.microsoft.com/office/drawing/2014/main" id="{BA717306-89E7-40A8-AF9B-0383D45330FA}"/>
              </a:ext>
            </a:extLst>
          </p:cNvPr>
          <p:cNvSpPr>
            <a:spLocks xmlns:a="http://schemas.openxmlformats.org/drawingml/2006/main" noGrp="1"/>
          </p:cNvSpPr>
          <p:nvPr/>
        </p:nvSpPr>
        <p:spPr>
          <a:xfrm xmlns:a="http://schemas.openxmlformats.org/drawingml/2006/main">
            <a:off x="6324600" y="2609850"/>
            <a:ext cx="5295900"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16" name="">
            <a:extLst xmlns:a="http://schemas.openxmlformats.org/drawingml/2006/main">
              <a:ext uri="{FF2B5EF4-FFF2-40B4-BE49-F238E27FC236}">
                <a16:creationId xmlns:a16="http://schemas.microsoft.com/office/drawing/2014/main" id="{9AED7AC2-F60C-4DFE-9974-BBAEE37B0F81}"/>
              </a:ext>
            </a:extLst>
          </p:cNvPr>
          <p:cNvSpPr>
            <a:spLocks xmlns:a="http://schemas.openxmlformats.org/drawingml/2006/main" noGrp="1"/>
          </p:cNvSpPr>
          <p:nvPr/>
        </p:nvSpPr>
        <p:spPr>
          <a:xfrm xmlns:a="http://schemas.openxmlformats.org/drawingml/2006/main">
            <a:off x="6324600" y="2609850"/>
            <a:ext cx="5295900" cy="457200"/>
          </a:xfrm>
          <a:prstGeom xmlns:a="http://schemas.openxmlformats.org/drawingml/2006/main" prst="rect">
            <a:avLst/>
          </a:prstGeom>
          <a:solidFill xmlns:a="http://schemas.openxmlformats.org/drawingml/2006/main">
            <a:srgbClr val="EEF2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A6358E5-5C77-48C9-AB80-81C92DD414FF}"/>
              </a:ext>
            </a:extLst>
          </p:cNvPr>
          <p:cNvSpPr>
            <a:spLocks xmlns:a="http://schemas.openxmlformats.org/drawingml/2006/main" noGrp="1"/>
          </p:cNvSpPr>
          <p:nvPr/>
        </p:nvSpPr>
        <p:spPr>
          <a:xfrm xmlns:a="http://schemas.openxmlformats.org/drawingml/2006/main">
            <a:off x="6553200" y="2743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2131"/>
                </a:solidFill>
                <a:latin typeface="Calibri"/>
                <a:ea typeface="Calibri"/>
                <a:cs typeface="Calibri"/>
              </a:defRPr>
            </a:defPPr>
          </a:lstStyle>
          <a:p xmlns:a="http://schemas.openxmlformats.org/drawingml/2006/main">
            <a:pPr algn="l">
              <a:defRPr sz="1425" b="1">
                <a:solidFill>
                  <a:srgbClr val="172131"/>
                </a:solidFill>
                <a:latin typeface="Calibri"/>
                <a:ea typeface="Calibri"/>
                <a:cs typeface="Calibri"/>
              </a:defRPr>
            </a:pPr>
            <a:r>
              <a:rPr sz="1425" b="1">
                <a:solidFill>
                  <a:srgbClr val="172131"/>
                </a:solidFill>
                <a:latin typeface="Calibri"/>
                <a:ea typeface="Calibri"/>
                <a:cs typeface="Calibri"/>
              </a:rPr>
              <a:t>Vehicle home</a:t>
            </a:r>
          </a:p>
        </p:txBody>
      </p:sp>
      <p:sp>
        <p:nvSpPr>
          <p:cNvPr id="18" name="">
            <a:extLst xmlns:a="http://schemas.openxmlformats.org/drawingml/2006/main">
              <a:ext uri="{FF2B5EF4-FFF2-40B4-BE49-F238E27FC236}">
                <a16:creationId xmlns:a16="http://schemas.microsoft.com/office/drawing/2014/main" id="{C47813AE-C2E6-4A45-9164-4B1EC53B8E87}"/>
              </a:ext>
            </a:extLst>
          </p:cNvPr>
          <p:cNvSpPr>
            <a:spLocks xmlns:a="http://schemas.openxmlformats.org/drawingml/2006/main" noGrp="1"/>
          </p:cNvSpPr>
          <p:nvPr/>
        </p:nvSpPr>
        <p:spPr>
          <a:xfrm xmlns:a="http://schemas.openxmlformats.org/drawingml/2006/main">
            <a:off x="6553200" y="33337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2131"/>
                </a:solidFill>
                <a:latin typeface="Calibri"/>
                <a:ea typeface="Calibri"/>
                <a:cs typeface="Calibri"/>
              </a:defRPr>
            </a:defPPr>
          </a:lstStyle>
          <a:p xmlns:a="http://schemas.openxmlformats.org/drawingml/2006/main">
            <a:pPr algn="l">
              <a:defRPr sz="1800" b="1">
                <a:solidFill>
                  <a:srgbClr val="172131"/>
                </a:solidFill>
                <a:latin typeface="Calibri"/>
                <a:ea typeface="Calibri"/>
                <a:cs typeface="Calibri"/>
              </a:defRPr>
            </a:pPr>
            <a:r>
              <a:rPr sz="1800" b="1">
                <a:solidFill>
                  <a:srgbClr val="172131"/>
                </a:solidFill>
                <a:latin typeface="Calibri"/>
                <a:ea typeface="Calibri"/>
                <a:cs typeface="Calibri"/>
              </a:rPr>
              <a:t>Frequent functions</a:t>
            </a:r>
          </a:p>
        </p:txBody>
      </p:sp>
      <p:sp>
        <p:nvSpPr>
          <p:cNvPr id="19" name="">
            <a:extLst xmlns:a="http://schemas.openxmlformats.org/drawingml/2006/main">
              <a:ext uri="{FF2B5EF4-FFF2-40B4-BE49-F238E27FC236}">
                <a16:creationId xmlns:a16="http://schemas.microsoft.com/office/drawing/2014/main" id="{79C5B7C2-94CD-4FB1-9744-5869C77FFE06}"/>
              </a:ext>
            </a:extLst>
          </p:cNvPr>
          <p:cNvSpPr>
            <a:spLocks xmlns:a="http://schemas.openxmlformats.org/drawingml/2006/main" noGrp="1"/>
          </p:cNvSpPr>
          <p:nvPr/>
        </p:nvSpPr>
        <p:spPr>
          <a:xfrm xmlns:a="http://schemas.openxmlformats.org/drawingml/2006/main">
            <a:off x="6553200" y="3857625"/>
            <a:ext cx="22479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C95F378-308A-49B1-B14B-D104FF4F6196}"/>
              </a:ext>
            </a:extLst>
          </p:cNvPr>
          <p:cNvSpPr>
            <a:spLocks xmlns:a="http://schemas.openxmlformats.org/drawingml/2006/main" noGrp="1"/>
          </p:cNvSpPr>
          <p:nvPr/>
        </p:nvSpPr>
        <p:spPr>
          <a:xfrm xmlns:a="http://schemas.openxmlformats.org/drawingml/2006/main">
            <a:off x="6724650" y="4086225"/>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A</a:t>
            </a:r>
          </a:p>
        </p:txBody>
      </p:sp>
      <p:sp>
        <p:nvSpPr>
          <p:cNvPr id="21" name="">
            <a:extLst xmlns:a="http://schemas.openxmlformats.org/drawingml/2006/main">
              <a:ext uri="{FF2B5EF4-FFF2-40B4-BE49-F238E27FC236}">
                <a16:creationId xmlns:a16="http://schemas.microsoft.com/office/drawing/2014/main" id="{B9BB5DA5-B355-4E09-83E2-85665031228A}"/>
              </a:ext>
            </a:extLst>
          </p:cNvPr>
          <p:cNvSpPr>
            <a:spLocks xmlns:a="http://schemas.openxmlformats.org/drawingml/2006/main" noGrp="1"/>
          </p:cNvSpPr>
          <p:nvPr/>
        </p:nvSpPr>
        <p:spPr>
          <a:xfrm xmlns:a="http://schemas.openxmlformats.org/drawingml/2006/main">
            <a:off x="8991600" y="3857625"/>
            <a:ext cx="2324100" cy="7239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5ED816E-5CC0-42AB-906B-C0D63474992C}"/>
              </a:ext>
            </a:extLst>
          </p:cNvPr>
          <p:cNvSpPr>
            <a:spLocks xmlns:a="http://schemas.openxmlformats.org/drawingml/2006/main" noGrp="1"/>
          </p:cNvSpPr>
          <p:nvPr/>
        </p:nvSpPr>
        <p:spPr>
          <a:xfrm xmlns:a="http://schemas.openxmlformats.org/drawingml/2006/main">
            <a:off x="9163050" y="4086225"/>
            <a:ext cx="1943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D5FF4"/>
                </a:solidFill>
                <a:latin typeface="Calibri"/>
                <a:ea typeface="Calibri"/>
                <a:cs typeface="Calibri"/>
              </a:defRPr>
            </a:defPPr>
          </a:lstStyle>
          <a:p xmlns:a="http://schemas.openxmlformats.org/drawingml/2006/main">
            <a:pPr algn="l">
              <a:defRPr sz="1350" b="1">
                <a:solidFill>
                  <a:srgbClr val="2D5FF4"/>
                </a:solidFill>
                <a:latin typeface="Calibri"/>
                <a:ea typeface="Calibri"/>
                <a:cs typeface="Calibri"/>
              </a:defRPr>
            </a:pPr>
            <a:r>
              <a:rPr sz="1350" b="1">
                <a:solidFill>
                  <a:srgbClr val="2D5FF4"/>
                </a:solidFill>
                <a:latin typeface="Calibri"/>
                <a:ea typeface="Calibri"/>
                <a:cs typeface="Calibri"/>
              </a:rPr>
              <a:t>Saved action B</a:t>
            </a:r>
          </a:p>
        </p:txBody>
      </p:sp>
      <p:sp>
        <p:nvSpPr>
          <p:cNvPr id="23" name="">
            <a:extLst xmlns:a="http://schemas.openxmlformats.org/drawingml/2006/main">
              <a:ext uri="{FF2B5EF4-FFF2-40B4-BE49-F238E27FC236}">
                <a16:creationId xmlns:a16="http://schemas.microsoft.com/office/drawing/2014/main" id="{A97A952D-65F3-443F-9651-C5EA258F136E}"/>
              </a:ext>
            </a:extLst>
          </p:cNvPr>
          <p:cNvSpPr>
            <a:spLocks xmlns:a="http://schemas.openxmlformats.org/drawingml/2006/main" noGrp="1"/>
          </p:cNvSpPr>
          <p:nvPr/>
        </p:nvSpPr>
        <p:spPr>
          <a:xfrm xmlns:a="http://schemas.openxmlformats.org/drawingml/2006/main">
            <a:off x="571500" y="55626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UI concept only. Current Reimagine proof supports a bounded front-seat resize, not dashboard redesign.</a:t>
            </a:r>
          </a:p>
        </p:txBody>
      </p:sp>
    </p:spTree>
    <p:extLst>
      <p:ext uri="{BB962C8B-B14F-4D97-AF65-F5344CB8AC3E}">
        <p14:creationId xmlns:p14="http://schemas.microsoft.com/office/powerpoint/2010/main" val="1856437301"/>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C0C2BBE-188D-492A-A07D-C2647663FFB8}"/>
              </a:ext>
            </a:extLst>
          </p:cNvPr>
          <p:cNvSpPr>
            <a:spLocks xmlns:a="http://schemas.openxmlformats.org/drawingml/2006/main" noGrp="1"/>
          </p:cNvSpPr>
          <p:nvPr/>
        </p:nvSpPr>
        <p:spPr>
          <a:xfrm xmlns:a="http://schemas.openxmlformats.org/drawingml/2006/main">
            <a:off x="514350" y="228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2131"/>
                </a:solidFill>
                <a:latin typeface="Calibri"/>
                <a:ea typeface="Calibri"/>
                <a:cs typeface="Calibri"/>
              </a:defRPr>
            </a:defPPr>
          </a:lstStyle>
          <a:p xmlns:a="http://schemas.openxmlformats.org/drawingml/2006/main">
            <a:pPr algn="l">
              <a:defRPr sz="1500" b="1">
                <a:solidFill>
                  <a:srgbClr val="172131"/>
                </a:solidFill>
                <a:latin typeface="Calibri"/>
                <a:ea typeface="Calibri"/>
                <a:cs typeface="Calibri"/>
              </a:defRPr>
            </a:pPr>
            <a:r>
              <a:rPr sz="1500" b="1">
                <a:solidFill>
                  <a:srgbClr val="172131"/>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897B7F32-1372-424D-9E34-78C485D46332}"/>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8B17652C-B293-4489-8404-5CDF63FCFA56}"/>
              </a:ext>
            </a:extLst>
          </p:cNvPr>
          <p:cNvSpPr>
            <a:spLocks xmlns:a="http://schemas.openxmlformats.org/drawingml/2006/main" noGrp="1"/>
          </p:cNvSpPr>
          <p:nvPr/>
        </p:nvSpPr>
        <p:spPr>
          <a:xfrm xmlns:a="http://schemas.openxmlformats.org/drawingml/2006/main">
            <a:off x="1552575" y="2667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B6B82"/>
                </a:solidFill>
                <a:latin typeface="Calibri"/>
                <a:ea typeface="Calibri"/>
                <a:cs typeface="Calibri"/>
              </a:defRPr>
            </a:defPPr>
          </a:lstStyle>
          <a:p xmlns:a="http://schemas.openxmlformats.org/drawingml/2006/main">
            <a:pPr algn="l">
              <a:defRPr sz="900" b="0">
                <a:solidFill>
                  <a:srgbClr val="5B6B82"/>
                </a:solidFill>
                <a:latin typeface="Calibri"/>
                <a:ea typeface="Calibri"/>
                <a:cs typeface="Calibri"/>
              </a:defRPr>
            </a:pPr>
            <a:r>
              <a:rPr sz="900" b="0">
                <a:solidFill>
                  <a:srgbClr val="5B6B82"/>
                </a:solidFill>
                <a:latin typeface="Calibri"/>
                <a:ea typeface="Calibri"/>
                <a:cs typeface="Calibri"/>
              </a:rPr>
              <a:t>VEHICLE REQUIREMENTS</a:t>
            </a:r>
          </a:p>
        </p:txBody>
      </p:sp>
      <p:sp>
        <p:nvSpPr>
          <p:cNvPr id="4" name="">
            <a:extLst xmlns:a="http://schemas.openxmlformats.org/drawingml/2006/main">
              <a:ext uri="{FF2B5EF4-FFF2-40B4-BE49-F238E27FC236}">
                <a16:creationId xmlns:a16="http://schemas.microsoft.com/office/drawing/2014/main" id="{1C6AF0FE-22CB-4D3C-8C4C-B44ED448E5B3}"/>
              </a:ext>
            </a:extLst>
          </p:cNvPr>
          <p:cNvSpPr>
            <a:spLocks xmlns:a="http://schemas.openxmlformats.org/drawingml/2006/main" noGrp="1"/>
          </p:cNvSpPr>
          <p:nvPr/>
        </p:nvSpPr>
        <p:spPr>
          <a:xfrm xmlns:a="http://schemas.openxmlformats.org/drawingml/2006/main">
            <a:off x="533400" y="7429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D5FF4"/>
                </a:solidFill>
                <a:latin typeface="Calibri"/>
                <a:ea typeface="Calibri"/>
                <a:cs typeface="Calibri"/>
              </a:defRPr>
            </a:defPPr>
          </a:lstStyle>
          <a:p xmlns:a="http://schemas.openxmlformats.org/drawingml/2006/main">
            <a:pPr algn="l">
              <a:defRPr sz="975" b="1">
                <a:solidFill>
                  <a:srgbClr val="2D5FF4"/>
                </a:solidFill>
                <a:latin typeface="Calibri"/>
                <a:ea typeface="Calibri"/>
                <a:cs typeface="Calibri"/>
              </a:defRPr>
            </a:pPr>
            <a:r>
              <a:rPr sz="975" b="1">
                <a:solidFill>
                  <a:srgbClr val="2D5FF4"/>
                </a:solidFill>
                <a:latin typeface="Calibri"/>
                <a:ea typeface="Calibri"/>
                <a:cs typeface="Calibri"/>
              </a:rPr>
              <a:t>STATUS AND NEXT STEP</a:t>
            </a:r>
          </a:p>
        </p:txBody>
      </p:sp>
      <p:sp>
        <p:nvSpPr>
          <p:cNvPr id="5" name="">
            <a:extLst xmlns:a="http://schemas.openxmlformats.org/drawingml/2006/main">
              <a:ext uri="{FF2B5EF4-FFF2-40B4-BE49-F238E27FC236}">
                <a16:creationId xmlns:a16="http://schemas.microsoft.com/office/drawing/2014/main" id="{F532F287-BF39-48A6-83A3-82984D84ED3E}"/>
              </a:ext>
            </a:extLst>
          </p:cNvPr>
          <p:cNvSpPr>
            <a:spLocks xmlns:a="http://schemas.openxmlformats.org/drawingml/2006/main" noGrp="1"/>
          </p:cNvSpPr>
          <p:nvPr/>
        </p:nvSpPr>
        <p:spPr>
          <a:xfrm xmlns:a="http://schemas.openxmlformats.org/drawingml/2006/main">
            <a:off x="533400" y="1057275"/>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31"/>
                </a:solidFill>
                <a:latin typeface="Calibri"/>
                <a:ea typeface="Calibri"/>
                <a:cs typeface="Calibri"/>
              </a:defRPr>
            </a:defPPr>
          </a:lstStyle>
          <a:p xmlns:a="http://schemas.openxmlformats.org/drawingml/2006/main">
            <a:pPr algn="l">
              <a:defRPr sz="2925" b="1">
                <a:solidFill>
                  <a:srgbClr val="172131"/>
                </a:solidFill>
                <a:latin typeface="Calibri"/>
                <a:ea typeface="Calibri"/>
                <a:cs typeface="Calibri"/>
              </a:defRPr>
            </a:pPr>
            <a:r>
              <a:rPr sz="2925" b="1">
                <a:solidFill>
                  <a:srgbClr val="172131"/>
                </a:solidFill>
                <a:latin typeface="Calibri"/>
                <a:ea typeface="Calibri"/>
                <a:cs typeface="Calibri"/>
              </a:rPr>
              <a:t>Integrated prototype. Scoped proof still needed.</a:t>
            </a:r>
          </a:p>
        </p:txBody>
      </p:sp>
      <p:sp>
        <p:nvSpPr>
          <p:cNvPr id="6" name="">
            <a:extLst xmlns:a="http://schemas.openxmlformats.org/drawingml/2006/main">
              <a:ext uri="{FF2B5EF4-FFF2-40B4-BE49-F238E27FC236}">
                <a16:creationId xmlns:a16="http://schemas.microsoft.com/office/drawing/2014/main" id="{10D7FD95-7170-4D7E-B27D-E90A00DFA4E6}"/>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B82"/>
                </a:solidFill>
                <a:latin typeface="Calibri"/>
                <a:ea typeface="Calibri"/>
                <a:cs typeface="Calibri"/>
              </a:defRPr>
            </a:defPPr>
          </a:lstStyle>
          <a:p xmlns:a="http://schemas.openxmlformats.org/drawingml/2006/main">
            <a:pPr algn="r">
              <a:defRPr sz="900" b="0">
                <a:solidFill>
                  <a:srgbClr val="5B6B82"/>
                </a:solidFill>
                <a:latin typeface="Calibri"/>
                <a:ea typeface="Calibri"/>
                <a:cs typeface="Calibri"/>
              </a:defRPr>
            </a:pPr>
            <a:r>
              <a:rPr sz="900" b="0">
                <a:solidFill>
                  <a:srgbClr val="5B6B82"/>
                </a:solidFill>
                <a:latin typeface="Calibri"/>
                <a:ea typeface="Calibri"/>
                <a:cs typeface="Calibri"/>
              </a:rPr>
              <a:t>10 / 11</a:t>
            </a:r>
          </a:p>
        </p:txBody>
      </p:sp>
      <p:sp>
        <p:nvSpPr>
          <p:cNvPr id="7" name="">
            <a:extLst xmlns:a="http://schemas.openxmlformats.org/drawingml/2006/main">
              <a:ext uri="{FF2B5EF4-FFF2-40B4-BE49-F238E27FC236}">
                <a16:creationId xmlns:a16="http://schemas.microsoft.com/office/drawing/2014/main" id="{0023C19E-1548-489D-B46B-FAFEC14E6932}"/>
              </a:ext>
            </a:extLst>
          </p:cNvPr>
          <p:cNvSpPr>
            <a:spLocks xmlns:a="http://schemas.openxmlformats.org/drawingml/2006/main" noGrp="1"/>
          </p:cNvSpPr>
          <p:nvPr/>
        </p:nvSpPr>
        <p:spPr>
          <a:xfrm xmlns:a="http://schemas.openxmlformats.org/drawingml/2006/main">
            <a:off x="552450" y="2095500"/>
            <a:ext cx="5067300" cy="3581400"/>
          </a:xfrm>
          <a:prstGeom xmlns:a="http://schemas.openxmlformats.org/drawingml/2006/main" prst="rect">
            <a:avLst/>
          </a:prstGeom>
          <a:solidFill xmlns:a="http://schemas.openxmlformats.org/drawingml/2006/main">
            <a:srgbClr val="FFFFFF"/>
          </a:solidFill>
          <a:ln xmlns:a="http://schemas.openxmlformats.org/drawingml/2006/main" w="9525">
            <a:solidFill>
              <a:srgbClr val="D6DFEC"/>
            </a:solidFill>
            <a:prstDash val="solid"/>
          </a:ln>
        </p:spPr>
      </p:sp>
      <p:sp>
        <p:nvSpPr>
          <p:cNvPr id="8" name="">
            <a:extLst xmlns:a="http://schemas.openxmlformats.org/drawingml/2006/main">
              <a:ext uri="{FF2B5EF4-FFF2-40B4-BE49-F238E27FC236}">
                <a16:creationId xmlns:a16="http://schemas.microsoft.com/office/drawing/2014/main" id="{317F603F-EC17-47CC-89A7-198C0CC282B3}"/>
              </a:ext>
            </a:extLst>
          </p:cNvPr>
          <p:cNvSpPr>
            <a:spLocks xmlns:a="http://schemas.openxmlformats.org/drawingml/2006/main" noGrp="1"/>
          </p:cNvSpPr>
          <p:nvPr/>
        </p:nvSpPr>
        <p:spPr>
          <a:xfrm xmlns:a="http://schemas.openxmlformats.org/drawingml/2006/main">
            <a:off x="81915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TODAY</a:t>
            </a:r>
          </a:p>
        </p:txBody>
      </p:sp>
      <p:sp>
        <p:nvSpPr>
          <p:cNvPr id="9" name="">
            <a:extLst xmlns:a="http://schemas.openxmlformats.org/drawingml/2006/main">
              <a:ext uri="{FF2B5EF4-FFF2-40B4-BE49-F238E27FC236}">
                <a16:creationId xmlns:a16="http://schemas.microsoft.com/office/drawing/2014/main" id="{254493F7-ED3E-4C2A-AA8E-EB7773D0A977}"/>
              </a:ext>
            </a:extLst>
          </p:cNvPr>
          <p:cNvSpPr>
            <a:spLocks xmlns:a="http://schemas.openxmlformats.org/drawingml/2006/main" noGrp="1"/>
          </p:cNvSpPr>
          <p:nvPr/>
        </p:nvSpPr>
        <p:spPr>
          <a:xfrm xmlns:a="http://schemas.openxmlformats.org/drawingml/2006/main">
            <a:off x="819150" y="28194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Connected application</a:t>
            </a:r>
          </a:p>
        </p:txBody>
      </p:sp>
      <p:sp>
        <p:nvSpPr>
          <p:cNvPr id="10" name="">
            <a:extLst xmlns:a="http://schemas.openxmlformats.org/drawingml/2006/main">
              <a:ext uri="{FF2B5EF4-FFF2-40B4-BE49-F238E27FC236}">
                <a16:creationId xmlns:a16="http://schemas.microsoft.com/office/drawing/2014/main" id="{488CA76F-E029-471D-BDA2-3DEBCFCF255E}"/>
              </a:ext>
            </a:extLst>
          </p:cNvPr>
          <p:cNvSpPr>
            <a:spLocks xmlns:a="http://schemas.openxmlformats.org/drawingml/2006/main" noGrp="1"/>
          </p:cNvSpPr>
          <p:nvPr/>
        </p:nvSpPr>
        <p:spPr>
          <a:xfrm xmlns:a="http://schemas.openxmlformats.org/drawingml/2006/main">
            <a:off x="81915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11" name="">
            <a:extLst xmlns:a="http://schemas.openxmlformats.org/drawingml/2006/main">
              <a:ext uri="{FF2B5EF4-FFF2-40B4-BE49-F238E27FC236}">
                <a16:creationId xmlns:a16="http://schemas.microsoft.com/office/drawing/2014/main" id="{92ECBB70-E2EB-48E4-B98C-89577FD25FE7}"/>
              </a:ext>
            </a:extLst>
          </p:cNvPr>
          <p:cNvSpPr>
            <a:spLocks xmlns:a="http://schemas.openxmlformats.org/drawingml/2006/main" noGrp="1"/>
          </p:cNvSpPr>
          <p:nvPr/>
        </p:nvSpPr>
        <p:spPr>
          <a:xfrm xmlns:a="http://schemas.openxmlformats.org/drawingml/2006/main">
            <a:off x="125730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Frontend and backend are combined.</a:t>
            </a:r>
          </a:p>
        </p:txBody>
      </p:sp>
      <p:sp>
        <p:nvSpPr>
          <p:cNvPr id="12" name="">
            <a:extLst xmlns:a="http://schemas.openxmlformats.org/drawingml/2006/main">
              <a:ext uri="{FF2B5EF4-FFF2-40B4-BE49-F238E27FC236}">
                <a16:creationId xmlns:a16="http://schemas.microsoft.com/office/drawing/2014/main" id="{4F4154BA-EAA0-4B8A-BB93-68937154FC17}"/>
              </a:ext>
            </a:extLst>
          </p:cNvPr>
          <p:cNvSpPr>
            <a:spLocks xmlns:a="http://schemas.openxmlformats.org/drawingml/2006/main" noGrp="1"/>
          </p:cNvSpPr>
          <p:nvPr/>
        </p:nvSpPr>
        <p:spPr>
          <a:xfrm xmlns:a="http://schemas.openxmlformats.org/drawingml/2006/main">
            <a:off x="81915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13" name="">
            <a:extLst xmlns:a="http://schemas.openxmlformats.org/drawingml/2006/main">
              <a:ext uri="{FF2B5EF4-FFF2-40B4-BE49-F238E27FC236}">
                <a16:creationId xmlns:a16="http://schemas.microsoft.com/office/drawing/2014/main" id="{127EFAE4-A5E7-401C-8BC6-8D34B0FB16A1}"/>
              </a:ext>
            </a:extLst>
          </p:cNvPr>
          <p:cNvSpPr>
            <a:spLocks xmlns:a="http://schemas.openxmlformats.org/drawingml/2006/main" noGrp="1"/>
          </p:cNvSpPr>
          <p:nvPr/>
        </p:nvSpPr>
        <p:spPr>
          <a:xfrm xmlns:a="http://schemas.openxmlformats.org/drawingml/2006/main">
            <a:off x="125730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Real-source runs exercised on bounded samples.</a:t>
            </a:r>
          </a:p>
        </p:txBody>
      </p:sp>
      <p:sp>
        <p:nvSpPr>
          <p:cNvPr id="14" name="">
            <a:extLst xmlns:a="http://schemas.openxmlformats.org/drawingml/2006/main">
              <a:ext uri="{FF2B5EF4-FFF2-40B4-BE49-F238E27FC236}">
                <a16:creationId xmlns:a16="http://schemas.microsoft.com/office/drawing/2014/main" id="{F6B61406-C4B4-42F4-A942-1EED8B1B6113}"/>
              </a:ext>
            </a:extLst>
          </p:cNvPr>
          <p:cNvSpPr>
            <a:spLocks xmlns:a="http://schemas.openxmlformats.org/drawingml/2006/main" noGrp="1"/>
          </p:cNvSpPr>
          <p:nvPr/>
        </p:nvSpPr>
        <p:spPr>
          <a:xfrm xmlns:a="http://schemas.openxmlformats.org/drawingml/2006/main">
            <a:off x="81915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15" name="">
            <a:extLst xmlns:a="http://schemas.openxmlformats.org/drawingml/2006/main">
              <a:ext uri="{FF2B5EF4-FFF2-40B4-BE49-F238E27FC236}">
                <a16:creationId xmlns:a16="http://schemas.microsoft.com/office/drawing/2014/main" id="{3C20CB6F-7D10-4277-BCE6-1A518A403649}"/>
              </a:ext>
            </a:extLst>
          </p:cNvPr>
          <p:cNvSpPr>
            <a:spLocks xmlns:a="http://schemas.openxmlformats.org/drawingml/2006/main" noGrp="1"/>
          </p:cNvSpPr>
          <p:nvPr/>
        </p:nvSpPr>
        <p:spPr>
          <a:xfrm xmlns:a="http://schemas.openxmlformats.org/drawingml/2006/main">
            <a:off x="125730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Current UI screenshots use fixture content.</a:t>
            </a:r>
          </a:p>
        </p:txBody>
      </p:sp>
      <p:sp>
        <p:nvSpPr>
          <p:cNvPr id="16" name="">
            <a:extLst xmlns:a="http://schemas.openxmlformats.org/drawingml/2006/main">
              <a:ext uri="{FF2B5EF4-FFF2-40B4-BE49-F238E27FC236}">
                <a16:creationId xmlns:a16="http://schemas.microsoft.com/office/drawing/2014/main" id="{B5928AB6-B324-4DD4-9F09-5D47139DD150}"/>
              </a:ext>
            </a:extLst>
          </p:cNvPr>
          <p:cNvSpPr>
            <a:spLocks xmlns:a="http://schemas.openxmlformats.org/drawingml/2006/main" noGrp="1"/>
          </p:cNvSpPr>
          <p:nvPr/>
        </p:nvSpPr>
        <p:spPr>
          <a:xfrm xmlns:a="http://schemas.openxmlformats.org/drawingml/2006/main">
            <a:off x="81915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17" name="">
            <a:extLst xmlns:a="http://schemas.openxmlformats.org/drawingml/2006/main">
              <a:ext uri="{FF2B5EF4-FFF2-40B4-BE49-F238E27FC236}">
                <a16:creationId xmlns:a16="http://schemas.microsoft.com/office/drawing/2014/main" id="{02F3AE8B-D582-426D-B6DD-FEE02832B0CD}"/>
              </a:ext>
            </a:extLst>
          </p:cNvPr>
          <p:cNvSpPr>
            <a:spLocks xmlns:a="http://schemas.openxmlformats.org/drawingml/2006/main" noGrp="1"/>
          </p:cNvSpPr>
          <p:nvPr/>
        </p:nvSpPr>
        <p:spPr>
          <a:xfrm xmlns:a="http://schemas.openxmlformats.org/drawingml/2006/main">
            <a:off x="125730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B6B82"/>
                </a:solidFill>
                <a:latin typeface="Calibri"/>
                <a:ea typeface="Calibri"/>
                <a:cs typeface="Calibri"/>
              </a:defRPr>
            </a:defPPr>
          </a:lstStyle>
          <a:p xmlns:a="http://schemas.openxmlformats.org/drawingml/2006/main">
            <a:pPr algn="l">
              <a:defRPr sz="1275" b="0">
                <a:solidFill>
                  <a:srgbClr val="5B6B82"/>
                </a:solidFill>
                <a:latin typeface="Calibri"/>
                <a:ea typeface="Calibri"/>
                <a:cs typeface="Calibri"/>
              </a:defRPr>
            </a:pPr>
            <a:r>
              <a:rPr sz="1275" b="0">
                <a:solidFill>
                  <a:srgbClr val="5B6B82"/>
                </a:solidFill>
                <a:latin typeface="Calibri"/>
                <a:ea typeface="Calibri"/>
                <a:cs typeface="Calibri"/>
              </a:rPr>
              <a:t>Vehicle and part catalog still synthetic for G60 run.</a:t>
            </a:r>
          </a:p>
        </p:txBody>
      </p:sp>
      <p:sp>
        <p:nvSpPr>
          <p:cNvPr id="18" name="">
            <a:extLst xmlns:a="http://schemas.openxmlformats.org/drawingml/2006/main">
              <a:ext uri="{FF2B5EF4-FFF2-40B4-BE49-F238E27FC236}">
                <a16:creationId xmlns:a16="http://schemas.microsoft.com/office/drawing/2014/main" id="{6BEDB5BD-63C4-4BBC-8D63-288C8A62A008}"/>
              </a:ext>
            </a:extLst>
          </p:cNvPr>
          <p:cNvSpPr>
            <a:spLocks xmlns:a="http://schemas.openxmlformats.org/drawingml/2006/main" noGrp="1"/>
          </p:cNvSpPr>
          <p:nvPr/>
        </p:nvSpPr>
        <p:spPr>
          <a:xfrm xmlns:a="http://schemas.openxmlformats.org/drawingml/2006/main">
            <a:off x="6572250" y="2095500"/>
            <a:ext cx="5067300" cy="3581400"/>
          </a:xfrm>
          <a:prstGeom xmlns:a="http://schemas.openxmlformats.org/drawingml/2006/main" prst="rect">
            <a:avLst/>
          </a:prstGeom>
          <a:solidFill xmlns:a="http://schemas.openxmlformats.org/drawingml/2006/main">
            <a:srgbClr val="EAF0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8887394-1555-495F-B399-B657188889FE}"/>
              </a:ext>
            </a:extLst>
          </p:cNvPr>
          <p:cNvSpPr>
            <a:spLocks xmlns:a="http://schemas.openxmlformats.org/drawingml/2006/main" noGrp="1"/>
          </p:cNvSpPr>
          <p:nvPr/>
        </p:nvSpPr>
        <p:spPr>
          <a:xfrm xmlns:a="http://schemas.openxmlformats.org/drawingml/2006/main">
            <a:off x="6858000" y="23812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2D5FF4"/>
                </a:solidFill>
                <a:latin typeface="Calibri"/>
                <a:ea typeface="Calibri"/>
                <a:cs typeface="Calibri"/>
              </a:defRPr>
            </a:defPPr>
          </a:lstStyle>
          <a:p xmlns:a="http://schemas.openxmlformats.org/drawingml/2006/main">
            <a:pPr algn="l">
              <a:defRPr sz="900" b="1">
                <a:solidFill>
                  <a:srgbClr val="2D5FF4"/>
                </a:solidFill>
                <a:latin typeface="Calibri"/>
                <a:ea typeface="Calibri"/>
                <a:cs typeface="Calibri"/>
              </a:defRPr>
            </a:pPr>
            <a:r>
              <a:rPr sz="900" b="1">
                <a:solidFill>
                  <a:srgbClr val="2D5FF4"/>
                </a:solidFill>
                <a:latin typeface="Calibri"/>
                <a:ea typeface="Calibri"/>
                <a:cs typeface="Calibri"/>
              </a:rPr>
              <a:t>NEXT</a:t>
            </a:r>
          </a:p>
        </p:txBody>
      </p:sp>
      <p:sp>
        <p:nvSpPr>
          <p:cNvPr id="20" name="">
            <a:extLst xmlns:a="http://schemas.openxmlformats.org/drawingml/2006/main">
              <a:ext uri="{FF2B5EF4-FFF2-40B4-BE49-F238E27FC236}">
                <a16:creationId xmlns:a16="http://schemas.microsoft.com/office/drawing/2014/main" id="{9711C2FC-FB96-4835-BE7D-FEC5CE10AF2A}"/>
              </a:ext>
            </a:extLst>
          </p:cNvPr>
          <p:cNvSpPr>
            <a:spLocks xmlns:a="http://schemas.openxmlformats.org/drawingml/2006/main" noGrp="1"/>
          </p:cNvSpPr>
          <p:nvPr/>
        </p:nvSpPr>
        <p:spPr>
          <a:xfrm xmlns:a="http://schemas.openxmlformats.org/drawingml/2006/main">
            <a:off x="6858000" y="28194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31"/>
                </a:solidFill>
                <a:latin typeface="Calibri"/>
                <a:ea typeface="Calibri"/>
                <a:cs typeface="Calibri"/>
              </a:defRPr>
            </a:defPPr>
          </a:lstStyle>
          <a:p xmlns:a="http://schemas.openxmlformats.org/drawingml/2006/main">
            <a:pPr algn="l">
              <a:defRPr sz="2100" b="1">
                <a:solidFill>
                  <a:srgbClr val="172131"/>
                </a:solidFill>
                <a:latin typeface="Calibri"/>
                <a:ea typeface="Calibri"/>
                <a:cs typeface="Calibri"/>
              </a:defRPr>
            </a:pPr>
            <a:r>
              <a:rPr sz="2100" b="1">
                <a:solidFill>
                  <a:srgbClr val="172131"/>
                </a:solidFill>
                <a:latin typeface="Calibri"/>
                <a:ea typeface="Calibri"/>
                <a:cs typeface="Calibri"/>
              </a:rPr>
              <a:t>One coherent BMW case</a:t>
            </a:r>
          </a:p>
        </p:txBody>
      </p:sp>
      <p:sp>
        <p:nvSpPr>
          <p:cNvPr id="21" name="">
            <a:extLst xmlns:a="http://schemas.openxmlformats.org/drawingml/2006/main">
              <a:ext uri="{FF2B5EF4-FFF2-40B4-BE49-F238E27FC236}">
                <a16:creationId xmlns:a16="http://schemas.microsoft.com/office/drawing/2014/main" id="{9B8C4741-0F32-4D85-B7EE-48ED6C7B0A4C}"/>
              </a:ext>
            </a:extLst>
          </p:cNvPr>
          <p:cNvSpPr>
            <a:spLocks xmlns:a="http://schemas.openxmlformats.org/drawingml/2006/main" noGrp="1"/>
          </p:cNvSpPr>
          <p:nvPr/>
        </p:nvSpPr>
        <p:spPr>
          <a:xfrm xmlns:a="http://schemas.openxmlformats.org/drawingml/2006/main">
            <a:off x="6858000" y="34290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01</a:t>
            </a:r>
          </a:p>
        </p:txBody>
      </p:sp>
      <p:sp>
        <p:nvSpPr>
          <p:cNvPr id="22" name="">
            <a:extLst xmlns:a="http://schemas.openxmlformats.org/drawingml/2006/main">
              <a:ext uri="{FF2B5EF4-FFF2-40B4-BE49-F238E27FC236}">
                <a16:creationId xmlns:a16="http://schemas.microsoft.com/office/drawing/2014/main" id="{1F8F49E4-79EC-4A19-8707-BEC8034E36BB}"/>
              </a:ext>
            </a:extLst>
          </p:cNvPr>
          <p:cNvSpPr>
            <a:spLocks xmlns:a="http://schemas.openxmlformats.org/drawingml/2006/main" noGrp="1"/>
          </p:cNvSpPr>
          <p:nvPr/>
        </p:nvSpPr>
        <p:spPr>
          <a:xfrm xmlns:a="http://schemas.openxmlformats.org/drawingml/2006/main">
            <a:off x="7296150" y="34004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Match US feedback to the relevant baseline.</a:t>
            </a:r>
          </a:p>
        </p:txBody>
      </p:sp>
      <p:sp>
        <p:nvSpPr>
          <p:cNvPr id="23" name="">
            <a:extLst xmlns:a="http://schemas.openxmlformats.org/drawingml/2006/main">
              <a:ext uri="{FF2B5EF4-FFF2-40B4-BE49-F238E27FC236}">
                <a16:creationId xmlns:a16="http://schemas.microsoft.com/office/drawing/2014/main" id="{8815C656-8FF1-47B0-97F5-D3D0AFA03F55}"/>
              </a:ext>
            </a:extLst>
          </p:cNvPr>
          <p:cNvSpPr>
            <a:spLocks xmlns:a="http://schemas.openxmlformats.org/drawingml/2006/main" noGrp="1"/>
          </p:cNvSpPr>
          <p:nvPr/>
        </p:nvSpPr>
        <p:spPr>
          <a:xfrm xmlns:a="http://schemas.openxmlformats.org/drawingml/2006/main">
            <a:off x="6858000" y="38862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02</a:t>
            </a:r>
          </a:p>
        </p:txBody>
      </p:sp>
      <p:sp>
        <p:nvSpPr>
          <p:cNvPr id="24" name="">
            <a:extLst xmlns:a="http://schemas.openxmlformats.org/drawingml/2006/main">
              <a:ext uri="{FF2B5EF4-FFF2-40B4-BE49-F238E27FC236}">
                <a16:creationId xmlns:a16="http://schemas.microsoft.com/office/drawing/2014/main" id="{024F04B5-D947-4EAD-9CFE-BB5453AC3FA6}"/>
              </a:ext>
            </a:extLst>
          </p:cNvPr>
          <p:cNvSpPr>
            <a:spLocks xmlns:a="http://schemas.openxmlformats.org/drawingml/2006/main" noGrp="1"/>
          </p:cNvSpPr>
          <p:nvPr/>
        </p:nvSpPr>
        <p:spPr>
          <a:xfrm xmlns:a="http://schemas.openxmlformats.org/drawingml/2006/main">
            <a:off x="7296150" y="38576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Show exact source and a reviewed requirement.</a:t>
            </a:r>
          </a:p>
        </p:txBody>
      </p:sp>
      <p:sp>
        <p:nvSpPr>
          <p:cNvPr id="25" name="">
            <a:extLst xmlns:a="http://schemas.openxmlformats.org/drawingml/2006/main">
              <a:ext uri="{FF2B5EF4-FFF2-40B4-BE49-F238E27FC236}">
                <a16:creationId xmlns:a16="http://schemas.microsoft.com/office/drawing/2014/main" id="{AD363ECB-F647-4E08-9966-776A11BED5EC}"/>
              </a:ext>
            </a:extLst>
          </p:cNvPr>
          <p:cNvSpPr>
            <a:spLocks xmlns:a="http://schemas.openxmlformats.org/drawingml/2006/main" noGrp="1"/>
          </p:cNvSpPr>
          <p:nvPr/>
        </p:nvSpPr>
        <p:spPr>
          <a:xfrm xmlns:a="http://schemas.openxmlformats.org/drawingml/2006/main">
            <a:off x="6858000" y="43434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03</a:t>
            </a:r>
          </a:p>
        </p:txBody>
      </p:sp>
      <p:sp>
        <p:nvSpPr>
          <p:cNvPr id="26" name="">
            <a:extLst xmlns:a="http://schemas.openxmlformats.org/drawingml/2006/main">
              <a:ext uri="{FF2B5EF4-FFF2-40B4-BE49-F238E27FC236}">
                <a16:creationId xmlns:a16="http://schemas.microsoft.com/office/drawing/2014/main" id="{D9DEC318-397A-43DA-98C6-F28746A07B5D}"/>
              </a:ext>
            </a:extLst>
          </p:cNvPr>
          <p:cNvSpPr>
            <a:spLocks xmlns:a="http://schemas.openxmlformats.org/drawingml/2006/main" noGrp="1"/>
          </p:cNvSpPr>
          <p:nvPr/>
        </p:nvSpPr>
        <p:spPr>
          <a:xfrm xmlns:a="http://schemas.openxmlformats.org/drawingml/2006/main">
            <a:off x="7296150" y="43148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Record PM decision on the exact version.</a:t>
            </a:r>
          </a:p>
        </p:txBody>
      </p:sp>
      <p:sp>
        <p:nvSpPr>
          <p:cNvPr id="27" name="">
            <a:extLst xmlns:a="http://schemas.openxmlformats.org/drawingml/2006/main">
              <a:ext uri="{FF2B5EF4-FFF2-40B4-BE49-F238E27FC236}">
                <a16:creationId xmlns:a16="http://schemas.microsoft.com/office/drawing/2014/main" id="{6E47A065-BDDE-4C6E-AEE3-CADE8A26E537}"/>
              </a:ext>
            </a:extLst>
          </p:cNvPr>
          <p:cNvSpPr>
            <a:spLocks xmlns:a="http://schemas.openxmlformats.org/drawingml/2006/main" noGrp="1"/>
          </p:cNvSpPr>
          <p:nvPr/>
        </p:nvSpPr>
        <p:spPr>
          <a:xfrm xmlns:a="http://schemas.openxmlformats.org/drawingml/2006/main">
            <a:off x="6858000" y="48006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2D5FF4"/>
                </a:solidFill>
                <a:latin typeface="Calibri"/>
                <a:ea typeface="Calibri"/>
                <a:cs typeface="Calibri"/>
              </a:defRPr>
            </a:defPPr>
          </a:lstStyle>
          <a:p xmlns:a="http://schemas.openxmlformats.org/drawingml/2006/main">
            <a:pPr algn="l">
              <a:defRPr sz="1125" b="1">
                <a:solidFill>
                  <a:srgbClr val="2D5FF4"/>
                </a:solidFill>
                <a:latin typeface="Calibri"/>
                <a:ea typeface="Calibri"/>
                <a:cs typeface="Calibri"/>
              </a:defRPr>
            </a:pPr>
            <a:r>
              <a:rPr sz="1125" b="1">
                <a:solidFill>
                  <a:srgbClr val="2D5FF4"/>
                </a:solidFill>
                <a:latin typeface="Calibri"/>
                <a:ea typeface="Calibri"/>
                <a:cs typeface="Calibri"/>
              </a:rPr>
              <a:t>04</a:t>
            </a:r>
          </a:p>
        </p:txBody>
      </p:sp>
      <p:sp>
        <p:nvSpPr>
          <p:cNvPr id="28" name="">
            <a:extLst xmlns:a="http://schemas.openxmlformats.org/drawingml/2006/main">
              <a:ext uri="{FF2B5EF4-FFF2-40B4-BE49-F238E27FC236}">
                <a16:creationId xmlns:a16="http://schemas.microsoft.com/office/drawing/2014/main" id="{31C2D9F6-1C6F-43A8-97F7-FE6E8B4A8CC7}"/>
              </a:ext>
            </a:extLst>
          </p:cNvPr>
          <p:cNvSpPr>
            <a:spLocks xmlns:a="http://schemas.openxmlformats.org/drawingml/2006/main" noGrp="1"/>
          </p:cNvSpPr>
          <p:nvPr/>
        </p:nvSpPr>
        <p:spPr>
          <a:xfrm xmlns:a="http://schemas.openxmlformats.org/drawingml/2006/main">
            <a:off x="7296150" y="4772025"/>
            <a:ext cx="3905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72131"/>
                </a:solidFill>
                <a:latin typeface="Calibri"/>
                <a:ea typeface="Calibri"/>
                <a:cs typeface="Calibri"/>
              </a:defRPr>
            </a:defPPr>
          </a:lstStyle>
          <a:p xmlns:a="http://schemas.openxmlformats.org/drawingml/2006/main">
            <a:pPr algn="l">
              <a:defRPr sz="1275" b="0">
                <a:solidFill>
                  <a:srgbClr val="172131"/>
                </a:solidFill>
                <a:latin typeface="Calibri"/>
                <a:ea typeface="Calibri"/>
                <a:cs typeface="Calibri"/>
              </a:defRPr>
            </a:pPr>
            <a:r>
              <a:rPr sz="1275" b="0">
                <a:solidFill>
                  <a:srgbClr val="172131"/>
                </a:solidFill>
                <a:latin typeface="Calibri"/>
                <a:ea typeface="Calibri"/>
                <a:cs typeface="Calibri"/>
              </a:rPr>
              <a:t>Export the decision trace.</a:t>
            </a:r>
          </a:p>
        </p:txBody>
      </p:sp>
    </p:spTree>
    <p:extLst>
      <p:ext uri="{BB962C8B-B14F-4D97-AF65-F5344CB8AC3E}">
        <p14:creationId xmlns:p14="http://schemas.microsoft.com/office/powerpoint/2010/main" val="1535919834"/>
      </p:ext>
    </p:extLst>
  </p:cSld>
</p:sld>
</file>

<file path=ppt/slides/slide11.xml><?xml version="1.0" encoding="utf-8"?>
<p:sld xmlns:p="http://schemas.openxmlformats.org/presentationml/2006/main">
  <p:cSld>
    <p:bg>
      <p:bgPr>
        <a:solidFill xmlns:a="http://schemas.openxmlformats.org/drawingml/2006/main">
          <a:srgbClr val="11192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513A0FF-4715-4649-B46A-D5A60DD4663B}"/>
              </a:ext>
            </a:extLst>
          </p:cNvPr>
          <p:cNvSpPr>
            <a:spLocks xmlns:a="http://schemas.openxmlformats.org/drawingml/2006/main" noGrp="1"/>
          </p:cNvSpPr>
          <p:nvPr/>
        </p:nvSpPr>
        <p:spPr>
          <a:xfrm xmlns:a="http://schemas.openxmlformats.org/drawingml/2006/main">
            <a:off x="514350" y="2381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FWD</a:t>
            </a:r>
          </a:p>
        </p:txBody>
      </p:sp>
      <p:sp>
        <p:nvSpPr>
          <p:cNvPr id="2" name="">
            <a:extLst xmlns:a="http://schemas.openxmlformats.org/drawingml/2006/main">
              <a:ext uri="{FF2B5EF4-FFF2-40B4-BE49-F238E27FC236}">
                <a16:creationId xmlns:a16="http://schemas.microsoft.com/office/drawing/2014/main" id="{E744D7A4-C71C-4D22-9C7A-D922C00EC910}"/>
              </a:ext>
            </a:extLst>
          </p:cNvPr>
          <p:cNvSpPr>
            <a:spLocks xmlns:a="http://schemas.openxmlformats.org/drawingml/2006/main" noGrp="1"/>
          </p:cNvSpPr>
          <p:nvPr/>
        </p:nvSpPr>
        <p:spPr>
          <a:xfrm xmlns:a="http://schemas.openxmlformats.org/drawingml/2006/main">
            <a:off x="1066800" y="2095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D5FF4"/>
                </a:solidFill>
                <a:latin typeface="Calibri"/>
                <a:ea typeface="Calibri"/>
                <a:cs typeface="Calibri"/>
              </a:defRPr>
            </a:defPPr>
          </a:lstStyle>
          <a:p xmlns:a="http://schemas.openxmlformats.org/drawingml/2006/main">
            <a:pPr algn="l">
              <a:defRPr sz="1650" b="1">
                <a:solidFill>
                  <a:srgbClr val="2D5FF4"/>
                </a:solidFill>
                <a:latin typeface="Calibri"/>
                <a:ea typeface="Calibri"/>
                <a:cs typeface="Calibri"/>
              </a:defRPr>
            </a:pPr>
            <a:r>
              <a:rPr sz="1650" b="1">
                <a:solidFill>
                  <a:srgbClr val="2D5FF4"/>
                </a:solidFill>
                <a:latin typeface="Calibri"/>
                <a:ea typeface="Calibri"/>
                <a:cs typeface="Calibri"/>
              </a:rPr>
              <a:t>//</a:t>
            </a:r>
          </a:p>
        </p:txBody>
      </p:sp>
      <p:sp>
        <p:nvSpPr>
          <p:cNvPr id="3" name="">
            <a:extLst xmlns:a="http://schemas.openxmlformats.org/drawingml/2006/main">
              <a:ext uri="{FF2B5EF4-FFF2-40B4-BE49-F238E27FC236}">
                <a16:creationId xmlns:a16="http://schemas.microsoft.com/office/drawing/2014/main" id="{5E2C910C-96C1-4438-AFAD-A41BBFBAEB8D}"/>
              </a:ext>
            </a:extLst>
          </p:cNvPr>
          <p:cNvSpPr>
            <a:spLocks xmlns:a="http://schemas.openxmlformats.org/drawingml/2006/main" noGrp="1"/>
          </p:cNvSpPr>
          <p:nvPr/>
        </p:nvSpPr>
        <p:spPr>
          <a:xfrm xmlns:a="http://schemas.openxmlformats.org/drawingml/2006/main">
            <a:off x="1552575" y="276225"/>
            <a:ext cx="3143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AEBBD0"/>
                </a:solidFill>
                <a:latin typeface="Calibri"/>
                <a:ea typeface="Calibri"/>
                <a:cs typeface="Calibri"/>
              </a:defRPr>
            </a:defPPr>
          </a:lstStyle>
          <a:p xmlns:a="http://schemas.openxmlformats.org/drawingml/2006/main">
            <a:pPr algn="l">
              <a:defRPr sz="900" b="0">
                <a:solidFill>
                  <a:srgbClr val="AEBBD0"/>
                </a:solidFill>
                <a:latin typeface="Calibri"/>
                <a:ea typeface="Calibri"/>
                <a:cs typeface="Calibri"/>
              </a:defRPr>
            </a:pPr>
            <a:r>
              <a:rPr sz="900" b="0">
                <a:solidFill>
                  <a:srgbClr val="AEBBD0"/>
                </a:solidFill>
                <a:latin typeface="Calibri"/>
                <a:ea typeface="Calibri"/>
                <a:cs typeface="Calibri"/>
              </a:rPr>
              <a:t>AI VEHICLE REQUIREMENTS LAB</a:t>
            </a:r>
          </a:p>
        </p:txBody>
      </p:sp>
      <p:sp>
        <p:nvSpPr>
          <p:cNvPr id="4" name="">
            <a:extLst xmlns:a="http://schemas.openxmlformats.org/drawingml/2006/main">
              <a:ext uri="{FF2B5EF4-FFF2-40B4-BE49-F238E27FC236}">
                <a16:creationId xmlns:a16="http://schemas.microsoft.com/office/drawing/2014/main" id="{832D4D40-F2D5-4426-AAF3-E1F79A17C31A}"/>
              </a:ext>
            </a:extLst>
          </p:cNvPr>
          <p:cNvSpPr>
            <a:spLocks xmlns:a="http://schemas.openxmlformats.org/drawingml/2006/main" noGrp="1"/>
          </p:cNvSpPr>
          <p:nvPr/>
        </p:nvSpPr>
        <p:spPr>
          <a:xfrm xmlns:a="http://schemas.openxmlformats.org/drawingml/2006/main">
            <a:off x="10572750" y="6505575"/>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AEBBD0"/>
                </a:solidFill>
                <a:latin typeface="Calibri"/>
                <a:ea typeface="Calibri"/>
                <a:cs typeface="Calibri"/>
              </a:defRPr>
            </a:defPPr>
          </a:lstStyle>
          <a:p xmlns:a="http://schemas.openxmlformats.org/drawingml/2006/main">
            <a:pPr algn="r">
              <a:defRPr sz="900" b="0">
                <a:solidFill>
                  <a:srgbClr val="AEBBD0"/>
                </a:solidFill>
                <a:latin typeface="Calibri"/>
                <a:ea typeface="Calibri"/>
                <a:cs typeface="Calibri"/>
              </a:defRPr>
            </a:pPr>
            <a:r>
              <a:rPr sz="900" b="0">
                <a:solidFill>
                  <a:srgbClr val="AEBBD0"/>
                </a:solidFill>
                <a:latin typeface="Calibri"/>
                <a:ea typeface="Calibri"/>
                <a:cs typeface="Calibri"/>
              </a:rPr>
              <a:t>11 / 11</a:t>
            </a:r>
          </a:p>
        </p:txBody>
      </p:sp>
      <p:sp>
        <p:nvSpPr>
          <p:cNvPr id="5" name="">
            <a:extLst xmlns:a="http://schemas.openxmlformats.org/drawingml/2006/main">
              <a:ext uri="{FF2B5EF4-FFF2-40B4-BE49-F238E27FC236}">
                <a16:creationId xmlns:a16="http://schemas.microsoft.com/office/drawing/2014/main" id="{F4289296-4113-4AED-A1CB-E4F621F5BDC3}"/>
              </a:ext>
            </a:extLst>
          </p:cNvPr>
          <p:cNvSpPr>
            <a:spLocks xmlns:a="http://schemas.openxmlformats.org/drawingml/2006/main" noGrp="1"/>
          </p:cNvSpPr>
          <p:nvPr/>
        </p:nvSpPr>
        <p:spPr>
          <a:xfrm xmlns:a="http://schemas.openxmlformats.org/drawingml/2006/main">
            <a:off x="552450" y="1047750"/>
            <a:ext cx="5810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FFFFFF"/>
                </a:solidFill>
                <a:latin typeface="Calibri"/>
                <a:ea typeface="Calibri"/>
                <a:cs typeface="Calibri"/>
              </a:defRPr>
            </a:defPPr>
          </a:lstStyle>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Next proof: one scoped</a:t>
            </a:r>
          </a:p>
          <a:p xmlns:a="http://schemas.openxmlformats.org/drawingml/2006/main">
            <a:pPr algn="l">
              <a:defRPr sz="3600" b="1">
                <a:solidFill>
                  <a:srgbClr val="FFFFFF"/>
                </a:solidFill>
                <a:latin typeface="Calibri"/>
                <a:ea typeface="Calibri"/>
                <a:cs typeface="Calibri"/>
              </a:defRPr>
            </a:pPr>
            <a:r>
              <a:rPr sz="3600" b="1">
                <a:solidFill>
                  <a:srgbClr val="FFFFFF"/>
                </a:solidFill>
                <a:latin typeface="Calibri"/>
                <a:ea typeface="Calibri"/>
                <a:cs typeface="Calibri"/>
              </a:rPr>
              <a:t>G60 case.</a:t>
            </a:r>
          </a:p>
        </p:txBody>
      </p:sp>
      <p:sp>
        <p:nvSpPr>
          <p:cNvPr id="6" name="">
            <a:extLst xmlns:a="http://schemas.openxmlformats.org/drawingml/2006/main">
              <a:ext uri="{FF2B5EF4-FFF2-40B4-BE49-F238E27FC236}">
                <a16:creationId xmlns:a16="http://schemas.microsoft.com/office/drawing/2014/main" id="{AE6F6570-E4D5-4C8E-BDCD-0530DD41BCF3}"/>
              </a:ext>
            </a:extLst>
          </p:cNvPr>
          <p:cNvSpPr>
            <a:spLocks xmlns:a="http://schemas.openxmlformats.org/drawingml/2006/main" noGrp="1"/>
          </p:cNvSpPr>
          <p:nvPr/>
        </p:nvSpPr>
        <p:spPr>
          <a:xfrm xmlns:a="http://schemas.openxmlformats.org/drawingml/2006/main">
            <a:off x="609600" y="29527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Scope</a:t>
            </a:r>
          </a:p>
        </p:txBody>
      </p:sp>
      <p:sp>
        <p:nvSpPr>
          <p:cNvPr id="7" name="">
            <a:extLst xmlns:a="http://schemas.openxmlformats.org/drawingml/2006/main">
              <a:ext uri="{FF2B5EF4-FFF2-40B4-BE49-F238E27FC236}">
                <a16:creationId xmlns:a16="http://schemas.microsoft.com/office/drawing/2014/main" id="{04F2C91C-32F4-4ACA-A716-CC72E090A44B}"/>
              </a:ext>
            </a:extLst>
          </p:cNvPr>
          <p:cNvSpPr>
            <a:spLocks xmlns:a="http://schemas.openxmlformats.org/drawingml/2006/main" noGrp="1"/>
          </p:cNvSpPr>
          <p:nvPr/>
        </p:nvSpPr>
        <p:spPr>
          <a:xfrm xmlns:a="http://schemas.openxmlformats.org/drawingml/2006/main">
            <a:off x="2171700" y="29527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US G60 family; exact trim open</a:t>
            </a:r>
          </a:p>
        </p:txBody>
      </p:sp>
      <p:sp>
        <p:nvSpPr>
          <p:cNvPr id="8" name="">
            <a:extLst xmlns:a="http://schemas.openxmlformats.org/drawingml/2006/main">
              <a:ext uri="{FF2B5EF4-FFF2-40B4-BE49-F238E27FC236}">
                <a16:creationId xmlns:a16="http://schemas.microsoft.com/office/drawing/2014/main" id="{475C423F-EEE1-4097-9D06-E0B28C6DE243}"/>
              </a:ext>
            </a:extLst>
          </p:cNvPr>
          <p:cNvSpPr>
            <a:spLocks xmlns:a="http://schemas.openxmlformats.org/drawingml/2006/main" noGrp="1"/>
          </p:cNvSpPr>
          <p:nvPr/>
        </p:nvSpPr>
        <p:spPr>
          <a:xfrm xmlns:a="http://schemas.openxmlformats.org/drawingml/2006/main">
            <a:off x="609600" y="35623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Trace</a:t>
            </a:r>
          </a:p>
        </p:txBody>
      </p:sp>
      <p:sp>
        <p:nvSpPr>
          <p:cNvPr id="9" name="">
            <a:extLst xmlns:a="http://schemas.openxmlformats.org/drawingml/2006/main">
              <a:ext uri="{FF2B5EF4-FFF2-40B4-BE49-F238E27FC236}">
                <a16:creationId xmlns:a16="http://schemas.microsoft.com/office/drawing/2014/main" id="{075DCCC5-E465-4D28-B47C-B256A53AC1CA}"/>
              </a:ext>
            </a:extLst>
          </p:cNvPr>
          <p:cNvSpPr>
            <a:spLocks xmlns:a="http://schemas.openxmlformats.org/drawingml/2006/main" noGrp="1"/>
          </p:cNvSpPr>
          <p:nvPr/>
        </p:nvSpPr>
        <p:spPr>
          <a:xfrm xmlns:a="http://schemas.openxmlformats.org/drawingml/2006/main">
            <a:off x="2171700" y="3562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finding to its source row</a:t>
            </a:r>
          </a:p>
        </p:txBody>
      </p:sp>
      <p:sp>
        <p:nvSpPr>
          <p:cNvPr id="10" name="">
            <a:extLst xmlns:a="http://schemas.openxmlformats.org/drawingml/2006/main">
              <a:ext uri="{FF2B5EF4-FFF2-40B4-BE49-F238E27FC236}">
                <a16:creationId xmlns:a16="http://schemas.microsoft.com/office/drawing/2014/main" id="{BD806DA1-EFC9-4F9D-9547-AE448BE25846}"/>
              </a:ext>
            </a:extLst>
          </p:cNvPr>
          <p:cNvSpPr>
            <a:spLocks xmlns:a="http://schemas.openxmlformats.org/drawingml/2006/main" noGrp="1"/>
          </p:cNvSpPr>
          <p:nvPr/>
        </p:nvSpPr>
        <p:spPr>
          <a:xfrm xmlns:a="http://schemas.openxmlformats.org/drawingml/2006/main">
            <a:off x="609600" y="41719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Review</a:t>
            </a:r>
          </a:p>
        </p:txBody>
      </p:sp>
      <p:sp>
        <p:nvSpPr>
          <p:cNvPr id="11" name="">
            <a:extLst xmlns:a="http://schemas.openxmlformats.org/drawingml/2006/main">
              <a:ext uri="{FF2B5EF4-FFF2-40B4-BE49-F238E27FC236}">
                <a16:creationId xmlns:a16="http://schemas.microsoft.com/office/drawing/2014/main" id="{6D5C4CA7-A233-4168-BEF4-CCB142CEB4DD}"/>
              </a:ext>
            </a:extLst>
          </p:cNvPr>
          <p:cNvSpPr>
            <a:spLocks xmlns:a="http://schemas.openxmlformats.org/drawingml/2006/main" noGrp="1"/>
          </p:cNvSpPr>
          <p:nvPr/>
        </p:nvSpPr>
        <p:spPr>
          <a:xfrm xmlns:a="http://schemas.openxmlformats.org/drawingml/2006/main">
            <a:off x="2171700" y="41719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candidate requirement</a:t>
            </a:r>
          </a:p>
        </p:txBody>
      </p:sp>
      <p:sp>
        <p:nvSpPr>
          <p:cNvPr id="12" name="">
            <a:extLst xmlns:a="http://schemas.openxmlformats.org/drawingml/2006/main">
              <a:ext uri="{FF2B5EF4-FFF2-40B4-BE49-F238E27FC236}">
                <a16:creationId xmlns:a16="http://schemas.microsoft.com/office/drawing/2014/main" id="{8DA91E2A-2C52-4D1C-A5CB-2C0E22BBD542}"/>
              </a:ext>
            </a:extLst>
          </p:cNvPr>
          <p:cNvSpPr>
            <a:spLocks xmlns:a="http://schemas.openxmlformats.org/drawingml/2006/main" noGrp="1"/>
          </p:cNvSpPr>
          <p:nvPr/>
        </p:nvSpPr>
        <p:spPr>
          <a:xfrm xmlns:a="http://schemas.openxmlformats.org/drawingml/2006/main">
            <a:off x="609600" y="47815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Calibri"/>
                <a:ea typeface="Calibri"/>
                <a:cs typeface="Calibri"/>
              </a:defRPr>
            </a:defPPr>
          </a:lstStyle>
          <a:p xmlns:a="http://schemas.openxmlformats.org/drawingml/2006/main">
            <a:pPr algn="l">
              <a:defRPr sz="1500" b="1">
                <a:solidFill>
                  <a:srgbClr val="FFFFFF"/>
                </a:solidFill>
                <a:latin typeface="Calibri"/>
                <a:ea typeface="Calibri"/>
                <a:cs typeface="Calibri"/>
              </a:defRPr>
            </a:pPr>
            <a:r>
              <a:rPr sz="1500" b="1">
                <a:solidFill>
                  <a:srgbClr val="FFFFFF"/>
                </a:solidFill>
                <a:latin typeface="Calibri"/>
                <a:ea typeface="Calibri"/>
                <a:cs typeface="Calibri"/>
              </a:rPr>
              <a:t>Decide</a:t>
            </a:r>
          </a:p>
        </p:txBody>
      </p:sp>
      <p:sp>
        <p:nvSpPr>
          <p:cNvPr id="13" name="">
            <a:extLst xmlns:a="http://schemas.openxmlformats.org/drawingml/2006/main">
              <a:ext uri="{FF2B5EF4-FFF2-40B4-BE49-F238E27FC236}">
                <a16:creationId xmlns:a16="http://schemas.microsoft.com/office/drawing/2014/main" id="{6DD9DB29-1EEE-460F-929F-85D803DCDFBE}"/>
              </a:ext>
            </a:extLst>
          </p:cNvPr>
          <p:cNvSpPr>
            <a:spLocks xmlns:a="http://schemas.openxmlformats.org/drawingml/2006/main" noGrp="1"/>
          </p:cNvSpPr>
          <p:nvPr/>
        </p:nvSpPr>
        <p:spPr>
          <a:xfrm xmlns:a="http://schemas.openxmlformats.org/drawingml/2006/main">
            <a:off x="2171700" y="47815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C8D2E1"/>
                </a:solidFill>
                <a:latin typeface="Calibri"/>
                <a:ea typeface="Calibri"/>
                <a:cs typeface="Calibri"/>
              </a:defRPr>
            </a:defPPr>
          </a:lstStyle>
          <a:p xmlns:a="http://schemas.openxmlformats.org/drawingml/2006/main">
            <a:pPr algn="l">
              <a:defRPr sz="1350" b="0">
                <a:solidFill>
                  <a:srgbClr val="C8D2E1"/>
                </a:solidFill>
                <a:latin typeface="Calibri"/>
                <a:ea typeface="Calibri"/>
                <a:cs typeface="Calibri"/>
              </a:defRPr>
            </a:pPr>
            <a:r>
              <a:rPr sz="1350" b="0">
                <a:solidFill>
                  <a:srgbClr val="C8D2E1"/>
                </a:solidFill>
                <a:latin typeface="Calibri"/>
                <a:ea typeface="Calibri"/>
                <a:cs typeface="Calibri"/>
              </a:rPr>
              <a:t>A PM-owned version and export</a:t>
            </a:r>
          </a:p>
        </p:txBody>
      </p:sp>
      <p:sp>
        <p:nvSpPr>
          <p:cNvPr id="14" name="">
            <a:extLst xmlns:a="http://schemas.openxmlformats.org/drawingml/2006/main">
              <a:ext uri="{FF2B5EF4-FFF2-40B4-BE49-F238E27FC236}">
                <a16:creationId xmlns:a16="http://schemas.microsoft.com/office/drawing/2014/main" id="{C8CA424C-6CE5-4870-8DD8-37D44F259D49}"/>
              </a:ext>
            </a:extLst>
          </p:cNvPr>
          <p:cNvSpPr>
            <a:spLocks xmlns:a="http://schemas.openxmlformats.org/drawingml/2006/main" noGrp="1"/>
          </p:cNvSpPr>
          <p:nvPr/>
        </p:nvSpPr>
        <p:spPr>
          <a:xfrm xmlns:a="http://schemas.openxmlformats.org/drawingml/2006/main">
            <a:off x="609600" y="5619750"/>
            <a:ext cx="1238250" cy="47625"/>
          </a:xfrm>
          <a:prstGeom xmlns:a="http://schemas.openxmlformats.org/drawingml/2006/main" prst="rect">
            <a:avLst/>
          </a:prstGeom>
          <a:solidFill xmlns:a="http://schemas.openxmlformats.org/drawingml/2006/main">
            <a:srgbClr val="2D5FF4"/>
          </a:solidFill>
          <a:ln xmlns:a="http://schemas.openxmlformats.org/drawingml/2006/main" w="0">
            <a:noFill/>
            <a:prstDash val="solid"/>
          </a:ln>
        </p:spPr>
      </p:sp>
    </p:spTree>
    <p:extLst>
      <p:ext uri="{BB962C8B-B14F-4D97-AF65-F5344CB8AC3E}">
        <p14:creationId xmlns:p14="http://schemas.microsoft.com/office/powerpoint/2010/main" val="469630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2026-10-11T06:31:13.1500000Z</dcterms:created>
  <dcterms:modified xsi:type="dcterms:W3CDTF">2026-10-11T06:31:13.1500000Z</dcterms:modified>
</coreProperties>
</file>