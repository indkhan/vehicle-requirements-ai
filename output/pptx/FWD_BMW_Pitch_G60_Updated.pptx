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18a7ea8fca4b46" /><Relationship Type="http://schemas.openxmlformats.org/officeDocument/2006/relationships/extended-properties" Target="/docProps/app.xml" Id="R92410e7bd51a4af5" /><Relationship Type="http://schemas.openxmlformats.org/officeDocument/2006/relationships/officeDocument" Target="/ppt/presentation.xml" Id="R400869153a6e4f94" /></Relationships>
</file>

<file path=ppt/presentation.xml><?xml version="1.0" encoding="utf-8"?>
<p:presentation xmlns:p="http://schemas.openxmlformats.org/presentationml/2006/main">
  <p:sldMasterIdLst>
    <p:sldMasterId xmlns:r="http://schemas.openxmlformats.org/officeDocument/2006/relationships" id="2147483648" r:id="R0d48142f959b4593"/>
  </p:sldMasterIdLst>
  <p:notesMasterIdLst>
    <p:notesMasterId xmlns:r="http://schemas.openxmlformats.org/officeDocument/2006/relationships" r:id="Rad5ba2ce1d474e58"/>
  </p:notesMasterIdLst>
  <p:sldIdLst>
    <p:sldId xmlns:r="http://schemas.openxmlformats.org/officeDocument/2006/relationships" id="256" r:id="Rec5e9d3e98cc45ed"/>
    <p:sldId xmlns:r="http://schemas.openxmlformats.org/officeDocument/2006/relationships" id="257" r:id="R700237ad7b8a4c1c"/>
    <p:sldId xmlns:r="http://schemas.openxmlformats.org/officeDocument/2006/relationships" id="258" r:id="Rc7586c59944f460d"/>
    <p:sldId xmlns:r="http://schemas.openxmlformats.org/officeDocument/2006/relationships" id="259" r:id="Ree241af52bd94add"/>
    <p:sldId xmlns:r="http://schemas.openxmlformats.org/officeDocument/2006/relationships" id="260" r:id="Ra13570c1ff8b4efd"/>
    <p:sldId xmlns:r="http://schemas.openxmlformats.org/officeDocument/2006/relationships" id="261" r:id="R152ab322331e4e15"/>
    <p:sldId xmlns:r="http://schemas.openxmlformats.org/officeDocument/2006/relationships" id="262" r:id="R721023a545fc4ff4"/>
    <p:sldId xmlns:r="http://schemas.openxmlformats.org/officeDocument/2006/relationships" id="263" r:id="Rbedb22abb4984ca9"/>
    <p:sldId xmlns:r="http://schemas.openxmlformats.org/officeDocument/2006/relationships" id="264" r:id="R1b612f632a5d4ed8"/>
    <p:sldId xmlns:r="http://schemas.openxmlformats.org/officeDocument/2006/relationships" id="265" r:id="Re8e16667ca3e484b"/>
    <p:sldId xmlns:r="http://schemas.openxmlformats.org/officeDocument/2006/relationships" id="266" r:id="R45a9835facc042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8fb1417ab14981" /><Relationship Type="http://schemas.openxmlformats.org/officeDocument/2006/relationships/slideMaster" Target="/ppt/slideMasters/slideMaster1.xml" Id="R0d48142f959b4593" /><Relationship Type="http://schemas.openxmlformats.org/officeDocument/2006/relationships/notesMaster" Target="/ppt/notesMasters/notesMaster1.xml" Id="Rad5ba2ce1d474e58" /><Relationship Type="http://schemas.openxmlformats.org/officeDocument/2006/relationships/presProps" Target="/ppt/presProps.xml" Id="Radc58f56005a4d28" /><Relationship Type="http://schemas.openxmlformats.org/officeDocument/2006/relationships/tableStyles" Target="/ppt/tableStyles.xml" Id="Rb517684189b44fd9" /><Relationship Type="http://schemas.openxmlformats.org/officeDocument/2006/relationships/slide" Target="/ppt/slides/slide1.xml" Id="Rec5e9d3e98cc45ed" /><Relationship Type="http://schemas.openxmlformats.org/officeDocument/2006/relationships/slide" Target="/ppt/slides/slide2.xml" Id="R700237ad7b8a4c1c" /><Relationship Type="http://schemas.openxmlformats.org/officeDocument/2006/relationships/slide" Target="/ppt/slides/slide3.xml" Id="Rc7586c59944f460d" /><Relationship Type="http://schemas.openxmlformats.org/officeDocument/2006/relationships/slide" Target="/ppt/slides/slide4.xml" Id="Ree241af52bd94add" /><Relationship Type="http://schemas.openxmlformats.org/officeDocument/2006/relationships/slide" Target="/ppt/slides/slide5.xml" Id="Ra13570c1ff8b4efd" /><Relationship Type="http://schemas.openxmlformats.org/officeDocument/2006/relationships/slide" Target="/ppt/slides/slide6.xml" Id="R152ab322331e4e15" /><Relationship Type="http://schemas.openxmlformats.org/officeDocument/2006/relationships/slide" Target="/ppt/slides/slide7.xml" Id="R721023a545fc4ff4" /><Relationship Type="http://schemas.openxmlformats.org/officeDocument/2006/relationships/slide" Target="/ppt/slides/slide8.xml" Id="Rbedb22abb4984ca9" /><Relationship Type="http://schemas.openxmlformats.org/officeDocument/2006/relationships/slide" Target="/ppt/slides/slide9.xml" Id="R1b612f632a5d4ed8" /><Relationship Type="http://schemas.openxmlformats.org/officeDocument/2006/relationships/slide" Target="/ppt/slides/slide10.xml" Id="Re8e16667ca3e484b" /><Relationship Type="http://schemas.openxmlformats.org/officeDocument/2006/relationships/slide" Target="/ppt/slides/slide11.xml" Id="R45a9835facc042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7ce61069d348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fe1abaad1f4689" /><Relationship Type="http://schemas.openxmlformats.org/officeDocument/2006/relationships/notesMaster" Target="/ppt/notesMasters/notesMaster1.xml" Id="Rf725d7ba0bd640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34bbf9187d4401" /><Relationship Type="http://schemas.openxmlformats.org/officeDocument/2006/relationships/notesMaster" Target="/ppt/notesMasters/notesMaster1.xml" Id="R67d4b931102d4e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20b5db15cb4e4f" /><Relationship Type="http://schemas.openxmlformats.org/officeDocument/2006/relationships/notesMaster" Target="/ppt/notesMasters/notesMaster1.xml" Id="R0bae91682c7f4e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bd88ab15cf48e8" /><Relationship Type="http://schemas.openxmlformats.org/officeDocument/2006/relationships/notesMaster" Target="/ppt/notesMasters/notesMaster1.xml" Id="Rca72276e4f354f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51bf9757cc4833" /><Relationship Type="http://schemas.openxmlformats.org/officeDocument/2006/relationships/notesMaster" Target="/ppt/notesMasters/notesMaster1.xml" Id="Reb278f4eeed54d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79c98fb2454de2" /><Relationship Type="http://schemas.openxmlformats.org/officeDocument/2006/relationships/notesMaster" Target="/ppt/notesMasters/notesMaster1.xml" Id="R213f277ad48247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20a5833fcf463e" /><Relationship Type="http://schemas.openxmlformats.org/officeDocument/2006/relationships/notesMaster" Target="/ppt/notesMasters/notesMaster1.xml" Id="R45c84811b64943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83565a7b074209" /><Relationship Type="http://schemas.openxmlformats.org/officeDocument/2006/relationships/notesMaster" Target="/ppt/notesMasters/notesMaster1.xml" Id="Re3dc96154e5d49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81586e55f7495c" /><Relationship Type="http://schemas.openxmlformats.org/officeDocument/2006/relationships/notesMaster" Target="/ppt/notesMasters/notesMaster1.xml" Id="R0f9f2500bf2740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304eb61253444a" /><Relationship Type="http://schemas.openxmlformats.org/officeDocument/2006/relationships/notesMaster" Target="/ppt/notesMasters/notesMaster1.xml" Id="Rc35920ce9eaa4e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9fed4c4f9f8415a" /><Relationship Type="http://schemas.openxmlformats.org/officeDocument/2006/relationships/notesMaster" Target="/ppt/notesMasters/notesMaster1.xml" Id="R26eff675eae242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image extracted from user-supplied FWD_BMW_Pitch_Clean.pdf. It is retained as an illustration and is not used as evidence of exact trim or derivative.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BMW source package includes G60 feedback, a US_2025 customer study, and a G60 option list. The supplied option list is not a validated US equipment baseline. See doc/frontend/MODEL-COVERAGE.md and doc/googledrive/F70_G60_G68_G70_customer_studies.xlsx.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source: doc/frontend/evidence/workshop-desktop.png. This is the actual product interface, but the captured workspace is synthetic. Do not describe the screenshot contents as an analysis of BMW source files. Product capabilities and current fixture limits are documented in frontend/README.md.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workflow described by the connected application and its API contracts. This slide describes system behavior; it does not claim a completed BMW production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doc/googledrive/G60_feedback_hackathon.xlsx, worksheet Feedback_Explorer, row 313. ID G60-0248, country US, derivative code G60, engine type ICE, feedback type Difficult to Use, category Operating concept, operating system. Full source text includes preference for simpler access or click-type controls. This single record does not establish prevalence, trim applicability, or exact feature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anchor: G60-0248, row 313, requests simpler or click-type access. Counterpoint: G60-0105, row 129, says the customer is enjoying the screen interface. These are distinct records; they do not prove directly comparable customer groups or validate either proposed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75-to-67 example and its factor ratings were synthetic. This slide deliberately withholds a score because the cited feedback records do not establish customer impact, target-group reach, matched feature availability, or successor relevance. Weights are project policy, not BMW-prescribed.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language based on BMW G60 feedback workbook, Feedback_Explorer rows 313 (G60-0248) and 797 (G60-0635). This is a manually prepared candidate for the pitch deck, not a stored backend proposal or PM-approved requirement. It does not claim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before/after is an editable UI concept based on G60 feedback, not an app-generated artifact. Repo documentation states current downloaded BMW geometry supports a bounded resize of one independently separated front seat. It does not establish touchscreen redesign or engineering validation. See README.md and doc/reimagine-assets.md.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 evidence: frontend and backend are connected. Backend handoff records a real three-record G60 run with three findings and three changes; the vehicle/part catalog was synthetic, so exact derivative and equipment applicability remain unverified. Combined frontend verification used synthetic UI harness content; no live service was running during this deck update. References: README.md, backend/TESTING_HANDOFF.md, doc/frontend/COMBINED-VERIFICATION.md.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bounded next proof. Do not claim one-record feedback validates broad market need, exact derivative fit, a BMW-approved score, or generated dashboard geometry. Vehicle art is an illustration retained from the source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832157a76244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cdbe58b4ef44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94bca2254443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ba6195882f4a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36c0cef6ea42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83ae4ae28f4d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C7F2F1-F253-47BE-AA4B-E85BE2C5F7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52731CB-805E-4049-9B1B-CF818422B4A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26C132C-277A-4FFA-9B8C-8F366DF003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31E751-532E-47B8-9557-77947D7B37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AF283E-DC65-4433-866E-AAD5ABA3BFB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7843FA9-C51D-4438-B5E8-330168DBA8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A3913C-AA54-4A6A-92D1-1AE4D17CE3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82B0B6-8B4F-4B39-BB41-808882760A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921EB6-AC5D-4D04-B9E2-6452A95FC2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9C0B93-1A4F-4C4C-86F8-1D647D2764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2dabe55c4840b3" /><Relationship Type="http://schemas.openxmlformats.org/officeDocument/2006/relationships/slideLayout" Target="/ppt/slideLayouts/slideLayout1.xml" Id="Rd333ed4047354d72" /><Relationship Type="http://schemas.openxmlformats.org/officeDocument/2006/relationships/slideLayout" Target="/ppt/slideLayouts/slideLayout2.xml" Id="R0263a0fd34144ebe" /><Relationship Type="http://schemas.openxmlformats.org/officeDocument/2006/relationships/slideLayout" Target="/ppt/slideLayouts/slideLayout3.xml" Id="Ra5016a7125064813" /><Relationship Type="http://schemas.openxmlformats.org/officeDocument/2006/relationships/slideLayout" Target="/ppt/slideLayouts/slideLayout4.xml" Id="R42af3a3dde4c4a72" /><Relationship Type="http://schemas.openxmlformats.org/officeDocument/2006/relationships/slideLayout" Target="/ppt/slideLayouts/slideLayout5.xml" Id="Rdc9b2fd007b54dd9" /><Relationship Type="http://schemas.openxmlformats.org/officeDocument/2006/relationships/slideLayout" Target="/ppt/slideLayouts/slideLayout6.xml" Id="Rd50bf0ef06784c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33ed4047354d72"/>
    <p:sldLayoutId xmlns:r="http://schemas.openxmlformats.org/officeDocument/2006/relationships" id="2147483650" r:id="R0263a0fd34144ebe"/>
    <p:sldLayoutId xmlns:r="http://schemas.openxmlformats.org/officeDocument/2006/relationships" id="2147483651" r:id="Ra5016a7125064813"/>
    <p:sldLayoutId xmlns:r="http://schemas.openxmlformats.org/officeDocument/2006/relationships" id="2147483652" r:id="R42af3a3dde4c4a72"/>
    <p:sldLayoutId xmlns:r="http://schemas.openxmlformats.org/officeDocument/2006/relationships" id="2147483653" r:id="Rdc9b2fd007b54dd9"/>
    <p:sldLayoutId xmlns:r="http://schemas.openxmlformats.org/officeDocument/2006/relationships" id="2147483654" r:id="Rd50bf0ef06784c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9738d758eba4164" /><Relationship Type="http://schemas.openxmlformats.org/officeDocument/2006/relationships/image" Target="/ppt/media/image.png" Id="R2d349a9d743b46c1" /><Relationship Type="http://schemas.openxmlformats.org/officeDocument/2006/relationships/notesSlide" Target="/ppt/notesSlides/notesSlide1.xml" Id="R39c51cdcb66043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cfb4f0d83c44b6" /><Relationship Type="http://schemas.openxmlformats.org/officeDocument/2006/relationships/notesSlide" Target="/ppt/notesSlides/notesSlide2.xml" Id="R4a0a3fb661eb44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8502f17d47847ba" /><Relationship Type="http://schemas.openxmlformats.org/officeDocument/2006/relationships/image" Target="/ppt/media/image.jpeg" Id="Rd10bf1ae89874277" /><Relationship Type="http://schemas.openxmlformats.org/officeDocument/2006/relationships/notesSlide" Target="/ppt/notesSlides/notesSlide3.xml" Id="Ra315a642777244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509af293d5a400a" /><Relationship Type="http://schemas.openxmlformats.org/officeDocument/2006/relationships/notesSlide" Target="/ppt/notesSlides/notesSlide4.xml" Id="R1e68c3dbae974d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cb3dd17e5c43e1" /><Relationship Type="http://schemas.openxmlformats.org/officeDocument/2006/relationships/notesSlide" Target="/ppt/notesSlides/notesSlide5.xml" Id="R0266cce9cdae48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bfb90136ba84b74" /><Relationship Type="http://schemas.openxmlformats.org/officeDocument/2006/relationships/notesSlide" Target="/ppt/notesSlides/notesSlide6.xml" Id="R024a24ee8cb54e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0651ebc0e7847f9" /><Relationship Type="http://schemas.openxmlformats.org/officeDocument/2006/relationships/notesSlide" Target="/ppt/notesSlides/notesSlide7.xml" Id="R0f44a1e8f44546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19b9e9d59084fd5" /><Relationship Type="http://schemas.openxmlformats.org/officeDocument/2006/relationships/notesSlide" Target="/ppt/notesSlides/notesSlide8.xml" Id="R2ba0bc97b15d41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475d2d656a4eb9" /><Relationship Type="http://schemas.openxmlformats.org/officeDocument/2006/relationships/notesSlide" Target="/ppt/notesSlides/notesSlide9.xml" Id="R2392bc65adbb45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2227af9af9b45bf" /><Relationship Type="http://schemas.openxmlformats.org/officeDocument/2006/relationships/notesSlide" Target="/ppt/notesSlides/notesSlide10.xml" Id="R78b82b94f0bd4f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d80881122b94d3c" /><Relationship Type="http://schemas.openxmlformats.org/officeDocument/2006/relationships/image" Target="/ppt/media/image2.png" Id="R5d5048ac95354611" /><Relationship Type="http://schemas.openxmlformats.org/officeDocument/2006/relationships/notesSlide" Target="/ppt/notesSlides/notesSlide11.xml" Id="Rcf4a3b1460b049eb" /></Relationships>
</file>

<file path=ppt/slides/slide1.xml><?xml version="1.0" encoding="utf-8"?>
<p:sld xmlns:p="http://schemas.openxmlformats.org/presentationml/2006/main">
  <p:cSld>
    <p:bg>
      <p:bgPr>
        <a:solidFill xmlns:a="http://schemas.openxmlformats.org/drawingml/2006/main">
          <a:srgbClr val="11192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12D55D4-12C4-4C79-8DED-E79971B38056}"/>
              </a:ext>
            </a:extLst>
          </p:cNvPr>
          <p:cNvSpPr>
            <a:spLocks xmlns:a="http://schemas.openxmlformats.org/drawingml/2006/main" noGrp="1"/>
          </p:cNvSpPr>
          <p:nvPr/>
        </p:nvSpPr>
        <p:spPr>
          <a:xfrm xmlns:a="http://schemas.openxmlformats.org/drawingml/2006/main">
            <a:off x="514350" y="2381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7F121EB7-5779-4010-8B75-B5E2C9059B9F}"/>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6572B84F-42F3-4D53-AC2A-87FA1DC87706}"/>
              </a:ext>
            </a:extLst>
          </p:cNvPr>
          <p:cNvSpPr>
            <a:spLocks xmlns:a="http://schemas.openxmlformats.org/drawingml/2006/main" noGrp="1"/>
          </p:cNvSpPr>
          <p:nvPr/>
        </p:nvSpPr>
        <p:spPr>
          <a:xfrm xmlns:a="http://schemas.openxmlformats.org/drawingml/2006/main">
            <a:off x="1552575" y="2762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AEBBD0"/>
                </a:solidFill>
                <a:latin typeface="Calibri"/>
                <a:ea typeface="Calibri"/>
                <a:cs typeface="Calibri"/>
              </a:defRPr>
            </a:defPPr>
          </a:lstStyle>
          <a:p xmlns:a="http://schemas.openxmlformats.org/drawingml/2006/main">
            <a:pPr algn="l">
              <a:defRPr sz="900" b="0">
                <a:solidFill>
                  <a:srgbClr val="AEBBD0"/>
                </a:solidFill>
                <a:latin typeface="Calibri"/>
                <a:ea typeface="Calibri"/>
                <a:cs typeface="Calibri"/>
              </a:defRPr>
            </a:pPr>
            <a:r>
              <a:rPr sz="900" b="0">
                <a:solidFill>
                  <a:srgbClr val="AEBBD0"/>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B654989A-605B-40D5-BFAE-6D163B3AC1B5}"/>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AEBBD0"/>
                </a:solidFill>
                <a:latin typeface="Calibri"/>
                <a:ea typeface="Calibri"/>
                <a:cs typeface="Calibri"/>
              </a:defRPr>
            </a:defPPr>
          </a:lstStyle>
          <a:p xmlns:a="http://schemas.openxmlformats.org/drawingml/2006/main">
            <a:pPr algn="r">
              <a:defRPr sz="900" b="0">
                <a:solidFill>
                  <a:srgbClr val="AEBBD0"/>
                </a:solidFill>
                <a:latin typeface="Calibri"/>
                <a:ea typeface="Calibri"/>
                <a:cs typeface="Calibri"/>
              </a:defRPr>
            </a:pPr>
            <a:r>
              <a:rPr sz="900" b="0">
                <a:solidFill>
                  <a:srgbClr val="AEBBD0"/>
                </a:solidFill>
                <a:latin typeface="Calibri"/>
                <a:ea typeface="Calibri"/>
                <a:cs typeface="Calibri"/>
              </a:rPr>
              <a:t>01 / 11</a:t>
            </a:r>
          </a:p>
        </p:txBody>
      </p:sp>
      <p:sp>
        <p:nvSpPr>
          <p:cNvPr id="5" name="">
            <a:extLst xmlns:a="http://schemas.openxmlformats.org/drawingml/2006/main">
              <a:ext uri="{FF2B5EF4-FFF2-40B4-BE49-F238E27FC236}">
                <a16:creationId xmlns:a16="http://schemas.microsoft.com/office/drawing/2014/main" id="{4727B5C3-0DD3-4C54-8DF3-62CA39D70A1B}"/>
              </a:ext>
            </a:extLst>
          </p:cNvPr>
          <p:cNvSpPr>
            <a:spLocks xmlns:a="http://schemas.openxmlformats.org/drawingml/2006/main" noGrp="1"/>
          </p:cNvSpPr>
          <p:nvPr/>
        </p:nvSpPr>
        <p:spPr>
          <a:xfrm xmlns:a="http://schemas.openxmlformats.org/drawingml/2006/main">
            <a:off x="552450" y="1104900"/>
            <a:ext cx="3905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05"/>
          </a:bodyPr>
          <a:lstStyle xmlns:a="http://schemas.openxmlformats.org/drawingml/2006/main">
            <a:defPPr algn="l">
              <a:defRPr sz="5700" b="1">
                <a:solidFill>
                  <a:srgbClr val="FFFFFF"/>
                </a:solidFill>
                <a:latin typeface="Calibri"/>
                <a:ea typeface="Calibri"/>
                <a:cs typeface="Calibri"/>
              </a:defRPr>
            </a:defPPr>
          </a:lstStyle>
          <a:p xmlns:a="http://schemas.openxmlformats.org/drawingml/2006/main">
            <a:pPr algn="l">
              <a:defRPr sz="5700" b="1">
                <a:solidFill>
                  <a:srgbClr val="FFFFFF"/>
                </a:solidFill>
                <a:latin typeface="Calibri"/>
                <a:ea typeface="Calibri"/>
                <a:cs typeface="Calibri"/>
              </a:defRPr>
            </a:pPr>
            <a:r>
              <a:rPr sz="5700" b="1">
                <a:solidFill>
                  <a:srgbClr val="FFFFFF"/>
                </a:solidFill>
                <a:latin typeface="Calibri"/>
                <a:ea typeface="Calibri"/>
                <a:cs typeface="Calibri"/>
              </a:rPr>
              <a:t>FWD</a:t>
            </a:r>
          </a:p>
        </p:txBody>
      </p:sp>
      <p:sp>
        <p:nvSpPr>
          <p:cNvPr id="6" name="">
            <a:extLst xmlns:a="http://schemas.openxmlformats.org/drawingml/2006/main">
              <a:ext uri="{FF2B5EF4-FFF2-40B4-BE49-F238E27FC236}">
                <a16:creationId xmlns:a16="http://schemas.microsoft.com/office/drawing/2014/main" id="{F93EED4D-F707-4836-B2F0-C834582173B1}"/>
              </a:ext>
            </a:extLst>
          </p:cNvPr>
          <p:cNvSpPr>
            <a:spLocks xmlns:a="http://schemas.openxmlformats.org/drawingml/2006/main" noGrp="1"/>
          </p:cNvSpPr>
          <p:nvPr/>
        </p:nvSpPr>
        <p:spPr>
          <a:xfrm xmlns:a="http://schemas.openxmlformats.org/drawingml/2006/main">
            <a:off x="571500" y="2400300"/>
            <a:ext cx="4572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FFFFFF"/>
                </a:solidFill>
                <a:latin typeface="Calibri"/>
                <a:ea typeface="Calibri"/>
                <a:cs typeface="Calibri"/>
              </a:defRPr>
            </a:defPPr>
          </a:lstStyle>
          <a:p xmlns:a="http://schemas.openxmlformats.org/drawingml/2006/main">
            <a:pPr algn="l">
              <a:defRPr sz="2700" b="1">
                <a:solidFill>
                  <a:srgbClr val="FFFFFF"/>
                </a:solidFill>
                <a:latin typeface="Calibri"/>
                <a:ea typeface="Calibri"/>
                <a:cs typeface="Calibri"/>
              </a:defRPr>
            </a:pPr>
            <a:r>
              <a:rPr sz="2700" b="1">
                <a:solidFill>
                  <a:srgbClr val="FFFFFF"/>
                </a:solidFill>
                <a:latin typeface="Calibri"/>
                <a:ea typeface="Calibri"/>
                <a:cs typeface="Calibri"/>
              </a:rPr>
              <a:t>From customer evidence</a:t>
            </a:r>
          </a:p>
          <a:p xmlns:a="http://schemas.openxmlformats.org/drawingml/2006/main">
            <a:pPr algn="l">
              <a:defRPr sz="2700" b="1">
                <a:solidFill>
                  <a:srgbClr val="FFFFFF"/>
                </a:solidFill>
                <a:latin typeface="Calibri"/>
                <a:ea typeface="Calibri"/>
                <a:cs typeface="Calibri"/>
              </a:defRPr>
            </a:pPr>
            <a:r>
              <a:rPr sz="2700" b="1">
                <a:solidFill>
                  <a:srgbClr val="FFFFFF"/>
                </a:solidFill>
                <a:latin typeface="Calibri"/>
                <a:ea typeface="Calibri"/>
                <a:cs typeface="Calibri"/>
              </a:rPr>
              <a:t>to clear requirements.</a:t>
            </a:r>
          </a:p>
        </p:txBody>
      </p:sp>
      <p:sp>
        <p:nvSpPr>
          <p:cNvPr id="7" name="">
            <a:extLst xmlns:a="http://schemas.openxmlformats.org/drawingml/2006/main">
              <a:ext uri="{FF2B5EF4-FFF2-40B4-BE49-F238E27FC236}">
                <a16:creationId xmlns:a16="http://schemas.microsoft.com/office/drawing/2014/main" id="{3267920D-E838-484D-BEC3-69E0CC9AC160}"/>
              </a:ext>
            </a:extLst>
          </p:cNvPr>
          <p:cNvSpPr>
            <a:spLocks xmlns:a="http://schemas.openxmlformats.org/drawingml/2006/main" noGrp="1"/>
          </p:cNvSpPr>
          <p:nvPr/>
        </p:nvSpPr>
        <p:spPr>
          <a:xfrm xmlns:a="http://schemas.openxmlformats.org/drawingml/2006/main">
            <a:off x="590550" y="4038600"/>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C8D2E1"/>
                </a:solidFill>
                <a:latin typeface="Calibri"/>
                <a:ea typeface="Calibri"/>
                <a:cs typeface="Calibri"/>
              </a:defRPr>
            </a:defPPr>
          </a:lstStyle>
          <a:p xmlns:a="http://schemas.openxmlformats.org/drawingml/2006/main">
            <a:pPr algn="l">
              <a:defRPr sz="1650" b="0">
                <a:solidFill>
                  <a:srgbClr val="C8D2E1"/>
                </a:solidFill>
                <a:latin typeface="Calibri"/>
                <a:ea typeface="Calibri"/>
                <a:cs typeface="Calibri"/>
              </a:defRPr>
            </a:pPr>
            <a:r>
              <a:rPr sz="1650" b="0">
                <a:solidFill>
                  <a:srgbClr val="C8D2E1"/>
                </a:solidFill>
                <a:latin typeface="Calibri"/>
                <a:ea typeface="Calibri"/>
                <a:cs typeface="Calibri"/>
              </a:rPr>
              <a:t>Explainable proposals.</a:t>
            </a:r>
          </a:p>
          <a:p xmlns:a="http://schemas.openxmlformats.org/drawingml/2006/main">
            <a:pPr algn="l">
              <a:defRPr sz="1650" b="0">
                <a:solidFill>
                  <a:srgbClr val="C8D2E1"/>
                </a:solidFill>
                <a:latin typeface="Calibri"/>
                <a:ea typeface="Calibri"/>
                <a:cs typeface="Calibri"/>
              </a:defRPr>
            </a:pPr>
            <a:r>
              <a:rPr sz="1650" b="0">
                <a:solidFill>
                  <a:srgbClr val="C8D2E1"/>
                </a:solidFill>
                <a:latin typeface="Calibri"/>
                <a:ea typeface="Calibri"/>
                <a:cs typeface="Calibri"/>
              </a:rPr>
              <a:t>Product manager owns decision.</a:t>
            </a:r>
          </a:p>
        </p:txBody>
      </p:sp>
      <p:sp>
        <p:nvSpPr>
          <p:cNvPr id="8" name="">
            <a:extLst xmlns:a="http://schemas.openxmlformats.org/drawingml/2006/main">
              <a:ext uri="{FF2B5EF4-FFF2-40B4-BE49-F238E27FC236}">
                <a16:creationId xmlns:a16="http://schemas.microsoft.com/office/drawing/2014/main" id="{20618073-A348-4F78-8EBD-EB7511E3DE93}"/>
              </a:ext>
            </a:extLst>
          </p:cNvPr>
          <p:cNvSpPr>
            <a:spLocks xmlns:a="http://schemas.openxmlformats.org/drawingml/2006/main" noGrp="1"/>
          </p:cNvSpPr>
          <p:nvPr/>
        </p:nvSpPr>
        <p:spPr>
          <a:xfrm xmlns:a="http://schemas.openxmlformats.org/drawingml/2006/main">
            <a:off x="590550" y="5105400"/>
            <a:ext cx="133350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07CB241-B198-48E8-A983-30D92AD0AA0C}"/>
              </a:ext>
            </a:extLst>
          </p:cNvPr>
          <p:cNvSpPr>
            <a:spLocks xmlns:a="http://schemas.openxmlformats.org/drawingml/2006/main" noGrp="1"/>
          </p:cNvSpPr>
          <p:nvPr/>
        </p:nvSpPr>
        <p:spPr>
          <a:xfrm xmlns:a="http://schemas.openxmlformats.org/drawingml/2006/main">
            <a:off x="590550" y="53530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8D2E1"/>
                </a:solidFill>
                <a:latin typeface="Calibri"/>
                <a:ea typeface="Calibri"/>
                <a:cs typeface="Calibri"/>
              </a:defRPr>
            </a:defPPr>
          </a:lstStyle>
          <a:p xmlns:a="http://schemas.openxmlformats.org/drawingml/2006/main">
            <a:pPr algn="l">
              <a:defRPr sz="1050" b="1">
                <a:solidFill>
                  <a:srgbClr val="C8D2E1"/>
                </a:solidFill>
                <a:latin typeface="Calibri"/>
                <a:ea typeface="Calibri"/>
                <a:cs typeface="Calibri"/>
              </a:defRPr>
            </a:pPr>
            <a:r>
              <a:rPr sz="1050" b="1">
                <a:solidFill>
                  <a:srgbClr val="C8D2E1"/>
                </a:solidFill>
                <a:latin typeface="Calibri"/>
                <a:ea typeface="Calibri"/>
                <a:cs typeface="Calibri"/>
              </a:rPr>
              <a:t>BMW VEHICLE REQUIREMENTS CHALLENGE</a:t>
            </a:r>
          </a:p>
        </p:txBody>
      </p:sp>
      <p:pic>
        <p:nvPicPr>
          <p:cNvPr id="10" name="">
            <a:extLst xmlns:a="http://schemas.openxmlformats.org/drawingml/2006/main">
              <a:ext uri="{FF2B5EF4-FFF2-40B4-BE49-F238E27FC236}">
                <a16:creationId xmlns:a16="http://schemas.microsoft.com/office/drawing/2014/main" id="{7EB743B3-4085-4B5E-83F5-34E94DFAE56A}"/>
              </a:ext>
            </a:extLst>
          </p:cNvPr>
          <p:cNvPicPr>
            <a:picLocks xmlns:a="http://schemas.openxmlformats.org/drawingml/2006/main" noChangeAspect="1"/>
          </p:cNvPicPr>
          <p:nvPr/>
        </p:nvPicPr>
        <p:blipFill>
          <a:blip xmlns:r="http://schemas.openxmlformats.org/officeDocument/2006/relationships" xmlns:a="http://schemas.openxmlformats.org/drawingml/2006/main" r:embed="R2d349a9d743b46c1"/>
          <a:stretch xmlns:a="http://schemas.openxmlformats.org/drawingml/2006/main"/>
        </p:blipFill>
        <p:spPr>
          <a:xfrm xmlns:a="http://schemas.openxmlformats.org/drawingml/2006/main">
            <a:off x="4095750" y="1843751"/>
            <a:ext cx="7572375" cy="3456248"/>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4A1B146-333D-416B-90BA-5DDF4C693021}"/>
              </a:ext>
            </a:extLst>
          </p:cNvPr>
          <p:cNvSpPr>
            <a:spLocks xmlns:a="http://schemas.openxmlformats.org/drawingml/2006/main" noGrp="1"/>
          </p:cNvSpPr>
          <p:nvPr/>
        </p:nvSpPr>
        <p:spPr>
          <a:xfrm xmlns:a="http://schemas.openxmlformats.org/drawingml/2006/main">
            <a:off x="6715125" y="5810250"/>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AEBBD0"/>
                </a:solidFill>
                <a:latin typeface="Calibri"/>
                <a:ea typeface="Calibri"/>
                <a:cs typeface="Calibri"/>
              </a:defRPr>
            </a:defPPr>
          </a:lstStyle>
          <a:p xmlns:a="http://schemas.openxmlformats.org/drawingml/2006/main">
            <a:pPr algn="r">
              <a:defRPr sz="900" b="0">
                <a:solidFill>
                  <a:srgbClr val="AEBBD0"/>
                </a:solidFill>
                <a:latin typeface="Calibri"/>
                <a:ea typeface="Calibri"/>
                <a:cs typeface="Calibri"/>
              </a:defRPr>
            </a:pPr>
            <a:r>
              <a:rPr sz="900" b="0">
                <a:solidFill>
                  <a:srgbClr val="AEBBD0"/>
                </a:solidFill>
                <a:latin typeface="Calibri"/>
                <a:ea typeface="Calibri"/>
                <a:cs typeface="Calibri"/>
              </a:rPr>
              <a:t>Illustrative vehicle image; exact derivative not verified.</a:t>
            </a:r>
          </a:p>
        </p:txBody>
      </p:sp>
    </p:spTree>
    <p:extLst>
      <p:ext uri="{BB962C8B-B14F-4D97-AF65-F5344CB8AC3E}">
        <p14:creationId xmlns:p14="http://schemas.microsoft.com/office/powerpoint/2010/main" val="684716434"/>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9AE5228-B2F7-4874-A041-45DD73A7D693}"/>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E53F99B7-0B10-44EA-BDB6-3A30E66F9C62}"/>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065C780D-C36C-4878-B42F-A9BFA7A1440D}"/>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F59C1CD8-48AF-46D9-A8B1-78CAB0FC80DB}"/>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CHALLENGE</a:t>
            </a:r>
          </a:p>
        </p:txBody>
      </p:sp>
      <p:sp>
        <p:nvSpPr>
          <p:cNvPr id="5" name="">
            <a:extLst xmlns:a="http://schemas.openxmlformats.org/drawingml/2006/main">
              <a:ext uri="{FF2B5EF4-FFF2-40B4-BE49-F238E27FC236}">
                <a16:creationId xmlns:a16="http://schemas.microsoft.com/office/drawing/2014/main" id="{5DF434B8-AD30-4DC2-930A-380633B91480}"/>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G60 complaint. Three possible needs.</a:t>
            </a:r>
          </a:p>
        </p:txBody>
      </p:sp>
      <p:sp>
        <p:nvSpPr>
          <p:cNvPr id="6" name="">
            <a:extLst xmlns:a="http://schemas.openxmlformats.org/drawingml/2006/main">
              <a:ext uri="{FF2B5EF4-FFF2-40B4-BE49-F238E27FC236}">
                <a16:creationId xmlns:a16="http://schemas.microsoft.com/office/drawing/2014/main" id="{F9730712-C89C-4707-ADFB-C2A656BDCD33}"/>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02 / 11</a:t>
            </a:r>
          </a:p>
        </p:txBody>
      </p:sp>
      <p:sp>
        <p:nvSpPr>
          <p:cNvPr id="7" name="">
            <a:extLst xmlns:a="http://schemas.openxmlformats.org/drawingml/2006/main">
              <a:ext uri="{FF2B5EF4-FFF2-40B4-BE49-F238E27FC236}">
                <a16:creationId xmlns:a16="http://schemas.microsoft.com/office/drawing/2014/main" id="{B6A8381E-75F0-4518-8668-318EA8F9B476}"/>
              </a:ext>
            </a:extLst>
          </p:cNvPr>
          <p:cNvSpPr>
            <a:spLocks xmlns:a="http://schemas.openxmlformats.org/drawingml/2006/main" noGrp="1"/>
          </p:cNvSpPr>
          <p:nvPr/>
        </p:nvSpPr>
        <p:spPr>
          <a:xfrm xmlns:a="http://schemas.openxmlformats.org/drawingml/2006/main">
            <a:off x="552450" y="18097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Check feedback against study, equipment and market evidence.</a:t>
            </a:r>
          </a:p>
        </p:txBody>
      </p:sp>
      <p:sp>
        <p:nvSpPr>
          <p:cNvPr id="8" name="">
            <a:extLst xmlns:a="http://schemas.openxmlformats.org/drawingml/2006/main">
              <a:ext uri="{FF2B5EF4-FFF2-40B4-BE49-F238E27FC236}">
                <a16:creationId xmlns:a16="http://schemas.microsoft.com/office/drawing/2014/main" id="{B33551DE-2A65-4CDD-9610-F7554BB53F78}"/>
              </a:ext>
            </a:extLst>
          </p:cNvPr>
          <p:cNvSpPr>
            <a:spLocks xmlns:a="http://schemas.openxmlformats.org/drawingml/2006/main" noGrp="1"/>
          </p:cNvSpPr>
          <p:nvPr/>
        </p:nvSpPr>
        <p:spPr>
          <a:xfrm xmlns:a="http://schemas.openxmlformats.org/drawingml/2006/main">
            <a:off x="552450" y="2428875"/>
            <a:ext cx="2647950" cy="13525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9" name="">
            <a:extLst xmlns:a="http://schemas.openxmlformats.org/drawingml/2006/main">
              <a:ext uri="{FF2B5EF4-FFF2-40B4-BE49-F238E27FC236}">
                <a16:creationId xmlns:a16="http://schemas.microsoft.com/office/drawing/2014/main" id="{7FA2CF37-2412-426C-AAFA-673AC31BAF10}"/>
              </a:ext>
            </a:extLst>
          </p:cNvPr>
          <p:cNvSpPr>
            <a:spLocks xmlns:a="http://schemas.openxmlformats.org/drawingml/2006/main" noGrp="1"/>
          </p:cNvSpPr>
          <p:nvPr/>
        </p:nvSpPr>
        <p:spPr>
          <a:xfrm xmlns:a="http://schemas.openxmlformats.org/drawingml/2006/main">
            <a:off x="552450" y="2428875"/>
            <a:ext cx="26479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1EDD75-C824-42F5-B109-73F9CF7D6DBF}"/>
              </a:ext>
            </a:extLst>
          </p:cNvPr>
          <p:cNvSpPr>
            <a:spLocks xmlns:a="http://schemas.openxmlformats.org/drawingml/2006/main" noGrp="1"/>
          </p:cNvSpPr>
          <p:nvPr/>
        </p:nvSpPr>
        <p:spPr>
          <a:xfrm xmlns:a="http://schemas.openxmlformats.org/drawingml/2006/main">
            <a:off x="723900" y="2676525"/>
            <a:ext cx="2305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72131"/>
                </a:solidFill>
                <a:latin typeface="Calibri"/>
                <a:ea typeface="Calibri"/>
                <a:cs typeface="Calibri"/>
              </a:defRPr>
            </a:defPPr>
          </a:lstStyle>
          <a:p xmlns:a="http://schemas.openxmlformats.org/drawingml/2006/main">
            <a:pPr algn="l">
              <a:defRPr sz="1200" b="1">
                <a:solidFill>
                  <a:srgbClr val="172131"/>
                </a:solidFill>
                <a:latin typeface="Calibri"/>
                <a:ea typeface="Calibri"/>
                <a:cs typeface="Calibri"/>
              </a:defRPr>
            </a:pPr>
            <a:r>
              <a:rPr sz="1200" b="1">
                <a:solidFill>
                  <a:srgbClr val="172131"/>
                </a:solidFill>
                <a:latin typeface="Calibri"/>
                <a:ea typeface="Calibri"/>
                <a:cs typeface="Calibri"/>
              </a:rPr>
              <a:t>CUSTOMER FEEDBACK</a:t>
            </a:r>
          </a:p>
        </p:txBody>
      </p:sp>
      <p:sp>
        <p:nvSpPr>
          <p:cNvPr id="11" name="">
            <a:extLst xmlns:a="http://schemas.openxmlformats.org/drawingml/2006/main">
              <a:ext uri="{FF2B5EF4-FFF2-40B4-BE49-F238E27FC236}">
                <a16:creationId xmlns:a16="http://schemas.microsoft.com/office/drawing/2014/main" id="{7AE2ECE2-0DA9-4BCA-9CA2-2945A23B4688}"/>
              </a:ext>
            </a:extLst>
          </p:cNvPr>
          <p:cNvSpPr>
            <a:spLocks xmlns:a="http://schemas.openxmlformats.org/drawingml/2006/main" noGrp="1"/>
          </p:cNvSpPr>
          <p:nvPr/>
        </p:nvSpPr>
        <p:spPr>
          <a:xfrm xmlns:a="http://schemas.openxmlformats.org/drawingml/2006/main">
            <a:off x="723900" y="3076575"/>
            <a:ext cx="2305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G60 source row</a:t>
            </a:r>
          </a:p>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Exact complaint and locator</a:t>
            </a:r>
          </a:p>
        </p:txBody>
      </p:sp>
      <p:sp>
        <p:nvSpPr>
          <p:cNvPr id="12" name="">
            <a:extLst xmlns:a="http://schemas.openxmlformats.org/drawingml/2006/main">
              <a:ext uri="{FF2B5EF4-FFF2-40B4-BE49-F238E27FC236}">
                <a16:creationId xmlns:a16="http://schemas.microsoft.com/office/drawing/2014/main" id="{D6E2C830-6C96-4ABB-B949-2739DAC58C98}"/>
              </a:ext>
            </a:extLst>
          </p:cNvPr>
          <p:cNvSpPr>
            <a:spLocks xmlns:a="http://schemas.openxmlformats.org/drawingml/2006/main" noGrp="1"/>
          </p:cNvSpPr>
          <p:nvPr/>
        </p:nvSpPr>
        <p:spPr>
          <a:xfrm xmlns:a="http://schemas.openxmlformats.org/drawingml/2006/main">
            <a:off x="3371850" y="2428875"/>
            <a:ext cx="2647950" cy="13525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3" name="">
            <a:extLst xmlns:a="http://schemas.openxmlformats.org/drawingml/2006/main">
              <a:ext uri="{FF2B5EF4-FFF2-40B4-BE49-F238E27FC236}">
                <a16:creationId xmlns:a16="http://schemas.microsoft.com/office/drawing/2014/main" id="{14CA06F7-0020-40C5-8B00-881F37A9C037}"/>
              </a:ext>
            </a:extLst>
          </p:cNvPr>
          <p:cNvSpPr>
            <a:spLocks xmlns:a="http://schemas.openxmlformats.org/drawingml/2006/main" noGrp="1"/>
          </p:cNvSpPr>
          <p:nvPr/>
        </p:nvSpPr>
        <p:spPr>
          <a:xfrm xmlns:a="http://schemas.openxmlformats.org/drawingml/2006/main">
            <a:off x="3371850" y="2428875"/>
            <a:ext cx="26479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CCD0E55-1BE2-4EE3-AE28-081E54B87CB3}"/>
              </a:ext>
            </a:extLst>
          </p:cNvPr>
          <p:cNvSpPr>
            <a:spLocks xmlns:a="http://schemas.openxmlformats.org/drawingml/2006/main" noGrp="1"/>
          </p:cNvSpPr>
          <p:nvPr/>
        </p:nvSpPr>
        <p:spPr>
          <a:xfrm xmlns:a="http://schemas.openxmlformats.org/drawingml/2006/main">
            <a:off x="3543300" y="2676525"/>
            <a:ext cx="2305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72131"/>
                </a:solidFill>
                <a:latin typeface="Calibri"/>
                <a:ea typeface="Calibri"/>
                <a:cs typeface="Calibri"/>
              </a:defRPr>
            </a:defPPr>
          </a:lstStyle>
          <a:p xmlns:a="http://schemas.openxmlformats.org/drawingml/2006/main">
            <a:pPr algn="l">
              <a:defRPr sz="1200" b="1">
                <a:solidFill>
                  <a:srgbClr val="172131"/>
                </a:solidFill>
                <a:latin typeface="Calibri"/>
                <a:ea typeface="Calibri"/>
                <a:cs typeface="Calibri"/>
              </a:defRPr>
            </a:pPr>
            <a:r>
              <a:rPr sz="1200" b="1">
                <a:solidFill>
                  <a:srgbClr val="172131"/>
                </a:solidFill>
                <a:latin typeface="Calibri"/>
                <a:ea typeface="Calibri"/>
                <a:cs typeface="Calibri"/>
              </a:rPr>
              <a:t>CUSTOMER STUDY</a:t>
            </a:r>
          </a:p>
        </p:txBody>
      </p:sp>
      <p:sp>
        <p:nvSpPr>
          <p:cNvPr id="15" name="">
            <a:extLst xmlns:a="http://schemas.openxmlformats.org/drawingml/2006/main">
              <a:ext uri="{FF2B5EF4-FFF2-40B4-BE49-F238E27FC236}">
                <a16:creationId xmlns:a16="http://schemas.microsoft.com/office/drawing/2014/main" id="{D2EFF9BB-1204-4061-AB97-4258F19880DF}"/>
              </a:ext>
            </a:extLst>
          </p:cNvPr>
          <p:cNvSpPr>
            <a:spLocks xmlns:a="http://schemas.openxmlformats.org/drawingml/2006/main" noGrp="1"/>
          </p:cNvSpPr>
          <p:nvPr/>
        </p:nvSpPr>
        <p:spPr>
          <a:xfrm xmlns:a="http://schemas.openxmlformats.org/drawingml/2006/main">
            <a:off x="3543300" y="3076575"/>
            <a:ext cx="2305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US 2025 workbook</a:t>
            </a:r>
          </a:p>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G60 included</a:t>
            </a:r>
          </a:p>
        </p:txBody>
      </p:sp>
      <p:sp>
        <p:nvSpPr>
          <p:cNvPr id="16" name="">
            <a:extLst xmlns:a="http://schemas.openxmlformats.org/drawingml/2006/main">
              <a:ext uri="{FF2B5EF4-FFF2-40B4-BE49-F238E27FC236}">
                <a16:creationId xmlns:a16="http://schemas.microsoft.com/office/drawing/2014/main" id="{980C69EC-1289-425C-9B14-7B652C7FF4F7}"/>
              </a:ext>
            </a:extLst>
          </p:cNvPr>
          <p:cNvSpPr>
            <a:spLocks xmlns:a="http://schemas.openxmlformats.org/drawingml/2006/main" noGrp="1"/>
          </p:cNvSpPr>
          <p:nvPr/>
        </p:nvSpPr>
        <p:spPr>
          <a:xfrm xmlns:a="http://schemas.openxmlformats.org/drawingml/2006/main">
            <a:off x="6191250" y="2428875"/>
            <a:ext cx="2647950" cy="13525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7" name="">
            <a:extLst xmlns:a="http://schemas.openxmlformats.org/drawingml/2006/main">
              <a:ext uri="{FF2B5EF4-FFF2-40B4-BE49-F238E27FC236}">
                <a16:creationId xmlns:a16="http://schemas.microsoft.com/office/drawing/2014/main" id="{7C4EDACB-9273-4423-A373-09E34B072226}"/>
              </a:ext>
            </a:extLst>
          </p:cNvPr>
          <p:cNvSpPr>
            <a:spLocks xmlns:a="http://schemas.openxmlformats.org/drawingml/2006/main" noGrp="1"/>
          </p:cNvSpPr>
          <p:nvPr/>
        </p:nvSpPr>
        <p:spPr>
          <a:xfrm xmlns:a="http://schemas.openxmlformats.org/drawingml/2006/main">
            <a:off x="6191250" y="2428875"/>
            <a:ext cx="26479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68FEDDC-4755-4349-BD93-26127CF1793F}"/>
              </a:ext>
            </a:extLst>
          </p:cNvPr>
          <p:cNvSpPr>
            <a:spLocks xmlns:a="http://schemas.openxmlformats.org/drawingml/2006/main" noGrp="1"/>
          </p:cNvSpPr>
          <p:nvPr/>
        </p:nvSpPr>
        <p:spPr>
          <a:xfrm xmlns:a="http://schemas.openxmlformats.org/drawingml/2006/main">
            <a:off x="6362700" y="2676525"/>
            <a:ext cx="2305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72131"/>
                </a:solidFill>
                <a:latin typeface="Calibri"/>
                <a:ea typeface="Calibri"/>
                <a:cs typeface="Calibri"/>
              </a:defRPr>
            </a:defPPr>
          </a:lstStyle>
          <a:p xmlns:a="http://schemas.openxmlformats.org/drawingml/2006/main">
            <a:pPr algn="l">
              <a:defRPr sz="1200" b="1">
                <a:solidFill>
                  <a:srgbClr val="172131"/>
                </a:solidFill>
                <a:latin typeface="Calibri"/>
                <a:ea typeface="Calibri"/>
                <a:cs typeface="Calibri"/>
              </a:defRPr>
            </a:pPr>
            <a:r>
              <a:rPr sz="1200" b="1">
                <a:solidFill>
                  <a:srgbClr val="172131"/>
                </a:solidFill>
                <a:latin typeface="Calibri"/>
                <a:ea typeface="Calibri"/>
                <a:cs typeface="Calibri"/>
              </a:rPr>
              <a:t>VEHICLE BASELINE</a:t>
            </a:r>
          </a:p>
        </p:txBody>
      </p:sp>
      <p:sp>
        <p:nvSpPr>
          <p:cNvPr id="19" name="">
            <a:extLst xmlns:a="http://schemas.openxmlformats.org/drawingml/2006/main">
              <a:ext uri="{FF2B5EF4-FFF2-40B4-BE49-F238E27FC236}">
                <a16:creationId xmlns:a16="http://schemas.microsoft.com/office/drawing/2014/main" id="{11A1662E-3578-4B64-BA3A-D85151A1FA54}"/>
              </a:ext>
            </a:extLst>
          </p:cNvPr>
          <p:cNvSpPr>
            <a:spLocks xmlns:a="http://schemas.openxmlformats.org/drawingml/2006/main" noGrp="1"/>
          </p:cNvSpPr>
          <p:nvPr/>
        </p:nvSpPr>
        <p:spPr>
          <a:xfrm xmlns:a="http://schemas.openxmlformats.org/drawingml/2006/main">
            <a:off x="6362700" y="3076575"/>
            <a:ext cx="2305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G60 option list</a:t>
            </a:r>
          </a:p>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US trim fit still open</a:t>
            </a:r>
          </a:p>
        </p:txBody>
      </p:sp>
      <p:sp>
        <p:nvSpPr>
          <p:cNvPr id="20" name="">
            <a:extLst xmlns:a="http://schemas.openxmlformats.org/drawingml/2006/main">
              <a:ext uri="{FF2B5EF4-FFF2-40B4-BE49-F238E27FC236}">
                <a16:creationId xmlns:a16="http://schemas.microsoft.com/office/drawing/2014/main" id="{B21204AF-867B-47C3-B746-BDE22852C25A}"/>
              </a:ext>
            </a:extLst>
          </p:cNvPr>
          <p:cNvSpPr>
            <a:spLocks xmlns:a="http://schemas.openxmlformats.org/drawingml/2006/main" noGrp="1"/>
          </p:cNvSpPr>
          <p:nvPr/>
        </p:nvSpPr>
        <p:spPr>
          <a:xfrm xmlns:a="http://schemas.openxmlformats.org/drawingml/2006/main">
            <a:off x="9010650" y="2428875"/>
            <a:ext cx="2647950" cy="13525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21" name="">
            <a:extLst xmlns:a="http://schemas.openxmlformats.org/drawingml/2006/main">
              <a:ext uri="{FF2B5EF4-FFF2-40B4-BE49-F238E27FC236}">
                <a16:creationId xmlns:a16="http://schemas.microsoft.com/office/drawing/2014/main" id="{88C15843-F70D-4CD5-A1E0-6BEEAF5D6054}"/>
              </a:ext>
            </a:extLst>
          </p:cNvPr>
          <p:cNvSpPr>
            <a:spLocks xmlns:a="http://schemas.openxmlformats.org/drawingml/2006/main" noGrp="1"/>
          </p:cNvSpPr>
          <p:nvPr/>
        </p:nvSpPr>
        <p:spPr>
          <a:xfrm xmlns:a="http://schemas.openxmlformats.org/drawingml/2006/main">
            <a:off x="9010650" y="2428875"/>
            <a:ext cx="26479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87CBD59-04C5-4ADF-AE3B-48AFEA007765}"/>
              </a:ext>
            </a:extLst>
          </p:cNvPr>
          <p:cNvSpPr>
            <a:spLocks xmlns:a="http://schemas.openxmlformats.org/drawingml/2006/main" noGrp="1"/>
          </p:cNvSpPr>
          <p:nvPr/>
        </p:nvSpPr>
        <p:spPr>
          <a:xfrm xmlns:a="http://schemas.openxmlformats.org/drawingml/2006/main">
            <a:off x="9182100" y="2676525"/>
            <a:ext cx="2305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72131"/>
                </a:solidFill>
                <a:latin typeface="Calibri"/>
                <a:ea typeface="Calibri"/>
                <a:cs typeface="Calibri"/>
              </a:defRPr>
            </a:defPPr>
          </a:lstStyle>
          <a:p xmlns:a="http://schemas.openxmlformats.org/drawingml/2006/main">
            <a:pPr algn="l">
              <a:defRPr sz="1200" b="1">
                <a:solidFill>
                  <a:srgbClr val="172131"/>
                </a:solidFill>
                <a:latin typeface="Calibri"/>
                <a:ea typeface="Calibri"/>
                <a:cs typeface="Calibri"/>
              </a:defRPr>
            </a:pPr>
            <a:r>
              <a:rPr sz="1200" b="1">
                <a:solidFill>
                  <a:srgbClr val="172131"/>
                </a:solidFill>
                <a:latin typeface="Calibri"/>
                <a:ea typeface="Calibri"/>
                <a:cs typeface="Calibri"/>
              </a:rPr>
              <a:t>MARKET CONTEXT</a:t>
            </a:r>
          </a:p>
        </p:txBody>
      </p:sp>
      <p:sp>
        <p:nvSpPr>
          <p:cNvPr id="23" name="">
            <a:extLst xmlns:a="http://schemas.openxmlformats.org/drawingml/2006/main">
              <a:ext uri="{FF2B5EF4-FFF2-40B4-BE49-F238E27FC236}">
                <a16:creationId xmlns:a16="http://schemas.microsoft.com/office/drawing/2014/main" id="{CF10C65C-A983-4B77-9473-E4534367EB10}"/>
              </a:ext>
            </a:extLst>
          </p:cNvPr>
          <p:cNvSpPr>
            <a:spLocks xmlns:a="http://schemas.openxmlformats.org/drawingml/2006/main" noGrp="1"/>
          </p:cNvSpPr>
          <p:nvPr/>
        </p:nvSpPr>
        <p:spPr>
          <a:xfrm xmlns:a="http://schemas.openxmlformats.org/drawingml/2006/main">
            <a:off x="9182100" y="3076575"/>
            <a:ext cx="2305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US feedback sample</a:t>
            </a:r>
          </a:p>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Exact derivative unresolved</a:t>
            </a:r>
          </a:p>
        </p:txBody>
      </p:sp>
      <p:sp>
        <p:nvSpPr>
          <p:cNvPr id="24" name="">
            <a:extLst xmlns:a="http://schemas.openxmlformats.org/drawingml/2006/main">
              <a:ext uri="{FF2B5EF4-FFF2-40B4-BE49-F238E27FC236}">
                <a16:creationId xmlns:a16="http://schemas.microsoft.com/office/drawing/2014/main" id="{9B084329-0EDC-4BC7-939E-FC1A7D9E5BF1}"/>
              </a:ext>
            </a:extLst>
          </p:cNvPr>
          <p:cNvSpPr>
            <a:spLocks xmlns:a="http://schemas.openxmlformats.org/drawingml/2006/main" noGrp="1"/>
          </p:cNvSpPr>
          <p:nvPr/>
        </p:nvSpPr>
        <p:spPr>
          <a:xfrm xmlns:a="http://schemas.openxmlformats.org/drawingml/2006/main">
            <a:off x="571500" y="41433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2131"/>
                </a:solidFill>
                <a:latin typeface="Calibri"/>
                <a:ea typeface="Calibri"/>
                <a:cs typeface="Calibri"/>
              </a:defRPr>
            </a:defPPr>
          </a:lstStyle>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What needs to change?</a:t>
            </a:r>
          </a:p>
        </p:txBody>
      </p:sp>
      <p:sp>
        <p:nvSpPr>
          <p:cNvPr id="25" name="">
            <a:extLst xmlns:a="http://schemas.openxmlformats.org/drawingml/2006/main">
              <a:ext uri="{FF2B5EF4-FFF2-40B4-BE49-F238E27FC236}">
                <a16:creationId xmlns:a16="http://schemas.microsoft.com/office/drawing/2014/main" id="{CBB22881-DB0A-463F-B6D1-FDE4C5DF792F}"/>
              </a:ext>
            </a:extLst>
          </p:cNvPr>
          <p:cNvSpPr>
            <a:spLocks xmlns:a="http://schemas.openxmlformats.org/drawingml/2006/main" noGrp="1"/>
          </p:cNvSpPr>
          <p:nvPr/>
        </p:nvSpPr>
        <p:spPr>
          <a:xfrm xmlns:a="http://schemas.openxmlformats.org/drawingml/2006/main">
            <a:off x="571500" y="4667250"/>
            <a:ext cx="3486150" cy="8763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204FC2F-8D1E-49A3-BB37-714577E51A23}"/>
              </a:ext>
            </a:extLst>
          </p:cNvPr>
          <p:cNvSpPr>
            <a:spLocks xmlns:a="http://schemas.openxmlformats.org/drawingml/2006/main" noGrp="1"/>
          </p:cNvSpPr>
          <p:nvPr/>
        </p:nvSpPr>
        <p:spPr>
          <a:xfrm xmlns:a="http://schemas.openxmlformats.org/drawingml/2006/main">
            <a:off x="742950" y="48863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27" name="">
            <a:extLst xmlns:a="http://schemas.openxmlformats.org/drawingml/2006/main">
              <a:ext uri="{FF2B5EF4-FFF2-40B4-BE49-F238E27FC236}">
                <a16:creationId xmlns:a16="http://schemas.microsoft.com/office/drawing/2014/main" id="{E66AB06F-A694-44DC-AEFC-404AA0DC76D3}"/>
              </a:ext>
            </a:extLst>
          </p:cNvPr>
          <p:cNvSpPr>
            <a:spLocks xmlns:a="http://schemas.openxmlformats.org/drawingml/2006/main" noGrp="1"/>
          </p:cNvSpPr>
          <p:nvPr/>
        </p:nvSpPr>
        <p:spPr>
          <a:xfrm xmlns:a="http://schemas.openxmlformats.org/drawingml/2006/main">
            <a:off x="1238250" y="48101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Missing capability</a:t>
            </a:r>
          </a:p>
        </p:txBody>
      </p:sp>
      <p:sp>
        <p:nvSpPr>
          <p:cNvPr id="28" name="">
            <a:extLst xmlns:a="http://schemas.openxmlformats.org/drawingml/2006/main">
              <a:ext uri="{FF2B5EF4-FFF2-40B4-BE49-F238E27FC236}">
                <a16:creationId xmlns:a16="http://schemas.microsoft.com/office/drawing/2014/main" id="{2813D03D-F55D-48FA-9FC6-5D0BCA854F9A}"/>
              </a:ext>
            </a:extLst>
          </p:cNvPr>
          <p:cNvSpPr>
            <a:spLocks xmlns:a="http://schemas.openxmlformats.org/drawingml/2006/main" noGrp="1"/>
          </p:cNvSpPr>
          <p:nvPr/>
        </p:nvSpPr>
        <p:spPr>
          <a:xfrm xmlns:a="http://schemas.openxmlformats.org/drawingml/2006/main">
            <a:off x="1238250" y="51625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Add it</a:t>
            </a:r>
          </a:p>
        </p:txBody>
      </p:sp>
      <p:sp>
        <p:nvSpPr>
          <p:cNvPr id="29" name="">
            <a:extLst xmlns:a="http://schemas.openxmlformats.org/drawingml/2006/main">
              <a:ext uri="{FF2B5EF4-FFF2-40B4-BE49-F238E27FC236}">
                <a16:creationId xmlns:a16="http://schemas.microsoft.com/office/drawing/2014/main" id="{67F5CBD7-EA55-4827-B7B6-DC6FF3BD2B87}"/>
              </a:ext>
            </a:extLst>
          </p:cNvPr>
          <p:cNvSpPr>
            <a:spLocks xmlns:a="http://schemas.openxmlformats.org/drawingml/2006/main" noGrp="1"/>
          </p:cNvSpPr>
          <p:nvPr/>
        </p:nvSpPr>
        <p:spPr>
          <a:xfrm xmlns:a="http://schemas.openxmlformats.org/drawingml/2006/main">
            <a:off x="4248150" y="4667250"/>
            <a:ext cx="3486150" cy="8763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A1CC4CC-EA86-4978-B5F3-BB8778050F25}"/>
              </a:ext>
            </a:extLst>
          </p:cNvPr>
          <p:cNvSpPr>
            <a:spLocks xmlns:a="http://schemas.openxmlformats.org/drawingml/2006/main" noGrp="1"/>
          </p:cNvSpPr>
          <p:nvPr/>
        </p:nvSpPr>
        <p:spPr>
          <a:xfrm xmlns:a="http://schemas.openxmlformats.org/drawingml/2006/main">
            <a:off x="4419600" y="48863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31" name="">
            <a:extLst xmlns:a="http://schemas.openxmlformats.org/drawingml/2006/main">
              <a:ext uri="{FF2B5EF4-FFF2-40B4-BE49-F238E27FC236}">
                <a16:creationId xmlns:a16="http://schemas.microsoft.com/office/drawing/2014/main" id="{50A14853-A42B-4A5F-9D3B-FE3C57F99EBC}"/>
              </a:ext>
            </a:extLst>
          </p:cNvPr>
          <p:cNvSpPr>
            <a:spLocks xmlns:a="http://schemas.openxmlformats.org/drawingml/2006/main" noGrp="1"/>
          </p:cNvSpPr>
          <p:nvPr/>
        </p:nvSpPr>
        <p:spPr>
          <a:xfrm xmlns:a="http://schemas.openxmlformats.org/drawingml/2006/main">
            <a:off x="4914900" y="48101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Availability gap</a:t>
            </a:r>
          </a:p>
        </p:txBody>
      </p:sp>
      <p:sp>
        <p:nvSpPr>
          <p:cNvPr id="32" name="">
            <a:extLst xmlns:a="http://schemas.openxmlformats.org/drawingml/2006/main">
              <a:ext uri="{FF2B5EF4-FFF2-40B4-BE49-F238E27FC236}">
                <a16:creationId xmlns:a16="http://schemas.microsoft.com/office/drawing/2014/main" id="{81A6ADCE-CF5A-4469-81B8-504F73E0AB10}"/>
              </a:ext>
            </a:extLst>
          </p:cNvPr>
          <p:cNvSpPr>
            <a:spLocks xmlns:a="http://schemas.openxmlformats.org/drawingml/2006/main" noGrp="1"/>
          </p:cNvSpPr>
          <p:nvPr/>
        </p:nvSpPr>
        <p:spPr>
          <a:xfrm xmlns:a="http://schemas.openxmlformats.org/drawingml/2006/main">
            <a:off x="4914900" y="51625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Make it available</a:t>
            </a:r>
          </a:p>
        </p:txBody>
      </p:sp>
      <p:sp>
        <p:nvSpPr>
          <p:cNvPr id="33" name="">
            <a:extLst xmlns:a="http://schemas.openxmlformats.org/drawingml/2006/main">
              <a:ext uri="{FF2B5EF4-FFF2-40B4-BE49-F238E27FC236}">
                <a16:creationId xmlns:a16="http://schemas.microsoft.com/office/drawing/2014/main" id="{0948B186-E347-4BB6-AD1E-14F072E40884}"/>
              </a:ext>
            </a:extLst>
          </p:cNvPr>
          <p:cNvSpPr>
            <a:spLocks xmlns:a="http://schemas.openxmlformats.org/drawingml/2006/main" noGrp="1"/>
          </p:cNvSpPr>
          <p:nvPr/>
        </p:nvSpPr>
        <p:spPr>
          <a:xfrm xmlns:a="http://schemas.openxmlformats.org/drawingml/2006/main">
            <a:off x="7924800" y="4667250"/>
            <a:ext cx="3486150" cy="8763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7A23B4C-929E-40CF-8D3D-161F9B8C51F0}"/>
              </a:ext>
            </a:extLst>
          </p:cNvPr>
          <p:cNvSpPr>
            <a:spLocks xmlns:a="http://schemas.openxmlformats.org/drawingml/2006/main" noGrp="1"/>
          </p:cNvSpPr>
          <p:nvPr/>
        </p:nvSpPr>
        <p:spPr>
          <a:xfrm xmlns:a="http://schemas.openxmlformats.org/drawingml/2006/main">
            <a:off x="8096250" y="48863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35" name="">
            <a:extLst xmlns:a="http://schemas.openxmlformats.org/drawingml/2006/main">
              <a:ext uri="{FF2B5EF4-FFF2-40B4-BE49-F238E27FC236}">
                <a16:creationId xmlns:a16="http://schemas.microsoft.com/office/drawing/2014/main" id="{7C8C2506-335E-4725-BAA0-4C9AB5F1DE43}"/>
              </a:ext>
            </a:extLst>
          </p:cNvPr>
          <p:cNvSpPr>
            <a:spLocks xmlns:a="http://schemas.openxmlformats.org/drawingml/2006/main" noGrp="1"/>
          </p:cNvSpPr>
          <p:nvPr/>
        </p:nvSpPr>
        <p:spPr>
          <a:xfrm xmlns:a="http://schemas.openxmlformats.org/drawingml/2006/main">
            <a:off x="8591550" y="48101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Usability problem</a:t>
            </a:r>
          </a:p>
        </p:txBody>
      </p:sp>
      <p:sp>
        <p:nvSpPr>
          <p:cNvPr id="36" name="">
            <a:extLst xmlns:a="http://schemas.openxmlformats.org/drawingml/2006/main">
              <a:ext uri="{FF2B5EF4-FFF2-40B4-BE49-F238E27FC236}">
                <a16:creationId xmlns:a16="http://schemas.microsoft.com/office/drawing/2014/main" id="{BD06790C-2F2A-490A-AC78-37C1830815D7}"/>
              </a:ext>
            </a:extLst>
          </p:cNvPr>
          <p:cNvSpPr>
            <a:spLocks xmlns:a="http://schemas.openxmlformats.org/drawingml/2006/main" noGrp="1"/>
          </p:cNvSpPr>
          <p:nvPr/>
        </p:nvSpPr>
        <p:spPr>
          <a:xfrm xmlns:a="http://schemas.openxmlformats.org/drawingml/2006/main">
            <a:off x="8591550" y="51625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Make it easier to use</a:t>
            </a:r>
          </a:p>
        </p:txBody>
      </p:sp>
      <p:sp>
        <p:nvSpPr>
          <p:cNvPr id="37" name="">
            <a:extLst xmlns:a="http://schemas.openxmlformats.org/drawingml/2006/main">
              <a:ext uri="{FF2B5EF4-FFF2-40B4-BE49-F238E27FC236}">
                <a16:creationId xmlns:a16="http://schemas.microsoft.com/office/drawing/2014/main" id="{397E4782-35DB-4C82-9EC5-58FABCE302D4}"/>
              </a:ext>
            </a:extLst>
          </p:cNvPr>
          <p:cNvSpPr>
            <a:spLocks xmlns:a="http://schemas.openxmlformats.org/drawingml/2006/main" noGrp="1"/>
          </p:cNvSpPr>
          <p:nvPr/>
        </p:nvSpPr>
        <p:spPr>
          <a:xfrm xmlns:a="http://schemas.openxmlformats.org/drawingml/2006/main">
            <a:off x="571500" y="582930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This record points to usability. Feature availability still needs a matched US baseline.</a:t>
            </a:r>
          </a:p>
        </p:txBody>
      </p:sp>
    </p:spTree>
    <p:extLst>
      <p:ext uri="{BB962C8B-B14F-4D97-AF65-F5344CB8AC3E}">
        <p14:creationId xmlns:p14="http://schemas.microsoft.com/office/powerpoint/2010/main" val="846117944"/>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8873E42-30E0-40D7-A96A-B93BA3C9D8C7}"/>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1CE38FEC-4D4F-4272-96BA-45031FA802E8}"/>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CE55B538-EA93-4493-A638-8ECE50A7DE5B}"/>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A07C44E7-180C-411F-B8C1-C1B560F7D4A5}"/>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SOLUTION</a:t>
            </a:r>
          </a:p>
        </p:txBody>
      </p:sp>
      <p:sp>
        <p:nvSpPr>
          <p:cNvPr id="5" name="">
            <a:extLst xmlns:a="http://schemas.openxmlformats.org/drawingml/2006/main">
              <a:ext uri="{FF2B5EF4-FFF2-40B4-BE49-F238E27FC236}">
                <a16:creationId xmlns:a16="http://schemas.microsoft.com/office/drawing/2014/main" id="{24F794CD-06B1-44EA-A87B-36839B5C0B34}"/>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The evidence and proposal, together.</a:t>
            </a:r>
          </a:p>
        </p:txBody>
      </p:sp>
      <p:sp>
        <p:nvSpPr>
          <p:cNvPr id="6" name="">
            <a:extLst xmlns:a="http://schemas.openxmlformats.org/drawingml/2006/main">
              <a:ext uri="{FF2B5EF4-FFF2-40B4-BE49-F238E27FC236}">
                <a16:creationId xmlns:a16="http://schemas.microsoft.com/office/drawing/2014/main" id="{DC8ED874-D9FC-46D3-B95E-65CB03D64BCF}"/>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03 / 11</a:t>
            </a:r>
          </a:p>
        </p:txBody>
      </p:sp>
      <p:sp>
        <p:nvSpPr>
          <p:cNvPr id="7" name="">
            <a:extLst xmlns:a="http://schemas.openxmlformats.org/drawingml/2006/main">
              <a:ext uri="{FF2B5EF4-FFF2-40B4-BE49-F238E27FC236}">
                <a16:creationId xmlns:a16="http://schemas.microsoft.com/office/drawing/2014/main" id="{5B1A8051-C3D9-4D35-8EF7-906DB4B255A2}"/>
              </a:ext>
            </a:extLst>
          </p:cNvPr>
          <p:cNvSpPr>
            <a:spLocks xmlns:a="http://schemas.openxmlformats.org/drawingml/2006/main" noGrp="1"/>
          </p:cNvSpPr>
          <p:nvPr/>
        </p:nvSpPr>
        <p:spPr>
          <a:xfrm xmlns:a="http://schemas.openxmlformats.org/drawingml/2006/main">
            <a:off x="552450" y="1809750"/>
            <a:ext cx="866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B6B82"/>
                </a:solidFill>
                <a:latin typeface="Calibri"/>
                <a:ea typeface="Calibri"/>
                <a:cs typeface="Calibri"/>
              </a:defRPr>
            </a:defPPr>
          </a:lstStyle>
          <a:p xmlns:a="http://schemas.openxmlformats.org/drawingml/2006/main">
            <a:pPr algn="l">
              <a:defRPr sz="1575" b="0">
                <a:solidFill>
                  <a:srgbClr val="5B6B82"/>
                </a:solidFill>
                <a:latin typeface="Calibri"/>
                <a:ea typeface="Calibri"/>
                <a:cs typeface="Calibri"/>
              </a:defRPr>
            </a:pPr>
            <a:r>
              <a:rPr sz="1575" b="0">
                <a:solidFill>
                  <a:srgbClr val="5B6B82"/>
                </a:solidFill>
                <a:latin typeface="Calibri"/>
                <a:ea typeface="Calibri"/>
                <a:cs typeface="Calibri"/>
              </a:rPr>
              <a:t>One workspace connects findings, sources, review and decisions.</a:t>
            </a:r>
          </a:p>
        </p:txBody>
      </p:sp>
      <p:sp>
        <p:nvSpPr>
          <p:cNvPr id="8" name="">
            <a:extLst xmlns:a="http://schemas.openxmlformats.org/drawingml/2006/main">
              <a:ext uri="{FF2B5EF4-FFF2-40B4-BE49-F238E27FC236}">
                <a16:creationId xmlns:a16="http://schemas.microsoft.com/office/drawing/2014/main" id="{B2D46AA4-FAE6-4AC9-BFEB-09E25EDCDD54}"/>
              </a:ext>
            </a:extLst>
          </p:cNvPr>
          <p:cNvSpPr>
            <a:spLocks xmlns:a="http://schemas.openxmlformats.org/drawingml/2006/main" noGrp="1"/>
          </p:cNvSpPr>
          <p:nvPr/>
        </p:nvSpPr>
        <p:spPr>
          <a:xfrm xmlns:a="http://schemas.openxmlformats.org/drawingml/2006/main">
            <a:off x="552450" y="2305050"/>
            <a:ext cx="19621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61C9B40-E39A-4AF3-9E89-C84E79DAD46D}"/>
              </a:ext>
            </a:extLst>
          </p:cNvPr>
          <p:cNvSpPr>
            <a:spLocks xmlns:a="http://schemas.openxmlformats.org/drawingml/2006/main" noGrp="1"/>
          </p:cNvSpPr>
          <p:nvPr/>
        </p:nvSpPr>
        <p:spPr>
          <a:xfrm xmlns:a="http://schemas.openxmlformats.org/drawingml/2006/main">
            <a:off x="666750" y="2371725"/>
            <a:ext cx="1733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CURRENT PRODUCT UI</a:t>
            </a:r>
          </a:p>
        </p:txBody>
      </p:sp>
      <p:pic>
        <p:nvPicPr>
          <p:cNvPr id="10" name="">
            <a:extLst xmlns:a="http://schemas.openxmlformats.org/drawingml/2006/main">
              <a:ext uri="{FF2B5EF4-FFF2-40B4-BE49-F238E27FC236}">
                <a16:creationId xmlns:a16="http://schemas.microsoft.com/office/drawing/2014/main" id="{8E22443A-4315-46DF-A21F-8307D8738EAC}"/>
              </a:ext>
            </a:extLst>
          </p:cNvPr>
          <p:cNvPicPr>
            <a:picLocks xmlns:a="http://schemas.openxmlformats.org/drawingml/2006/main" noChangeAspect="1"/>
          </p:cNvPicPr>
          <p:nvPr/>
        </p:nvPicPr>
        <p:blipFill>
          <a:blip xmlns:r="http://schemas.openxmlformats.org/officeDocument/2006/relationships" xmlns:a="http://schemas.openxmlformats.org/drawingml/2006/main" r:embed="Rd10bf1ae89874277"/>
          <a:srcRect xmlns:a="http://schemas.openxmlformats.org/drawingml/2006/main" l="0" t="11033" r="0" b="11033"/>
          <a:stretch xmlns:a="http://schemas.openxmlformats.org/drawingml/2006/main">
            <a:fillRect l="0" t="0" r="0" b="0"/>
          </a:stretch>
        </p:blipFill>
        <p:spPr>
          <a:xfrm xmlns:a="http://schemas.openxmlformats.org/drawingml/2006/main">
            <a:off x="552450" y="2724150"/>
            <a:ext cx="7048500" cy="31908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08B249A-D5DA-4EC4-958A-8512A56B092F}"/>
              </a:ext>
            </a:extLst>
          </p:cNvPr>
          <p:cNvSpPr>
            <a:spLocks xmlns:a="http://schemas.openxmlformats.org/drawingml/2006/main" noGrp="1"/>
          </p:cNvSpPr>
          <p:nvPr/>
        </p:nvSpPr>
        <p:spPr>
          <a:xfrm xmlns:a="http://schemas.openxmlformats.org/drawingml/2006/main">
            <a:off x="552450" y="5915025"/>
            <a:ext cx="7048500" cy="285750"/>
          </a:xfrm>
          <a:prstGeom xmlns:a="http://schemas.openxmlformats.org/drawingml/2006/main" prst="rect">
            <a:avLst/>
          </a:prstGeom>
          <a:solidFill xmlns:a="http://schemas.openxmlformats.org/drawingml/2006/main">
            <a:srgbClr val="11192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78BF3D7-D3C3-4C80-8234-19C86B781602}"/>
              </a:ext>
            </a:extLst>
          </p:cNvPr>
          <p:cNvSpPr>
            <a:spLocks xmlns:a="http://schemas.openxmlformats.org/drawingml/2006/main" noGrp="1"/>
          </p:cNvSpPr>
          <p:nvPr/>
        </p:nvSpPr>
        <p:spPr>
          <a:xfrm xmlns:a="http://schemas.openxmlformats.org/drawingml/2006/main">
            <a:off x="704850" y="5981700"/>
            <a:ext cx="6762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FFFFFF"/>
                </a:solidFill>
                <a:latin typeface="Calibri"/>
                <a:ea typeface="Calibri"/>
                <a:cs typeface="Calibri"/>
              </a:defRPr>
            </a:defPPr>
          </a:lstStyle>
          <a:p xmlns:a="http://schemas.openxmlformats.org/drawingml/2006/main">
            <a:pPr algn="l">
              <a:defRPr sz="975" b="1">
                <a:solidFill>
                  <a:srgbClr val="FFFFFF"/>
                </a:solidFill>
                <a:latin typeface="Calibri"/>
                <a:ea typeface="Calibri"/>
                <a:cs typeface="Calibri"/>
              </a:defRPr>
            </a:pPr>
            <a:r>
              <a:rPr sz="975" b="1">
                <a:solidFill>
                  <a:srgbClr val="FFFFFF"/>
                </a:solidFill>
                <a:latin typeface="Calibri"/>
                <a:ea typeface="Calibri"/>
                <a:cs typeface="Calibri"/>
              </a:rPr>
              <a:t>Prototype screen shown with synthetic fixture content.</a:t>
            </a:r>
          </a:p>
        </p:txBody>
      </p:sp>
      <p:sp>
        <p:nvSpPr>
          <p:cNvPr id="13" name="">
            <a:extLst xmlns:a="http://schemas.openxmlformats.org/drawingml/2006/main">
              <a:ext uri="{FF2B5EF4-FFF2-40B4-BE49-F238E27FC236}">
                <a16:creationId xmlns:a16="http://schemas.microsoft.com/office/drawing/2014/main" id="{9A687308-FB43-4847-945D-5081A66355D8}"/>
              </a:ext>
            </a:extLst>
          </p:cNvPr>
          <p:cNvSpPr>
            <a:spLocks xmlns:a="http://schemas.openxmlformats.org/drawingml/2006/main" noGrp="1"/>
          </p:cNvSpPr>
          <p:nvPr/>
        </p:nvSpPr>
        <p:spPr>
          <a:xfrm xmlns:a="http://schemas.openxmlformats.org/drawingml/2006/main">
            <a:off x="8096250" y="23812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IN ONE WORKSPACE</a:t>
            </a:r>
          </a:p>
        </p:txBody>
      </p:sp>
      <p:sp>
        <p:nvSpPr>
          <p:cNvPr id="14" name="">
            <a:extLst xmlns:a="http://schemas.openxmlformats.org/drawingml/2006/main">
              <a:ext uri="{FF2B5EF4-FFF2-40B4-BE49-F238E27FC236}">
                <a16:creationId xmlns:a16="http://schemas.microsoft.com/office/drawing/2014/main" id="{7BD41F22-7CAB-4446-B8A0-AEBCA5ECDB64}"/>
              </a:ext>
            </a:extLst>
          </p:cNvPr>
          <p:cNvSpPr>
            <a:spLocks xmlns:a="http://schemas.openxmlformats.org/drawingml/2006/main" noGrp="1"/>
          </p:cNvSpPr>
          <p:nvPr/>
        </p:nvSpPr>
        <p:spPr>
          <a:xfrm xmlns:a="http://schemas.openxmlformats.org/drawingml/2006/main">
            <a:off x="8096250" y="278130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5" name="">
            <a:extLst xmlns:a="http://schemas.openxmlformats.org/drawingml/2006/main">
              <a:ext uri="{FF2B5EF4-FFF2-40B4-BE49-F238E27FC236}">
                <a16:creationId xmlns:a16="http://schemas.microsoft.com/office/drawing/2014/main" id="{3EA188B4-4204-43E8-8A5C-867032FC10F1}"/>
              </a:ext>
            </a:extLst>
          </p:cNvPr>
          <p:cNvSpPr>
            <a:spLocks xmlns:a="http://schemas.openxmlformats.org/drawingml/2006/main" noGrp="1"/>
          </p:cNvSpPr>
          <p:nvPr/>
        </p:nvSpPr>
        <p:spPr>
          <a:xfrm xmlns:a="http://schemas.openxmlformats.org/drawingml/2006/main">
            <a:off x="8553450" y="276225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Findings</a:t>
            </a:r>
          </a:p>
        </p:txBody>
      </p:sp>
      <p:sp>
        <p:nvSpPr>
          <p:cNvPr id="16" name="">
            <a:extLst xmlns:a="http://schemas.openxmlformats.org/drawingml/2006/main">
              <a:ext uri="{FF2B5EF4-FFF2-40B4-BE49-F238E27FC236}">
                <a16:creationId xmlns:a16="http://schemas.microsoft.com/office/drawing/2014/main" id="{85DC34C7-FBA9-49DD-9B0C-C619F849209C}"/>
              </a:ext>
            </a:extLst>
          </p:cNvPr>
          <p:cNvSpPr>
            <a:spLocks xmlns:a="http://schemas.openxmlformats.org/drawingml/2006/main" noGrp="1"/>
          </p:cNvSpPr>
          <p:nvPr/>
        </p:nvSpPr>
        <p:spPr>
          <a:xfrm xmlns:a="http://schemas.openxmlformats.org/drawingml/2006/main">
            <a:off x="8553450" y="305752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Open source evidence</a:t>
            </a:r>
          </a:p>
        </p:txBody>
      </p:sp>
      <p:sp>
        <p:nvSpPr>
          <p:cNvPr id="17" name="">
            <a:extLst xmlns:a="http://schemas.openxmlformats.org/drawingml/2006/main">
              <a:ext uri="{FF2B5EF4-FFF2-40B4-BE49-F238E27FC236}">
                <a16:creationId xmlns:a16="http://schemas.microsoft.com/office/drawing/2014/main" id="{081CB6C9-8FA8-4EC9-80DA-6FB8D930B913}"/>
              </a:ext>
            </a:extLst>
          </p:cNvPr>
          <p:cNvSpPr>
            <a:spLocks xmlns:a="http://schemas.openxmlformats.org/drawingml/2006/main" noGrp="1"/>
          </p:cNvSpPr>
          <p:nvPr/>
        </p:nvSpPr>
        <p:spPr>
          <a:xfrm xmlns:a="http://schemas.openxmlformats.org/drawingml/2006/main">
            <a:off x="8553450" y="3400425"/>
            <a:ext cx="2857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743ACA9-0EDA-4C4F-B541-2146D8CFB134}"/>
              </a:ext>
            </a:extLst>
          </p:cNvPr>
          <p:cNvSpPr>
            <a:spLocks xmlns:a="http://schemas.openxmlformats.org/drawingml/2006/main" noGrp="1"/>
          </p:cNvSpPr>
          <p:nvPr/>
        </p:nvSpPr>
        <p:spPr>
          <a:xfrm xmlns:a="http://schemas.openxmlformats.org/drawingml/2006/main">
            <a:off x="8096250" y="356235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9" name="">
            <a:extLst xmlns:a="http://schemas.openxmlformats.org/drawingml/2006/main">
              <a:ext uri="{FF2B5EF4-FFF2-40B4-BE49-F238E27FC236}">
                <a16:creationId xmlns:a16="http://schemas.microsoft.com/office/drawing/2014/main" id="{A477194E-11B6-4194-A36F-A63CB7B1D298}"/>
              </a:ext>
            </a:extLst>
          </p:cNvPr>
          <p:cNvSpPr>
            <a:spLocks xmlns:a="http://schemas.openxmlformats.org/drawingml/2006/main" noGrp="1"/>
          </p:cNvSpPr>
          <p:nvPr/>
        </p:nvSpPr>
        <p:spPr>
          <a:xfrm xmlns:a="http://schemas.openxmlformats.org/drawingml/2006/main">
            <a:off x="8553450" y="35433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Proposals</a:t>
            </a:r>
          </a:p>
        </p:txBody>
      </p:sp>
      <p:sp>
        <p:nvSpPr>
          <p:cNvPr id="20" name="">
            <a:extLst xmlns:a="http://schemas.openxmlformats.org/drawingml/2006/main">
              <a:ext uri="{FF2B5EF4-FFF2-40B4-BE49-F238E27FC236}">
                <a16:creationId xmlns:a16="http://schemas.microsoft.com/office/drawing/2014/main" id="{33100E55-C7BC-43A7-93CD-B73CA326025B}"/>
              </a:ext>
            </a:extLst>
          </p:cNvPr>
          <p:cNvSpPr>
            <a:spLocks xmlns:a="http://schemas.openxmlformats.org/drawingml/2006/main" noGrp="1"/>
          </p:cNvSpPr>
          <p:nvPr/>
        </p:nvSpPr>
        <p:spPr>
          <a:xfrm xmlns:a="http://schemas.openxmlformats.org/drawingml/2006/main">
            <a:off x="8553450" y="38385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Inspect wording and rationale</a:t>
            </a:r>
          </a:p>
        </p:txBody>
      </p:sp>
      <p:sp>
        <p:nvSpPr>
          <p:cNvPr id="21" name="">
            <a:extLst xmlns:a="http://schemas.openxmlformats.org/drawingml/2006/main">
              <a:ext uri="{FF2B5EF4-FFF2-40B4-BE49-F238E27FC236}">
                <a16:creationId xmlns:a16="http://schemas.microsoft.com/office/drawing/2014/main" id="{2FEDE388-F264-4C97-A3D4-4A2C60BA339F}"/>
              </a:ext>
            </a:extLst>
          </p:cNvPr>
          <p:cNvSpPr>
            <a:spLocks xmlns:a="http://schemas.openxmlformats.org/drawingml/2006/main" noGrp="1"/>
          </p:cNvSpPr>
          <p:nvPr/>
        </p:nvSpPr>
        <p:spPr>
          <a:xfrm xmlns:a="http://schemas.openxmlformats.org/drawingml/2006/main">
            <a:off x="8553450" y="4181475"/>
            <a:ext cx="2857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C69CFC1-683C-4934-898C-FF1513EC4B7B}"/>
              </a:ext>
            </a:extLst>
          </p:cNvPr>
          <p:cNvSpPr>
            <a:spLocks xmlns:a="http://schemas.openxmlformats.org/drawingml/2006/main" noGrp="1"/>
          </p:cNvSpPr>
          <p:nvPr/>
        </p:nvSpPr>
        <p:spPr>
          <a:xfrm xmlns:a="http://schemas.openxmlformats.org/drawingml/2006/main">
            <a:off x="8096250" y="434340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23" name="">
            <a:extLst xmlns:a="http://schemas.openxmlformats.org/drawingml/2006/main">
              <a:ext uri="{FF2B5EF4-FFF2-40B4-BE49-F238E27FC236}">
                <a16:creationId xmlns:a16="http://schemas.microsoft.com/office/drawing/2014/main" id="{05219ED8-51AA-490E-A16C-3C00711F5057}"/>
              </a:ext>
            </a:extLst>
          </p:cNvPr>
          <p:cNvSpPr>
            <a:spLocks xmlns:a="http://schemas.openxmlformats.org/drawingml/2006/main" noGrp="1"/>
          </p:cNvSpPr>
          <p:nvPr/>
        </p:nvSpPr>
        <p:spPr>
          <a:xfrm xmlns:a="http://schemas.openxmlformats.org/drawingml/2006/main">
            <a:off x="8553450" y="432435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PM review</a:t>
            </a:r>
          </a:p>
        </p:txBody>
      </p:sp>
      <p:sp>
        <p:nvSpPr>
          <p:cNvPr id="24" name="">
            <a:extLst xmlns:a="http://schemas.openxmlformats.org/drawingml/2006/main">
              <a:ext uri="{FF2B5EF4-FFF2-40B4-BE49-F238E27FC236}">
                <a16:creationId xmlns:a16="http://schemas.microsoft.com/office/drawing/2014/main" id="{B8C096DA-000E-4AE2-B51D-0E4703C9E0CC}"/>
              </a:ext>
            </a:extLst>
          </p:cNvPr>
          <p:cNvSpPr>
            <a:spLocks xmlns:a="http://schemas.openxmlformats.org/drawingml/2006/main" noGrp="1"/>
          </p:cNvSpPr>
          <p:nvPr/>
        </p:nvSpPr>
        <p:spPr>
          <a:xfrm xmlns:a="http://schemas.openxmlformats.org/drawingml/2006/main">
            <a:off x="8553450" y="461962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Decide on an exact version</a:t>
            </a:r>
          </a:p>
        </p:txBody>
      </p:sp>
      <p:sp>
        <p:nvSpPr>
          <p:cNvPr id="25" name="">
            <a:extLst xmlns:a="http://schemas.openxmlformats.org/drawingml/2006/main">
              <a:ext uri="{FF2B5EF4-FFF2-40B4-BE49-F238E27FC236}">
                <a16:creationId xmlns:a16="http://schemas.microsoft.com/office/drawing/2014/main" id="{161D425A-E169-46E7-A8E0-DDBF6BAA830C}"/>
              </a:ext>
            </a:extLst>
          </p:cNvPr>
          <p:cNvSpPr>
            <a:spLocks xmlns:a="http://schemas.openxmlformats.org/drawingml/2006/main" noGrp="1"/>
          </p:cNvSpPr>
          <p:nvPr/>
        </p:nvSpPr>
        <p:spPr>
          <a:xfrm xmlns:a="http://schemas.openxmlformats.org/drawingml/2006/main">
            <a:off x="8553450" y="4962525"/>
            <a:ext cx="2857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EC3E131-A6CF-43ED-A17C-FFBC7F908FBE}"/>
              </a:ext>
            </a:extLst>
          </p:cNvPr>
          <p:cNvSpPr>
            <a:spLocks xmlns:a="http://schemas.openxmlformats.org/drawingml/2006/main" noGrp="1"/>
          </p:cNvSpPr>
          <p:nvPr/>
        </p:nvSpPr>
        <p:spPr>
          <a:xfrm xmlns:a="http://schemas.openxmlformats.org/drawingml/2006/main">
            <a:off x="8096250" y="512445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04</a:t>
            </a:r>
          </a:p>
        </p:txBody>
      </p:sp>
      <p:sp>
        <p:nvSpPr>
          <p:cNvPr id="27" name="">
            <a:extLst xmlns:a="http://schemas.openxmlformats.org/drawingml/2006/main">
              <a:ext uri="{FF2B5EF4-FFF2-40B4-BE49-F238E27FC236}">
                <a16:creationId xmlns:a16="http://schemas.microsoft.com/office/drawing/2014/main" id="{392ADFCA-4C6E-487C-9DE3-EAAFF79D5754}"/>
              </a:ext>
            </a:extLst>
          </p:cNvPr>
          <p:cNvSpPr>
            <a:spLocks xmlns:a="http://schemas.openxmlformats.org/drawingml/2006/main" noGrp="1"/>
          </p:cNvSpPr>
          <p:nvPr/>
        </p:nvSpPr>
        <p:spPr>
          <a:xfrm xmlns:a="http://schemas.openxmlformats.org/drawingml/2006/main">
            <a:off x="8553450" y="51054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History + export</a:t>
            </a:r>
          </a:p>
        </p:txBody>
      </p:sp>
      <p:sp>
        <p:nvSpPr>
          <p:cNvPr id="28" name="">
            <a:extLst xmlns:a="http://schemas.openxmlformats.org/drawingml/2006/main">
              <a:ext uri="{FF2B5EF4-FFF2-40B4-BE49-F238E27FC236}">
                <a16:creationId xmlns:a16="http://schemas.microsoft.com/office/drawing/2014/main" id="{C668F11D-593A-465C-92CB-234386FC9D5E}"/>
              </a:ext>
            </a:extLst>
          </p:cNvPr>
          <p:cNvSpPr>
            <a:spLocks xmlns:a="http://schemas.openxmlformats.org/drawingml/2006/main" noGrp="1"/>
          </p:cNvSpPr>
          <p:nvPr/>
        </p:nvSpPr>
        <p:spPr>
          <a:xfrm xmlns:a="http://schemas.openxmlformats.org/drawingml/2006/main">
            <a:off x="8553450" y="54006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Keep the decision trace</a:t>
            </a:r>
          </a:p>
        </p:txBody>
      </p:sp>
    </p:spTree>
    <p:extLst>
      <p:ext uri="{BB962C8B-B14F-4D97-AF65-F5344CB8AC3E}">
        <p14:creationId xmlns:p14="http://schemas.microsoft.com/office/powerpoint/2010/main" val="1284005035"/>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B24FB3F-CE74-4709-A117-C393ADD4E664}"/>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6E970978-74BB-4B52-BDD5-E8539B98D152}"/>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AB2AF90C-62AD-4514-A15F-E9D5155BAE1D}"/>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4523F7C9-AF34-4525-A55B-1FF2DA7A826D}"/>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HOW FWD WORKS</a:t>
            </a:r>
          </a:p>
        </p:txBody>
      </p:sp>
      <p:sp>
        <p:nvSpPr>
          <p:cNvPr id="5" name="">
            <a:extLst xmlns:a="http://schemas.openxmlformats.org/drawingml/2006/main">
              <a:ext uri="{FF2B5EF4-FFF2-40B4-BE49-F238E27FC236}">
                <a16:creationId xmlns:a16="http://schemas.microsoft.com/office/drawing/2014/main" id="{0BD9BC83-8242-4267-8038-2BB9D551C509}"/>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From feedback to a reviewed requirement.</a:t>
            </a:r>
          </a:p>
        </p:txBody>
      </p:sp>
      <p:sp>
        <p:nvSpPr>
          <p:cNvPr id="6" name="">
            <a:extLst xmlns:a="http://schemas.openxmlformats.org/drawingml/2006/main">
              <a:ext uri="{FF2B5EF4-FFF2-40B4-BE49-F238E27FC236}">
                <a16:creationId xmlns:a16="http://schemas.microsoft.com/office/drawing/2014/main" id="{D198D80C-143E-4A9C-BC4B-6544F5475E7C}"/>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04 / 11</a:t>
            </a:r>
          </a:p>
        </p:txBody>
      </p:sp>
      <p:sp>
        <p:nvSpPr>
          <p:cNvPr id="7" name="">
            <a:extLst xmlns:a="http://schemas.openxmlformats.org/drawingml/2006/main">
              <a:ext uri="{FF2B5EF4-FFF2-40B4-BE49-F238E27FC236}">
                <a16:creationId xmlns:a16="http://schemas.microsoft.com/office/drawing/2014/main" id="{09AFEB0E-E072-40E3-9EF3-916FC0D340E0}"/>
              </a:ext>
            </a:extLst>
          </p:cNvPr>
          <p:cNvSpPr>
            <a:spLocks xmlns:a="http://schemas.openxmlformats.org/drawingml/2006/main" noGrp="1"/>
          </p:cNvSpPr>
          <p:nvPr/>
        </p:nvSpPr>
        <p:spPr>
          <a:xfrm xmlns:a="http://schemas.openxmlformats.org/drawingml/2006/main">
            <a:off x="552450" y="180975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AI prepares a proposal. The product manager owns the decision.</a:t>
            </a:r>
          </a:p>
        </p:txBody>
      </p:sp>
      <p:sp>
        <p:nvSpPr>
          <p:cNvPr id="8" name="">
            <a:extLst xmlns:a="http://schemas.openxmlformats.org/drawingml/2006/main">
              <a:ext uri="{FF2B5EF4-FFF2-40B4-BE49-F238E27FC236}">
                <a16:creationId xmlns:a16="http://schemas.microsoft.com/office/drawing/2014/main" id="{6EF7AAE0-A7B7-44A0-B4B5-0184E852E957}"/>
              </a:ext>
            </a:extLst>
          </p:cNvPr>
          <p:cNvSpPr>
            <a:spLocks xmlns:a="http://schemas.openxmlformats.org/drawingml/2006/main" noGrp="1"/>
          </p:cNvSpPr>
          <p:nvPr/>
        </p:nvSpPr>
        <p:spPr>
          <a:xfrm xmlns:a="http://schemas.openxmlformats.org/drawingml/2006/main">
            <a:off x="1143000" y="2590800"/>
            <a:ext cx="1066800" cy="1066800"/>
          </a:xfrm>
          <a:prstGeom xmlns:a="http://schemas.openxmlformats.org/drawingml/2006/main" prst="ellipse">
            <a:avLst/>
          </a:prstGeom>
          <a:solidFill xmlns:a="http://schemas.openxmlformats.org/drawingml/2006/main">
            <a:srgbClr val="FFFFFF"/>
          </a:solidFill>
          <a:ln xmlns:a="http://schemas.openxmlformats.org/drawingml/2006/main" w="38100">
            <a:solidFill>
              <a:srgbClr val="2D5FF4"/>
            </a:solidFill>
            <a:prstDash val="solid"/>
          </a:ln>
        </p:spPr>
      </p:sp>
      <p:sp>
        <p:nvSpPr>
          <p:cNvPr id="9" name="">
            <a:extLst xmlns:a="http://schemas.openxmlformats.org/drawingml/2006/main">
              <a:ext uri="{FF2B5EF4-FFF2-40B4-BE49-F238E27FC236}">
                <a16:creationId xmlns:a16="http://schemas.microsoft.com/office/drawing/2014/main" id="{B9FD1B2B-01C7-47A1-BB9F-DED7FE25634C}"/>
              </a:ext>
            </a:extLst>
          </p:cNvPr>
          <p:cNvSpPr>
            <a:spLocks xmlns:a="http://schemas.openxmlformats.org/drawingml/2006/main" noGrp="1"/>
          </p:cNvSpPr>
          <p:nvPr/>
        </p:nvSpPr>
        <p:spPr>
          <a:xfrm xmlns:a="http://schemas.openxmlformats.org/drawingml/2006/main">
            <a:off x="1143000" y="2914650"/>
            <a:ext cx="106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2D5FF4"/>
                </a:solidFill>
                <a:latin typeface="Calibri"/>
                <a:ea typeface="Calibri"/>
                <a:cs typeface="Calibri"/>
              </a:defRPr>
            </a:defPPr>
          </a:lstStyle>
          <a:p xmlns:a="http://schemas.openxmlformats.org/drawingml/2006/main">
            <a:pPr algn="ctr">
              <a:defRPr sz="2100" b="1">
                <a:solidFill>
                  <a:srgbClr val="2D5FF4"/>
                </a:solidFill>
                <a:latin typeface="Calibri"/>
                <a:ea typeface="Calibri"/>
                <a:cs typeface="Calibri"/>
              </a:defRPr>
            </a:pPr>
            <a:r>
              <a:rPr sz="2100" b="1">
                <a:solidFill>
                  <a:srgbClr val="2D5FF4"/>
                </a:solidFill>
                <a:latin typeface="Calibri"/>
                <a:ea typeface="Calibri"/>
                <a:cs typeface="Calibri"/>
              </a:rPr>
              <a:t>01</a:t>
            </a:r>
          </a:p>
        </p:txBody>
      </p:sp>
      <p:sp>
        <p:nvSpPr>
          <p:cNvPr id="10" name="">
            <a:extLst xmlns:a="http://schemas.openxmlformats.org/drawingml/2006/main">
              <a:ext uri="{FF2B5EF4-FFF2-40B4-BE49-F238E27FC236}">
                <a16:creationId xmlns:a16="http://schemas.microsoft.com/office/drawing/2014/main" id="{DE70DF31-9828-4C95-A939-8C25E7883F55}"/>
              </a:ext>
            </a:extLst>
          </p:cNvPr>
          <p:cNvSpPr>
            <a:spLocks xmlns:a="http://schemas.openxmlformats.org/drawingml/2006/main" noGrp="1"/>
          </p:cNvSpPr>
          <p:nvPr/>
        </p:nvSpPr>
        <p:spPr>
          <a:xfrm xmlns:a="http://schemas.openxmlformats.org/drawingml/2006/main">
            <a:off x="685800" y="39624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b="1">
                <a:solidFill>
                  <a:srgbClr val="172131"/>
                </a:solidFill>
                <a:latin typeface="Calibri"/>
                <a:ea typeface="Calibri"/>
                <a:cs typeface="Calibri"/>
              </a:defRPr>
            </a:defPPr>
          </a:lstStyle>
          <a:p xmlns:a="http://schemas.openxmlformats.org/drawingml/2006/main">
            <a:pPr algn="ctr">
              <a:defRPr sz="1575" b="1">
                <a:solidFill>
                  <a:srgbClr val="172131"/>
                </a:solidFill>
                <a:latin typeface="Calibri"/>
                <a:ea typeface="Calibri"/>
                <a:cs typeface="Calibri"/>
              </a:defRPr>
            </a:pPr>
            <a:r>
              <a:rPr sz="1575" b="1">
                <a:solidFill>
                  <a:srgbClr val="172131"/>
                </a:solidFill>
                <a:latin typeface="Calibri"/>
                <a:ea typeface="Calibri"/>
                <a:cs typeface="Calibri"/>
              </a:rPr>
              <a:t>Scope the case</a:t>
            </a:r>
          </a:p>
        </p:txBody>
      </p:sp>
      <p:sp>
        <p:nvSpPr>
          <p:cNvPr id="11" name="">
            <a:extLst xmlns:a="http://schemas.openxmlformats.org/drawingml/2006/main">
              <a:ext uri="{FF2B5EF4-FFF2-40B4-BE49-F238E27FC236}">
                <a16:creationId xmlns:a16="http://schemas.microsoft.com/office/drawing/2014/main" id="{80FCCC98-5641-4A4A-973C-5AC36AEF8BB6}"/>
              </a:ext>
            </a:extLst>
          </p:cNvPr>
          <p:cNvSpPr>
            <a:spLocks xmlns:a="http://schemas.openxmlformats.org/drawingml/2006/main" noGrp="1"/>
          </p:cNvSpPr>
          <p:nvPr/>
        </p:nvSpPr>
        <p:spPr>
          <a:xfrm xmlns:a="http://schemas.openxmlformats.org/drawingml/2006/main">
            <a:off x="685800" y="445770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5B6B82"/>
                </a:solidFill>
                <a:latin typeface="Calibri"/>
                <a:ea typeface="Calibri"/>
                <a:cs typeface="Calibri"/>
              </a:defRPr>
            </a:defPPr>
          </a:lstStyle>
          <a:p xmlns:a="http://schemas.openxmlformats.org/drawingml/2006/main">
            <a:pPr algn="ctr">
              <a:defRPr sz="1275" b="0">
                <a:solidFill>
                  <a:srgbClr val="5B6B82"/>
                </a:solidFill>
                <a:latin typeface="Calibri"/>
                <a:ea typeface="Calibri"/>
                <a:cs typeface="Calibri"/>
              </a:defRPr>
            </a:pPr>
            <a:r>
              <a:rPr sz="1275" b="0">
                <a:solidFill>
                  <a:srgbClr val="5B6B82"/>
                </a:solidFill>
                <a:latin typeface="Calibri"/>
                <a:ea typeface="Calibri"/>
                <a:cs typeface="Calibri"/>
              </a:rPr>
              <a:t>Vehicle, market</a:t>
            </a:r>
          </a:p>
          <a:p xmlns:a="http://schemas.openxmlformats.org/drawingml/2006/main">
            <a:pPr algn="ctr">
              <a:defRPr sz="1275" b="0">
                <a:solidFill>
                  <a:srgbClr val="5B6B82"/>
                </a:solidFill>
                <a:latin typeface="Calibri"/>
                <a:ea typeface="Calibri"/>
                <a:cs typeface="Calibri"/>
              </a:defRPr>
            </a:pPr>
            <a:r>
              <a:rPr sz="1275" b="0">
                <a:solidFill>
                  <a:srgbClr val="5B6B82"/>
                </a:solidFill>
                <a:latin typeface="Calibri"/>
                <a:ea typeface="Calibri"/>
                <a:cs typeface="Calibri"/>
              </a:rPr>
              <a:t>and source files</a:t>
            </a:r>
          </a:p>
        </p:txBody>
      </p:sp>
      <p:sp>
        <p:nvSpPr>
          <p:cNvPr id="12" name="">
            <a:extLst xmlns:a="http://schemas.openxmlformats.org/drawingml/2006/main">
              <a:ext uri="{FF2B5EF4-FFF2-40B4-BE49-F238E27FC236}">
                <a16:creationId xmlns:a16="http://schemas.microsoft.com/office/drawing/2014/main" id="{0EB8B386-2F93-4A33-90CB-DB4722B5E370}"/>
              </a:ext>
            </a:extLst>
          </p:cNvPr>
          <p:cNvSpPr>
            <a:spLocks xmlns:a="http://schemas.openxmlformats.org/drawingml/2006/main" noGrp="1"/>
          </p:cNvSpPr>
          <p:nvPr/>
        </p:nvSpPr>
        <p:spPr>
          <a:xfrm xmlns:a="http://schemas.openxmlformats.org/drawingml/2006/main">
            <a:off x="2514600" y="3000375"/>
            <a:ext cx="72390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C81BBF1-C468-4518-83AB-276E37F6B298}"/>
              </a:ext>
            </a:extLst>
          </p:cNvPr>
          <p:cNvSpPr>
            <a:spLocks xmlns:a="http://schemas.openxmlformats.org/drawingml/2006/main" noGrp="1"/>
          </p:cNvSpPr>
          <p:nvPr/>
        </p:nvSpPr>
        <p:spPr>
          <a:xfrm xmlns:a="http://schemas.openxmlformats.org/drawingml/2006/main">
            <a:off x="4000500" y="2590800"/>
            <a:ext cx="1066800" cy="1066800"/>
          </a:xfrm>
          <a:prstGeom xmlns:a="http://schemas.openxmlformats.org/drawingml/2006/main" prst="ellipse">
            <a:avLst/>
          </a:prstGeom>
          <a:solidFill xmlns:a="http://schemas.openxmlformats.org/drawingml/2006/main">
            <a:srgbClr val="FFFFFF"/>
          </a:solidFill>
          <a:ln xmlns:a="http://schemas.openxmlformats.org/drawingml/2006/main" w="38100">
            <a:solidFill>
              <a:srgbClr val="2D5FF4"/>
            </a:solidFill>
            <a:prstDash val="solid"/>
          </a:ln>
        </p:spPr>
      </p:sp>
      <p:sp>
        <p:nvSpPr>
          <p:cNvPr id="14" name="">
            <a:extLst xmlns:a="http://schemas.openxmlformats.org/drawingml/2006/main">
              <a:ext uri="{FF2B5EF4-FFF2-40B4-BE49-F238E27FC236}">
                <a16:creationId xmlns:a16="http://schemas.microsoft.com/office/drawing/2014/main" id="{5314C509-ED7F-4269-AB05-D30751FCFB24}"/>
              </a:ext>
            </a:extLst>
          </p:cNvPr>
          <p:cNvSpPr>
            <a:spLocks xmlns:a="http://schemas.openxmlformats.org/drawingml/2006/main" noGrp="1"/>
          </p:cNvSpPr>
          <p:nvPr/>
        </p:nvSpPr>
        <p:spPr>
          <a:xfrm xmlns:a="http://schemas.openxmlformats.org/drawingml/2006/main">
            <a:off x="4000500" y="2914650"/>
            <a:ext cx="106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2D5FF4"/>
                </a:solidFill>
                <a:latin typeface="Calibri"/>
                <a:ea typeface="Calibri"/>
                <a:cs typeface="Calibri"/>
              </a:defRPr>
            </a:defPPr>
          </a:lstStyle>
          <a:p xmlns:a="http://schemas.openxmlformats.org/drawingml/2006/main">
            <a:pPr algn="ctr">
              <a:defRPr sz="2100" b="1">
                <a:solidFill>
                  <a:srgbClr val="2D5FF4"/>
                </a:solidFill>
                <a:latin typeface="Calibri"/>
                <a:ea typeface="Calibri"/>
                <a:cs typeface="Calibri"/>
              </a:defRPr>
            </a:pPr>
            <a:r>
              <a:rPr sz="2100" b="1">
                <a:solidFill>
                  <a:srgbClr val="2D5FF4"/>
                </a:solidFill>
                <a:latin typeface="Calibri"/>
                <a:ea typeface="Calibri"/>
                <a:cs typeface="Calibri"/>
              </a:rPr>
              <a:t>02</a:t>
            </a:r>
          </a:p>
        </p:txBody>
      </p:sp>
      <p:sp>
        <p:nvSpPr>
          <p:cNvPr id="15" name="">
            <a:extLst xmlns:a="http://schemas.openxmlformats.org/drawingml/2006/main">
              <a:ext uri="{FF2B5EF4-FFF2-40B4-BE49-F238E27FC236}">
                <a16:creationId xmlns:a16="http://schemas.microsoft.com/office/drawing/2014/main" id="{FA68DBA6-BF0F-49E7-A111-CC3685CF617C}"/>
              </a:ext>
            </a:extLst>
          </p:cNvPr>
          <p:cNvSpPr>
            <a:spLocks xmlns:a="http://schemas.openxmlformats.org/drawingml/2006/main" noGrp="1"/>
          </p:cNvSpPr>
          <p:nvPr/>
        </p:nvSpPr>
        <p:spPr>
          <a:xfrm xmlns:a="http://schemas.openxmlformats.org/drawingml/2006/main">
            <a:off x="3543300" y="39624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b="1">
                <a:solidFill>
                  <a:srgbClr val="172131"/>
                </a:solidFill>
                <a:latin typeface="Calibri"/>
                <a:ea typeface="Calibri"/>
                <a:cs typeface="Calibri"/>
              </a:defRPr>
            </a:defPPr>
          </a:lstStyle>
          <a:p xmlns:a="http://schemas.openxmlformats.org/drawingml/2006/main">
            <a:pPr algn="ctr">
              <a:defRPr sz="1575" b="1">
                <a:solidFill>
                  <a:srgbClr val="172131"/>
                </a:solidFill>
                <a:latin typeface="Calibri"/>
                <a:ea typeface="Calibri"/>
                <a:cs typeface="Calibri"/>
              </a:defRPr>
            </a:pPr>
            <a:r>
              <a:rPr sz="1575" b="1">
                <a:solidFill>
                  <a:srgbClr val="172131"/>
                </a:solidFill>
                <a:latin typeface="Calibri"/>
                <a:ea typeface="Calibri"/>
                <a:cs typeface="Calibri"/>
              </a:rPr>
              <a:t>Inspect evidence</a:t>
            </a:r>
          </a:p>
        </p:txBody>
      </p:sp>
      <p:sp>
        <p:nvSpPr>
          <p:cNvPr id="16" name="">
            <a:extLst xmlns:a="http://schemas.openxmlformats.org/drawingml/2006/main">
              <a:ext uri="{FF2B5EF4-FFF2-40B4-BE49-F238E27FC236}">
                <a16:creationId xmlns:a16="http://schemas.microsoft.com/office/drawing/2014/main" id="{E9BB1C04-068B-4C50-B778-F3D7D9F2854A}"/>
              </a:ext>
            </a:extLst>
          </p:cNvPr>
          <p:cNvSpPr>
            <a:spLocks xmlns:a="http://schemas.openxmlformats.org/drawingml/2006/main" noGrp="1"/>
          </p:cNvSpPr>
          <p:nvPr/>
        </p:nvSpPr>
        <p:spPr>
          <a:xfrm xmlns:a="http://schemas.openxmlformats.org/drawingml/2006/main">
            <a:off x="3543300" y="445770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5B6B82"/>
                </a:solidFill>
                <a:latin typeface="Calibri"/>
                <a:ea typeface="Calibri"/>
                <a:cs typeface="Calibri"/>
              </a:defRPr>
            </a:defPPr>
          </a:lstStyle>
          <a:p xmlns:a="http://schemas.openxmlformats.org/drawingml/2006/main">
            <a:pPr algn="ctr">
              <a:defRPr sz="1275" b="0">
                <a:solidFill>
                  <a:srgbClr val="5B6B82"/>
                </a:solidFill>
                <a:latin typeface="Calibri"/>
                <a:ea typeface="Calibri"/>
                <a:cs typeface="Calibri"/>
              </a:defRPr>
            </a:pPr>
            <a:r>
              <a:rPr sz="1275" b="0">
                <a:solidFill>
                  <a:srgbClr val="5B6B82"/>
                </a:solidFill>
                <a:latin typeface="Calibri"/>
                <a:ea typeface="Calibri"/>
                <a:cs typeface="Calibri"/>
              </a:rPr>
              <a:t>Finding linked to</a:t>
            </a:r>
          </a:p>
          <a:p xmlns:a="http://schemas.openxmlformats.org/drawingml/2006/main">
            <a:pPr algn="ctr">
              <a:defRPr sz="1275" b="0">
                <a:solidFill>
                  <a:srgbClr val="5B6B82"/>
                </a:solidFill>
                <a:latin typeface="Calibri"/>
                <a:ea typeface="Calibri"/>
                <a:cs typeface="Calibri"/>
              </a:defRPr>
            </a:pPr>
            <a:r>
              <a:rPr sz="1275" b="0">
                <a:solidFill>
                  <a:srgbClr val="5B6B82"/>
                </a:solidFill>
                <a:latin typeface="Calibri"/>
                <a:ea typeface="Calibri"/>
                <a:cs typeface="Calibri"/>
              </a:rPr>
              <a:t>source location</a:t>
            </a:r>
          </a:p>
        </p:txBody>
      </p:sp>
      <p:sp>
        <p:nvSpPr>
          <p:cNvPr id="17" name="">
            <a:extLst xmlns:a="http://schemas.openxmlformats.org/drawingml/2006/main">
              <a:ext uri="{FF2B5EF4-FFF2-40B4-BE49-F238E27FC236}">
                <a16:creationId xmlns:a16="http://schemas.microsoft.com/office/drawing/2014/main" id="{4D8EE776-40E9-48BA-927D-D2C7394DC16F}"/>
              </a:ext>
            </a:extLst>
          </p:cNvPr>
          <p:cNvSpPr>
            <a:spLocks xmlns:a="http://schemas.openxmlformats.org/drawingml/2006/main" noGrp="1"/>
          </p:cNvSpPr>
          <p:nvPr/>
        </p:nvSpPr>
        <p:spPr>
          <a:xfrm xmlns:a="http://schemas.openxmlformats.org/drawingml/2006/main">
            <a:off x="5372100" y="3000375"/>
            <a:ext cx="72390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70E9E0E-12C3-49F3-828C-981068458588}"/>
              </a:ext>
            </a:extLst>
          </p:cNvPr>
          <p:cNvSpPr>
            <a:spLocks xmlns:a="http://schemas.openxmlformats.org/drawingml/2006/main" noGrp="1"/>
          </p:cNvSpPr>
          <p:nvPr/>
        </p:nvSpPr>
        <p:spPr>
          <a:xfrm xmlns:a="http://schemas.openxmlformats.org/drawingml/2006/main">
            <a:off x="6858000" y="2590800"/>
            <a:ext cx="1066800" cy="1066800"/>
          </a:xfrm>
          <a:prstGeom xmlns:a="http://schemas.openxmlformats.org/drawingml/2006/main" prst="ellipse">
            <a:avLst/>
          </a:prstGeom>
          <a:solidFill xmlns:a="http://schemas.openxmlformats.org/drawingml/2006/main">
            <a:srgbClr val="FFFFFF"/>
          </a:solidFill>
          <a:ln xmlns:a="http://schemas.openxmlformats.org/drawingml/2006/main" w="38100">
            <a:solidFill>
              <a:srgbClr val="2D5FF4"/>
            </a:solidFill>
            <a:prstDash val="solid"/>
          </a:ln>
        </p:spPr>
      </p:sp>
      <p:sp>
        <p:nvSpPr>
          <p:cNvPr id="19" name="">
            <a:extLst xmlns:a="http://schemas.openxmlformats.org/drawingml/2006/main">
              <a:ext uri="{FF2B5EF4-FFF2-40B4-BE49-F238E27FC236}">
                <a16:creationId xmlns:a16="http://schemas.microsoft.com/office/drawing/2014/main" id="{E73D544B-F5B1-49D6-92C7-5CD80299BF18}"/>
              </a:ext>
            </a:extLst>
          </p:cNvPr>
          <p:cNvSpPr>
            <a:spLocks xmlns:a="http://schemas.openxmlformats.org/drawingml/2006/main" noGrp="1"/>
          </p:cNvSpPr>
          <p:nvPr/>
        </p:nvSpPr>
        <p:spPr>
          <a:xfrm xmlns:a="http://schemas.openxmlformats.org/drawingml/2006/main">
            <a:off x="6858000" y="2914650"/>
            <a:ext cx="106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2D5FF4"/>
                </a:solidFill>
                <a:latin typeface="Calibri"/>
                <a:ea typeface="Calibri"/>
                <a:cs typeface="Calibri"/>
              </a:defRPr>
            </a:defPPr>
          </a:lstStyle>
          <a:p xmlns:a="http://schemas.openxmlformats.org/drawingml/2006/main">
            <a:pPr algn="ctr">
              <a:defRPr sz="2100" b="1">
                <a:solidFill>
                  <a:srgbClr val="2D5FF4"/>
                </a:solidFill>
                <a:latin typeface="Calibri"/>
                <a:ea typeface="Calibri"/>
                <a:cs typeface="Calibri"/>
              </a:defRPr>
            </a:pPr>
            <a:r>
              <a:rPr sz="2100" b="1">
                <a:solidFill>
                  <a:srgbClr val="2D5FF4"/>
                </a:solidFill>
                <a:latin typeface="Calibri"/>
                <a:ea typeface="Calibri"/>
                <a:cs typeface="Calibri"/>
              </a:rPr>
              <a:t>03</a:t>
            </a:r>
          </a:p>
        </p:txBody>
      </p:sp>
      <p:sp>
        <p:nvSpPr>
          <p:cNvPr id="20" name="">
            <a:extLst xmlns:a="http://schemas.openxmlformats.org/drawingml/2006/main">
              <a:ext uri="{FF2B5EF4-FFF2-40B4-BE49-F238E27FC236}">
                <a16:creationId xmlns:a16="http://schemas.microsoft.com/office/drawing/2014/main" id="{3A6C8E69-10CC-42E1-A154-9C4B317CC752}"/>
              </a:ext>
            </a:extLst>
          </p:cNvPr>
          <p:cNvSpPr>
            <a:spLocks xmlns:a="http://schemas.openxmlformats.org/drawingml/2006/main" noGrp="1"/>
          </p:cNvSpPr>
          <p:nvPr/>
        </p:nvSpPr>
        <p:spPr>
          <a:xfrm xmlns:a="http://schemas.openxmlformats.org/drawingml/2006/main">
            <a:off x="6400800" y="39624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b="1">
                <a:solidFill>
                  <a:srgbClr val="172131"/>
                </a:solidFill>
                <a:latin typeface="Calibri"/>
                <a:ea typeface="Calibri"/>
                <a:cs typeface="Calibri"/>
              </a:defRPr>
            </a:defPPr>
          </a:lstStyle>
          <a:p xmlns:a="http://schemas.openxmlformats.org/drawingml/2006/main">
            <a:pPr algn="ctr">
              <a:defRPr sz="1575" b="1">
                <a:solidFill>
                  <a:srgbClr val="172131"/>
                </a:solidFill>
                <a:latin typeface="Calibri"/>
                <a:ea typeface="Calibri"/>
                <a:cs typeface="Calibri"/>
              </a:defRPr>
            </a:pPr>
            <a:r>
              <a:rPr sz="1575" b="1">
                <a:solidFill>
                  <a:srgbClr val="172131"/>
                </a:solidFill>
                <a:latin typeface="Calibri"/>
                <a:ea typeface="Calibri"/>
                <a:cs typeface="Calibri"/>
              </a:rPr>
              <a:t>Draft a requirement</a:t>
            </a:r>
          </a:p>
        </p:txBody>
      </p:sp>
      <p:sp>
        <p:nvSpPr>
          <p:cNvPr id="21" name="">
            <a:extLst xmlns:a="http://schemas.openxmlformats.org/drawingml/2006/main">
              <a:ext uri="{FF2B5EF4-FFF2-40B4-BE49-F238E27FC236}">
                <a16:creationId xmlns:a16="http://schemas.microsoft.com/office/drawing/2014/main" id="{B45818A7-245D-4982-83B1-43C67CD63C4F}"/>
              </a:ext>
            </a:extLst>
          </p:cNvPr>
          <p:cNvSpPr>
            <a:spLocks xmlns:a="http://schemas.openxmlformats.org/drawingml/2006/main" noGrp="1"/>
          </p:cNvSpPr>
          <p:nvPr/>
        </p:nvSpPr>
        <p:spPr>
          <a:xfrm xmlns:a="http://schemas.openxmlformats.org/drawingml/2006/main">
            <a:off x="6400800" y="445770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5B6B82"/>
                </a:solidFill>
                <a:latin typeface="Calibri"/>
                <a:ea typeface="Calibri"/>
                <a:cs typeface="Calibri"/>
              </a:defRPr>
            </a:defPPr>
          </a:lstStyle>
          <a:p xmlns:a="http://schemas.openxmlformats.org/drawingml/2006/main">
            <a:pPr algn="ctr">
              <a:defRPr sz="1275" b="0">
                <a:solidFill>
                  <a:srgbClr val="5B6B82"/>
                </a:solidFill>
                <a:latin typeface="Calibri"/>
                <a:ea typeface="Calibri"/>
                <a:cs typeface="Calibri"/>
              </a:defRPr>
            </a:pPr>
            <a:r>
              <a:rPr sz="1275" b="0">
                <a:solidFill>
                  <a:srgbClr val="5B6B82"/>
                </a:solidFill>
                <a:latin typeface="Calibri"/>
                <a:ea typeface="Calibri"/>
                <a:cs typeface="Calibri"/>
              </a:rPr>
              <a:t>Explain change,</a:t>
            </a:r>
          </a:p>
          <a:p xmlns:a="http://schemas.openxmlformats.org/drawingml/2006/main">
            <a:pPr algn="ctr">
              <a:defRPr sz="1275" b="0">
                <a:solidFill>
                  <a:srgbClr val="5B6B82"/>
                </a:solidFill>
                <a:latin typeface="Calibri"/>
                <a:ea typeface="Calibri"/>
                <a:cs typeface="Calibri"/>
              </a:defRPr>
            </a:pPr>
            <a:r>
              <a:rPr sz="1275" b="0">
                <a:solidFill>
                  <a:srgbClr val="5B6B82"/>
                </a:solidFill>
                <a:latin typeface="Calibri"/>
                <a:ea typeface="Calibri"/>
                <a:cs typeface="Calibri"/>
              </a:rPr>
              <a:t>assumptions and gaps</a:t>
            </a:r>
          </a:p>
        </p:txBody>
      </p:sp>
      <p:sp>
        <p:nvSpPr>
          <p:cNvPr id="22" name="">
            <a:extLst xmlns:a="http://schemas.openxmlformats.org/drawingml/2006/main">
              <a:ext uri="{FF2B5EF4-FFF2-40B4-BE49-F238E27FC236}">
                <a16:creationId xmlns:a16="http://schemas.microsoft.com/office/drawing/2014/main" id="{35B8265D-0E67-4C78-A3CF-DB7B16B64760}"/>
              </a:ext>
            </a:extLst>
          </p:cNvPr>
          <p:cNvSpPr>
            <a:spLocks xmlns:a="http://schemas.openxmlformats.org/drawingml/2006/main" noGrp="1"/>
          </p:cNvSpPr>
          <p:nvPr/>
        </p:nvSpPr>
        <p:spPr>
          <a:xfrm xmlns:a="http://schemas.openxmlformats.org/drawingml/2006/main">
            <a:off x="8229600" y="3000375"/>
            <a:ext cx="72390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5D78250-74F5-46C5-AE47-83BDC8A8F6D9}"/>
              </a:ext>
            </a:extLst>
          </p:cNvPr>
          <p:cNvSpPr>
            <a:spLocks xmlns:a="http://schemas.openxmlformats.org/drawingml/2006/main" noGrp="1"/>
          </p:cNvSpPr>
          <p:nvPr/>
        </p:nvSpPr>
        <p:spPr>
          <a:xfrm xmlns:a="http://schemas.openxmlformats.org/drawingml/2006/main">
            <a:off x="9715500" y="2590800"/>
            <a:ext cx="1066800" cy="1066800"/>
          </a:xfrm>
          <a:prstGeom xmlns:a="http://schemas.openxmlformats.org/drawingml/2006/main" prst="ellipse">
            <a:avLst/>
          </a:prstGeom>
          <a:solidFill xmlns:a="http://schemas.openxmlformats.org/drawingml/2006/main">
            <a:srgbClr val="111927"/>
          </a:solidFill>
          <a:ln xmlns:a="http://schemas.openxmlformats.org/drawingml/2006/main" w="38100">
            <a:solidFill>
              <a:srgbClr val="111927"/>
            </a:solidFill>
            <a:prstDash val="solid"/>
          </a:ln>
        </p:spPr>
      </p:sp>
      <p:sp>
        <p:nvSpPr>
          <p:cNvPr id="24" name="">
            <a:extLst xmlns:a="http://schemas.openxmlformats.org/drawingml/2006/main">
              <a:ext uri="{FF2B5EF4-FFF2-40B4-BE49-F238E27FC236}">
                <a16:creationId xmlns:a16="http://schemas.microsoft.com/office/drawing/2014/main" id="{FDD3A8F1-FA68-46E3-B82C-BE929612936F}"/>
              </a:ext>
            </a:extLst>
          </p:cNvPr>
          <p:cNvSpPr>
            <a:spLocks xmlns:a="http://schemas.openxmlformats.org/drawingml/2006/main" noGrp="1"/>
          </p:cNvSpPr>
          <p:nvPr/>
        </p:nvSpPr>
        <p:spPr>
          <a:xfrm xmlns:a="http://schemas.openxmlformats.org/drawingml/2006/main">
            <a:off x="9715500" y="2914650"/>
            <a:ext cx="106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FFFFFF"/>
                </a:solidFill>
                <a:latin typeface="Calibri"/>
                <a:ea typeface="Calibri"/>
                <a:cs typeface="Calibri"/>
              </a:defRPr>
            </a:defPPr>
          </a:lstStyle>
          <a:p xmlns:a="http://schemas.openxmlformats.org/drawingml/2006/main">
            <a:pPr algn="ctr">
              <a:defRPr sz="2100" b="1">
                <a:solidFill>
                  <a:srgbClr val="FFFFFF"/>
                </a:solidFill>
                <a:latin typeface="Calibri"/>
                <a:ea typeface="Calibri"/>
                <a:cs typeface="Calibri"/>
              </a:defRPr>
            </a:pPr>
            <a:r>
              <a:rPr sz="2100" b="1">
                <a:solidFill>
                  <a:srgbClr val="FFFFFF"/>
                </a:solidFill>
                <a:latin typeface="Calibri"/>
                <a:ea typeface="Calibri"/>
                <a:cs typeface="Calibri"/>
              </a:rPr>
              <a:t>04</a:t>
            </a:r>
          </a:p>
        </p:txBody>
      </p:sp>
      <p:sp>
        <p:nvSpPr>
          <p:cNvPr id="25" name="">
            <a:extLst xmlns:a="http://schemas.openxmlformats.org/drawingml/2006/main">
              <a:ext uri="{FF2B5EF4-FFF2-40B4-BE49-F238E27FC236}">
                <a16:creationId xmlns:a16="http://schemas.microsoft.com/office/drawing/2014/main" id="{6B329ECD-5346-428A-A3BC-58C85A9A1E77}"/>
              </a:ext>
            </a:extLst>
          </p:cNvPr>
          <p:cNvSpPr>
            <a:spLocks xmlns:a="http://schemas.openxmlformats.org/drawingml/2006/main" noGrp="1"/>
          </p:cNvSpPr>
          <p:nvPr/>
        </p:nvSpPr>
        <p:spPr>
          <a:xfrm xmlns:a="http://schemas.openxmlformats.org/drawingml/2006/main">
            <a:off x="9258300" y="39624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b="1">
                <a:solidFill>
                  <a:srgbClr val="172131"/>
                </a:solidFill>
                <a:latin typeface="Calibri"/>
                <a:ea typeface="Calibri"/>
                <a:cs typeface="Calibri"/>
              </a:defRPr>
            </a:defPPr>
          </a:lstStyle>
          <a:p xmlns:a="http://schemas.openxmlformats.org/drawingml/2006/main">
            <a:pPr algn="ctr">
              <a:defRPr sz="1575" b="1">
                <a:solidFill>
                  <a:srgbClr val="172131"/>
                </a:solidFill>
                <a:latin typeface="Calibri"/>
                <a:ea typeface="Calibri"/>
                <a:cs typeface="Calibri"/>
              </a:defRPr>
            </a:pPr>
            <a:r>
              <a:rPr sz="1575" b="1">
                <a:solidFill>
                  <a:srgbClr val="172131"/>
                </a:solidFill>
                <a:latin typeface="Calibri"/>
                <a:ea typeface="Calibri"/>
                <a:cs typeface="Calibri"/>
              </a:rPr>
              <a:t>Review and decide</a:t>
            </a:r>
          </a:p>
        </p:txBody>
      </p:sp>
      <p:sp>
        <p:nvSpPr>
          <p:cNvPr id="26" name="">
            <a:extLst xmlns:a="http://schemas.openxmlformats.org/drawingml/2006/main">
              <a:ext uri="{FF2B5EF4-FFF2-40B4-BE49-F238E27FC236}">
                <a16:creationId xmlns:a16="http://schemas.microsoft.com/office/drawing/2014/main" id="{9C94F4E1-A9A2-48CA-BB5C-E8E9AF3721A5}"/>
              </a:ext>
            </a:extLst>
          </p:cNvPr>
          <p:cNvSpPr>
            <a:spLocks xmlns:a="http://schemas.openxmlformats.org/drawingml/2006/main" noGrp="1"/>
          </p:cNvSpPr>
          <p:nvPr/>
        </p:nvSpPr>
        <p:spPr>
          <a:xfrm xmlns:a="http://schemas.openxmlformats.org/drawingml/2006/main">
            <a:off x="9258300" y="445770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5B6B82"/>
                </a:solidFill>
                <a:latin typeface="Calibri"/>
                <a:ea typeface="Calibri"/>
                <a:cs typeface="Calibri"/>
              </a:defRPr>
            </a:defPPr>
          </a:lstStyle>
          <a:p xmlns:a="http://schemas.openxmlformats.org/drawingml/2006/main">
            <a:pPr algn="ctr">
              <a:defRPr sz="1275" b="0">
                <a:solidFill>
                  <a:srgbClr val="5B6B82"/>
                </a:solidFill>
                <a:latin typeface="Calibri"/>
                <a:ea typeface="Calibri"/>
                <a:cs typeface="Calibri"/>
              </a:defRPr>
            </a:pPr>
            <a:r>
              <a:rPr sz="1275" b="0">
                <a:solidFill>
                  <a:srgbClr val="5B6B82"/>
                </a:solidFill>
                <a:latin typeface="Calibri"/>
                <a:ea typeface="Calibri"/>
                <a:cs typeface="Calibri"/>
              </a:rPr>
              <a:t>PM acts on an</a:t>
            </a:r>
          </a:p>
          <a:p xmlns:a="http://schemas.openxmlformats.org/drawingml/2006/main">
            <a:pPr algn="ctr">
              <a:defRPr sz="1275" b="0">
                <a:solidFill>
                  <a:srgbClr val="5B6B82"/>
                </a:solidFill>
                <a:latin typeface="Calibri"/>
                <a:ea typeface="Calibri"/>
                <a:cs typeface="Calibri"/>
              </a:defRPr>
            </a:pPr>
            <a:r>
              <a:rPr sz="1275" b="0">
                <a:solidFill>
                  <a:srgbClr val="5B6B82"/>
                </a:solidFill>
                <a:latin typeface="Calibri"/>
                <a:ea typeface="Calibri"/>
                <a:cs typeface="Calibri"/>
              </a:rPr>
              <a:t>exact version</a:t>
            </a:r>
          </a:p>
        </p:txBody>
      </p:sp>
      <p:sp>
        <p:nvSpPr>
          <p:cNvPr id="27" name="">
            <a:extLst xmlns:a="http://schemas.openxmlformats.org/drawingml/2006/main">
              <a:ext uri="{FF2B5EF4-FFF2-40B4-BE49-F238E27FC236}">
                <a16:creationId xmlns:a16="http://schemas.microsoft.com/office/drawing/2014/main" id="{B348C4BF-B639-4FF9-95FE-5FDB1D77097B}"/>
              </a:ext>
            </a:extLst>
          </p:cNvPr>
          <p:cNvSpPr>
            <a:spLocks xmlns:a="http://schemas.openxmlformats.org/drawingml/2006/main" noGrp="1"/>
          </p:cNvSpPr>
          <p:nvPr/>
        </p:nvSpPr>
        <p:spPr>
          <a:xfrm xmlns:a="http://schemas.openxmlformats.org/drawingml/2006/main">
            <a:off x="685800" y="563880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a:solidFill>
                  <a:srgbClr val="5B6B82"/>
                </a:solidFill>
                <a:latin typeface="Calibri"/>
                <a:ea typeface="Calibri"/>
                <a:cs typeface="Calibri"/>
              </a:defRPr>
            </a:defPPr>
          </a:lstStyle>
          <a:p xmlns:a="http://schemas.openxmlformats.org/drawingml/2006/main">
            <a:pPr algn="ctr">
              <a:defRPr sz="1350" b="0">
                <a:solidFill>
                  <a:srgbClr val="5B6B82"/>
                </a:solidFill>
                <a:latin typeface="Calibri"/>
                <a:ea typeface="Calibri"/>
                <a:cs typeface="Calibri"/>
              </a:defRPr>
            </a:pPr>
            <a:r>
              <a:rPr sz="1350" b="0">
                <a:solidFill>
                  <a:srgbClr val="5B6B82"/>
                </a:solidFill>
                <a:latin typeface="Calibri"/>
                <a:ea typeface="Calibri"/>
                <a:cs typeface="Calibri"/>
              </a:rPr>
              <a:t>Earlier versions stay inspectable after a PM edit or decision.</a:t>
            </a:r>
          </a:p>
        </p:txBody>
      </p:sp>
    </p:spTree>
    <p:extLst>
      <p:ext uri="{BB962C8B-B14F-4D97-AF65-F5344CB8AC3E}">
        <p14:creationId xmlns:p14="http://schemas.microsoft.com/office/powerpoint/2010/main" val="1372202077"/>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827B1F3-3451-4682-B13C-1986B403C91B}"/>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89149CD0-ABD6-4E29-8766-C2E22B16A994}"/>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82325DDD-8857-488B-B45E-F1D633F4F00A}"/>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A948EDCC-EF42-4CCD-8602-14BC2FE43BC8}"/>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TRACEABLE EVIDENCE</a:t>
            </a:r>
          </a:p>
        </p:txBody>
      </p:sp>
      <p:sp>
        <p:nvSpPr>
          <p:cNvPr id="5" name="">
            <a:extLst xmlns:a="http://schemas.openxmlformats.org/drawingml/2006/main">
              <a:ext uri="{FF2B5EF4-FFF2-40B4-BE49-F238E27FC236}">
                <a16:creationId xmlns:a16="http://schemas.microsoft.com/office/drawing/2014/main" id="{A205742B-F72D-4E82-B461-F8671B80BFFD}"/>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record. Exact source.</a:t>
            </a:r>
          </a:p>
        </p:txBody>
      </p:sp>
      <p:sp>
        <p:nvSpPr>
          <p:cNvPr id="6" name="">
            <a:extLst xmlns:a="http://schemas.openxmlformats.org/drawingml/2006/main">
              <a:ext uri="{FF2B5EF4-FFF2-40B4-BE49-F238E27FC236}">
                <a16:creationId xmlns:a16="http://schemas.microsoft.com/office/drawing/2014/main" id="{F98B5D0C-53B5-4F8F-BFCC-053A5D3293FB}"/>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05 / 11</a:t>
            </a:r>
          </a:p>
        </p:txBody>
      </p:sp>
      <p:sp>
        <p:nvSpPr>
          <p:cNvPr id="7" name="">
            <a:extLst xmlns:a="http://schemas.openxmlformats.org/drawingml/2006/main">
              <a:ext uri="{FF2B5EF4-FFF2-40B4-BE49-F238E27FC236}">
                <a16:creationId xmlns:a16="http://schemas.microsoft.com/office/drawing/2014/main" id="{24A00F64-B9B8-40E7-B63E-A4B32D54453A}"/>
              </a:ext>
            </a:extLst>
          </p:cNvPr>
          <p:cNvSpPr>
            <a:spLocks xmlns:a="http://schemas.openxmlformats.org/drawingml/2006/main" noGrp="1"/>
          </p:cNvSpPr>
          <p:nvPr/>
        </p:nvSpPr>
        <p:spPr>
          <a:xfrm xmlns:a="http://schemas.openxmlformats.org/drawingml/2006/main">
            <a:off x="571500" y="1952625"/>
            <a:ext cx="23812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A6C18B-D64F-4674-8FB0-6B247FA4568C}"/>
              </a:ext>
            </a:extLst>
          </p:cNvPr>
          <p:cNvSpPr>
            <a:spLocks xmlns:a="http://schemas.openxmlformats.org/drawingml/2006/main" noGrp="1"/>
          </p:cNvSpPr>
          <p:nvPr/>
        </p:nvSpPr>
        <p:spPr>
          <a:xfrm xmlns:a="http://schemas.openxmlformats.org/drawingml/2006/main">
            <a:off x="685800" y="2019300"/>
            <a:ext cx="2152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BMW 5 SERIES · G60 · US</a:t>
            </a:r>
          </a:p>
        </p:txBody>
      </p:sp>
      <p:sp>
        <p:nvSpPr>
          <p:cNvPr id="9" name="">
            <a:extLst xmlns:a="http://schemas.openxmlformats.org/drawingml/2006/main">
              <a:ext uri="{FF2B5EF4-FFF2-40B4-BE49-F238E27FC236}">
                <a16:creationId xmlns:a16="http://schemas.microsoft.com/office/drawing/2014/main" id="{C2CFC118-85C6-4DEB-BBD7-8ABD939AFAD4}"/>
              </a:ext>
            </a:extLst>
          </p:cNvPr>
          <p:cNvSpPr>
            <a:spLocks xmlns:a="http://schemas.openxmlformats.org/drawingml/2006/main" noGrp="1"/>
          </p:cNvSpPr>
          <p:nvPr/>
        </p:nvSpPr>
        <p:spPr>
          <a:xfrm xmlns:a="http://schemas.openxmlformats.org/drawingml/2006/main">
            <a:off x="571500" y="2476500"/>
            <a:ext cx="67627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46D594EA-3FF4-4FBD-8D2D-1B90E7A748BE}"/>
              </a:ext>
            </a:extLst>
          </p:cNvPr>
          <p:cNvSpPr>
            <a:spLocks xmlns:a="http://schemas.openxmlformats.org/drawingml/2006/main" noGrp="1"/>
          </p:cNvSpPr>
          <p:nvPr/>
        </p:nvSpPr>
        <p:spPr>
          <a:xfrm xmlns:a="http://schemas.openxmlformats.org/drawingml/2006/main">
            <a:off x="819150" y="274320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CUSTOMER FEEDBACK · DIFFICULT TO USE</a:t>
            </a:r>
          </a:p>
        </p:txBody>
      </p:sp>
      <p:sp>
        <p:nvSpPr>
          <p:cNvPr id="11" name="">
            <a:extLst xmlns:a="http://schemas.openxmlformats.org/drawingml/2006/main">
              <a:ext uri="{FF2B5EF4-FFF2-40B4-BE49-F238E27FC236}">
                <a16:creationId xmlns:a16="http://schemas.microsoft.com/office/drawing/2014/main" id="{B94F2EA2-3303-41EA-B9D8-69D5FB3D10EE}"/>
              </a:ext>
            </a:extLst>
          </p:cNvPr>
          <p:cNvSpPr>
            <a:spLocks xmlns:a="http://schemas.openxmlformats.org/drawingml/2006/main" noGrp="1"/>
          </p:cNvSpPr>
          <p:nvPr/>
        </p:nvSpPr>
        <p:spPr>
          <a:xfrm xmlns:a="http://schemas.openxmlformats.org/drawingml/2006/main">
            <a:off x="819150" y="3200400"/>
            <a:ext cx="619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31"/>
                </a:solidFill>
                <a:latin typeface="Calibri"/>
                <a:ea typeface="Calibri"/>
                <a:cs typeface="Calibri"/>
              </a:defRPr>
            </a:defPPr>
          </a:lstStyle>
          <a:p xmlns:a="http://schemas.openxmlformats.org/drawingml/2006/main">
            <a:pPr algn="l">
              <a:defRPr sz="2175" b="1">
                <a:solidFill>
                  <a:srgbClr val="172131"/>
                </a:solidFill>
                <a:latin typeface="Calibri"/>
                <a:ea typeface="Calibri"/>
                <a:cs typeface="Calibri"/>
              </a:defRPr>
            </a:pPr>
            <a:r>
              <a:rPr sz="2175" b="1">
                <a:solidFill>
                  <a:srgbClr val="172131"/>
                </a:solidFill>
                <a:latin typeface="Calibri"/>
                <a:ea typeface="Calibri"/>
                <a:cs typeface="Calibri"/>
              </a:rPr>
              <a:t>“The screen layout is not very intuitive for accessing some functions.”</a:t>
            </a:r>
          </a:p>
        </p:txBody>
      </p:sp>
      <p:sp>
        <p:nvSpPr>
          <p:cNvPr id="12" name="">
            <a:extLst xmlns:a="http://schemas.openxmlformats.org/drawingml/2006/main">
              <a:ext uri="{FF2B5EF4-FFF2-40B4-BE49-F238E27FC236}">
                <a16:creationId xmlns:a16="http://schemas.microsoft.com/office/drawing/2014/main" id="{D5F5A9BF-0EC3-4877-8741-4E2C59A49D26}"/>
              </a:ext>
            </a:extLst>
          </p:cNvPr>
          <p:cNvSpPr>
            <a:spLocks xmlns:a="http://schemas.openxmlformats.org/drawingml/2006/main" noGrp="1"/>
          </p:cNvSpPr>
          <p:nvPr/>
        </p:nvSpPr>
        <p:spPr>
          <a:xfrm xmlns:a="http://schemas.openxmlformats.org/drawingml/2006/main">
            <a:off x="819150" y="4333875"/>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Customer prefers simpler access instead of several menu layers.</a:t>
            </a:r>
          </a:p>
        </p:txBody>
      </p:sp>
      <p:sp>
        <p:nvSpPr>
          <p:cNvPr id="13" name="">
            <a:extLst xmlns:a="http://schemas.openxmlformats.org/drawingml/2006/main">
              <a:ext uri="{FF2B5EF4-FFF2-40B4-BE49-F238E27FC236}">
                <a16:creationId xmlns:a16="http://schemas.microsoft.com/office/drawing/2014/main" id="{FEE338C1-7DBF-423C-A588-5BCAC9D25200}"/>
              </a:ext>
            </a:extLst>
          </p:cNvPr>
          <p:cNvSpPr>
            <a:spLocks xmlns:a="http://schemas.openxmlformats.org/drawingml/2006/main" noGrp="1"/>
          </p:cNvSpPr>
          <p:nvPr/>
        </p:nvSpPr>
        <p:spPr>
          <a:xfrm xmlns:a="http://schemas.openxmlformats.org/drawingml/2006/main">
            <a:off x="571500" y="5314950"/>
            <a:ext cx="676275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96006C7-643C-4148-A13E-5AAB430C4833}"/>
              </a:ext>
            </a:extLst>
          </p:cNvPr>
          <p:cNvSpPr>
            <a:spLocks xmlns:a="http://schemas.openxmlformats.org/drawingml/2006/main" noGrp="1"/>
          </p:cNvSpPr>
          <p:nvPr/>
        </p:nvSpPr>
        <p:spPr>
          <a:xfrm xmlns:a="http://schemas.openxmlformats.org/drawingml/2006/main">
            <a:off x="571500" y="5486400"/>
            <a:ext cx="676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72131"/>
                </a:solidFill>
                <a:latin typeface="Calibri"/>
                <a:ea typeface="Calibri"/>
                <a:cs typeface="Calibri"/>
              </a:defRPr>
            </a:defPPr>
          </a:lstStyle>
          <a:p xmlns:a="http://schemas.openxmlformats.org/drawingml/2006/main">
            <a:pPr algn="l">
              <a:defRPr sz="1125" b="1">
                <a:solidFill>
                  <a:srgbClr val="172131"/>
                </a:solidFill>
                <a:latin typeface="Calibri"/>
                <a:ea typeface="Calibri"/>
                <a:cs typeface="Calibri"/>
              </a:defRPr>
            </a:pPr>
            <a:r>
              <a:rPr sz="1125" b="1">
                <a:solidFill>
                  <a:srgbClr val="172131"/>
                </a:solidFill>
                <a:latin typeface="Calibri"/>
                <a:ea typeface="Calibri"/>
                <a:cs typeface="Calibri"/>
              </a:rPr>
              <a:t>Source: Feedback_Explorer · row 313 · G60-0248</a:t>
            </a:r>
          </a:p>
        </p:txBody>
      </p:sp>
      <p:sp>
        <p:nvSpPr>
          <p:cNvPr id="15" name="">
            <a:extLst xmlns:a="http://schemas.openxmlformats.org/drawingml/2006/main">
              <a:ext uri="{FF2B5EF4-FFF2-40B4-BE49-F238E27FC236}">
                <a16:creationId xmlns:a16="http://schemas.microsoft.com/office/drawing/2014/main" id="{FBFF9733-7472-426C-A218-18D4B5A4AECC}"/>
              </a:ext>
            </a:extLst>
          </p:cNvPr>
          <p:cNvSpPr>
            <a:spLocks xmlns:a="http://schemas.openxmlformats.org/drawingml/2006/main" noGrp="1"/>
          </p:cNvSpPr>
          <p:nvPr/>
        </p:nvSpPr>
        <p:spPr>
          <a:xfrm xmlns:a="http://schemas.openxmlformats.org/drawingml/2006/main">
            <a:off x="7905750" y="242887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WHAT THIS SUPPORTS</a:t>
            </a:r>
          </a:p>
        </p:txBody>
      </p:sp>
      <p:sp>
        <p:nvSpPr>
          <p:cNvPr id="16" name="">
            <a:extLst xmlns:a="http://schemas.openxmlformats.org/drawingml/2006/main">
              <a:ext uri="{FF2B5EF4-FFF2-40B4-BE49-F238E27FC236}">
                <a16:creationId xmlns:a16="http://schemas.microsoft.com/office/drawing/2014/main" id="{83C22F3B-90B2-401B-9CF2-55E482183ACB}"/>
              </a:ext>
            </a:extLst>
          </p:cNvPr>
          <p:cNvSpPr>
            <a:spLocks xmlns:a="http://schemas.openxmlformats.org/drawingml/2006/main" noGrp="1"/>
          </p:cNvSpPr>
          <p:nvPr/>
        </p:nvSpPr>
        <p:spPr>
          <a:xfrm xmlns:a="http://schemas.openxmlformats.org/drawingml/2006/main">
            <a:off x="7905750" y="2743200"/>
            <a:ext cx="3238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2131"/>
                </a:solidFill>
                <a:latin typeface="Calibri"/>
                <a:ea typeface="Calibri"/>
                <a:cs typeface="Calibri"/>
              </a:defRPr>
            </a:defPPr>
          </a:lstStyle>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Usability friction</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in screen access</a:t>
            </a:r>
          </a:p>
        </p:txBody>
      </p:sp>
      <p:sp>
        <p:nvSpPr>
          <p:cNvPr id="17" name="">
            <a:extLst xmlns:a="http://schemas.openxmlformats.org/drawingml/2006/main">
              <a:ext uri="{FF2B5EF4-FFF2-40B4-BE49-F238E27FC236}">
                <a16:creationId xmlns:a16="http://schemas.microsoft.com/office/drawing/2014/main" id="{BF45F951-53A0-49FF-9EFF-C65500DA9C7E}"/>
              </a:ext>
            </a:extLst>
          </p:cNvPr>
          <p:cNvSpPr>
            <a:spLocks xmlns:a="http://schemas.openxmlformats.org/drawingml/2006/main" noGrp="1"/>
          </p:cNvSpPr>
          <p:nvPr/>
        </p:nvSpPr>
        <p:spPr>
          <a:xfrm xmlns:a="http://schemas.openxmlformats.org/drawingml/2006/main">
            <a:off x="7905750" y="3714750"/>
            <a:ext cx="361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WHAT IT DOES NOT ESTABLISH</a:t>
            </a:r>
          </a:p>
        </p:txBody>
      </p:sp>
      <p:sp>
        <p:nvSpPr>
          <p:cNvPr id="18" name="">
            <a:extLst xmlns:a="http://schemas.openxmlformats.org/drawingml/2006/main">
              <a:ext uri="{FF2B5EF4-FFF2-40B4-BE49-F238E27FC236}">
                <a16:creationId xmlns:a16="http://schemas.microsoft.com/office/drawing/2014/main" id="{A3B1EA18-C879-43FD-B51A-C17CD8BCCBBC}"/>
              </a:ext>
            </a:extLst>
          </p:cNvPr>
          <p:cNvSpPr>
            <a:spLocks xmlns:a="http://schemas.openxmlformats.org/drawingml/2006/main" noGrp="1"/>
          </p:cNvSpPr>
          <p:nvPr/>
        </p:nvSpPr>
        <p:spPr>
          <a:xfrm xmlns:a="http://schemas.openxmlformats.org/drawingml/2006/main">
            <a:off x="7905750" y="401955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How common the issue is, which G60 trim applies, or whether a feature is missing.</a:t>
            </a:r>
          </a:p>
        </p:txBody>
      </p:sp>
      <p:sp>
        <p:nvSpPr>
          <p:cNvPr id="19" name="">
            <a:extLst xmlns:a="http://schemas.openxmlformats.org/drawingml/2006/main">
              <a:ext uri="{FF2B5EF4-FFF2-40B4-BE49-F238E27FC236}">
                <a16:creationId xmlns:a16="http://schemas.microsoft.com/office/drawing/2014/main" id="{325B4361-2EDA-44A3-8D62-562600B135D9}"/>
              </a:ext>
            </a:extLst>
          </p:cNvPr>
          <p:cNvSpPr>
            <a:spLocks xmlns:a="http://schemas.openxmlformats.org/drawingml/2006/main" noGrp="1"/>
          </p:cNvSpPr>
          <p:nvPr/>
        </p:nvSpPr>
        <p:spPr>
          <a:xfrm xmlns:a="http://schemas.openxmlformats.org/drawingml/2006/main">
            <a:off x="7905750" y="5238750"/>
            <a:ext cx="3276600" cy="285750"/>
          </a:xfrm>
          <a:prstGeom xmlns:a="http://schemas.openxmlformats.org/drawingml/2006/main" prst="rect">
            <a:avLst/>
          </a:prstGeom>
          <a:solidFill xmlns:a="http://schemas.openxmlformats.org/drawingml/2006/main">
            <a:srgbClr val="FFF4D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E4B3946-C7E5-4D8B-8088-86F7CBD2A035}"/>
              </a:ext>
            </a:extLst>
          </p:cNvPr>
          <p:cNvSpPr>
            <a:spLocks xmlns:a="http://schemas.openxmlformats.org/drawingml/2006/main" noGrp="1"/>
          </p:cNvSpPr>
          <p:nvPr/>
        </p:nvSpPr>
        <p:spPr>
          <a:xfrm xmlns:a="http://schemas.openxmlformats.org/drawingml/2006/main">
            <a:off x="8020050" y="53054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96620B"/>
                </a:solidFill>
                <a:latin typeface="Calibri"/>
                <a:ea typeface="Calibri"/>
                <a:cs typeface="Calibri"/>
              </a:defRPr>
            </a:defPPr>
          </a:lstStyle>
          <a:p xmlns:a="http://schemas.openxmlformats.org/drawingml/2006/main">
            <a:pPr algn="ctr">
              <a:defRPr sz="975" b="1">
                <a:solidFill>
                  <a:srgbClr val="96620B"/>
                </a:solidFill>
                <a:latin typeface="Calibri"/>
                <a:ea typeface="Calibri"/>
                <a:cs typeface="Calibri"/>
              </a:defRPr>
            </a:pPr>
            <a:r>
              <a:rPr sz="975" b="1">
                <a:solidFill>
                  <a:srgbClr val="96620B"/>
                </a:solidFill>
                <a:latin typeface="Calibri"/>
                <a:ea typeface="Calibri"/>
                <a:cs typeface="Calibri"/>
              </a:rPr>
              <a:t>ONE SOURCE RECORD · NOT PREVALENCE</a:t>
            </a:r>
          </a:p>
        </p:txBody>
      </p:sp>
    </p:spTree>
    <p:extLst>
      <p:ext uri="{BB962C8B-B14F-4D97-AF65-F5344CB8AC3E}">
        <p14:creationId xmlns:p14="http://schemas.microsoft.com/office/powerpoint/2010/main" val="1808114924"/>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DE8162D-A3EA-4CA2-BE91-CDFD4C936645}"/>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8C44CDE5-171E-419E-A8C5-2DA7694E00EA}"/>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F7A8EACF-95B4-40D6-81AC-376B438F5B05}"/>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0F73D5AB-E40B-421B-9B30-AA073D01411E}"/>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ALTERNATIVES</a:t>
            </a:r>
          </a:p>
        </p:txBody>
      </p:sp>
      <p:sp>
        <p:nvSpPr>
          <p:cNvPr id="5" name="">
            <a:extLst xmlns:a="http://schemas.openxmlformats.org/drawingml/2006/main">
              <a:ext uri="{FF2B5EF4-FFF2-40B4-BE49-F238E27FC236}">
                <a16:creationId xmlns:a16="http://schemas.microsoft.com/office/drawing/2014/main" id="{96F86E30-0137-49E4-97F2-835D55CD0C55}"/>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task. More than one plausible design.</a:t>
            </a:r>
          </a:p>
        </p:txBody>
      </p:sp>
      <p:sp>
        <p:nvSpPr>
          <p:cNvPr id="6" name="">
            <a:extLst xmlns:a="http://schemas.openxmlformats.org/drawingml/2006/main">
              <a:ext uri="{FF2B5EF4-FFF2-40B4-BE49-F238E27FC236}">
                <a16:creationId xmlns:a16="http://schemas.microsoft.com/office/drawing/2014/main" id="{8591C3CE-DE55-4CE6-B959-22A21899245F}"/>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06 / 11</a:t>
            </a:r>
          </a:p>
        </p:txBody>
      </p:sp>
      <p:sp>
        <p:nvSpPr>
          <p:cNvPr id="7" name="">
            <a:extLst xmlns:a="http://schemas.openxmlformats.org/drawingml/2006/main">
              <a:ext uri="{FF2B5EF4-FFF2-40B4-BE49-F238E27FC236}">
                <a16:creationId xmlns:a16="http://schemas.microsoft.com/office/drawing/2014/main" id="{27297825-DB57-4454-A44F-DF0AA1925FF8}"/>
              </a:ext>
            </a:extLst>
          </p:cNvPr>
          <p:cNvSpPr>
            <a:spLocks xmlns:a="http://schemas.openxmlformats.org/drawingml/2006/main" noGrp="1"/>
          </p:cNvSpPr>
          <p:nvPr/>
        </p:nvSpPr>
        <p:spPr>
          <a:xfrm xmlns:a="http://schemas.openxmlformats.org/drawingml/2006/main">
            <a:off x="552450" y="2590800"/>
            <a:ext cx="2857500" cy="1676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5FE9CDD-AAE3-4481-AB7A-A5D4C9F31D9D}"/>
              </a:ext>
            </a:extLst>
          </p:cNvPr>
          <p:cNvSpPr>
            <a:spLocks xmlns:a="http://schemas.openxmlformats.org/drawingml/2006/main" noGrp="1"/>
          </p:cNvSpPr>
          <p:nvPr/>
        </p:nvSpPr>
        <p:spPr>
          <a:xfrm xmlns:a="http://schemas.openxmlformats.org/drawingml/2006/main">
            <a:off x="781050" y="28194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CUSTOMER TASK</a:t>
            </a:r>
          </a:p>
        </p:txBody>
      </p:sp>
      <p:sp>
        <p:nvSpPr>
          <p:cNvPr id="9" name="">
            <a:extLst xmlns:a="http://schemas.openxmlformats.org/drawingml/2006/main">
              <a:ext uri="{FF2B5EF4-FFF2-40B4-BE49-F238E27FC236}">
                <a16:creationId xmlns:a16="http://schemas.microsoft.com/office/drawing/2014/main" id="{6817D0EA-591C-4D6D-858C-AEFA1970F71D}"/>
              </a:ext>
            </a:extLst>
          </p:cNvPr>
          <p:cNvSpPr>
            <a:spLocks xmlns:a="http://schemas.openxmlformats.org/drawingml/2006/main" noGrp="1"/>
          </p:cNvSpPr>
          <p:nvPr/>
        </p:nvSpPr>
        <p:spPr>
          <a:xfrm xmlns:a="http://schemas.openxmlformats.org/drawingml/2006/main">
            <a:off x="781050" y="3162300"/>
            <a:ext cx="2362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2131"/>
                </a:solidFill>
                <a:latin typeface="Calibri"/>
                <a:ea typeface="Calibri"/>
                <a:cs typeface="Calibri"/>
              </a:defRPr>
            </a:defPPr>
          </a:lstStyle>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Reach frequent</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vehicle functions</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with fewer steps</a:t>
            </a:r>
          </a:p>
        </p:txBody>
      </p:sp>
      <p:sp>
        <p:nvSpPr>
          <p:cNvPr id="10" name="">
            <a:extLst xmlns:a="http://schemas.openxmlformats.org/drawingml/2006/main">
              <a:ext uri="{FF2B5EF4-FFF2-40B4-BE49-F238E27FC236}">
                <a16:creationId xmlns:a16="http://schemas.microsoft.com/office/drawing/2014/main" id="{A9D2CEFD-B1F8-4000-9AA9-D8DBF9912CF1}"/>
              </a:ext>
            </a:extLst>
          </p:cNvPr>
          <p:cNvSpPr>
            <a:spLocks xmlns:a="http://schemas.openxmlformats.org/drawingml/2006/main" noGrp="1"/>
          </p:cNvSpPr>
          <p:nvPr/>
        </p:nvSpPr>
        <p:spPr>
          <a:xfrm xmlns:a="http://schemas.openxmlformats.org/drawingml/2006/main">
            <a:off x="3409950" y="3371850"/>
            <a:ext cx="552450" cy="571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40AAED7-48B9-4D14-A51B-91BD2A4CC233}"/>
              </a:ext>
            </a:extLst>
          </p:cNvPr>
          <p:cNvSpPr>
            <a:spLocks xmlns:a="http://schemas.openxmlformats.org/drawingml/2006/main" noGrp="1"/>
          </p:cNvSpPr>
          <p:nvPr/>
        </p:nvSpPr>
        <p:spPr>
          <a:xfrm xmlns:a="http://schemas.openxmlformats.org/drawingml/2006/main">
            <a:off x="3905250" y="2667000"/>
            <a:ext cx="57150" cy="14287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BE8009F-61AA-4B8A-BE7A-77AAB0EE68A8}"/>
              </a:ext>
            </a:extLst>
          </p:cNvPr>
          <p:cNvSpPr>
            <a:spLocks xmlns:a="http://schemas.openxmlformats.org/drawingml/2006/main" noGrp="1"/>
          </p:cNvSpPr>
          <p:nvPr/>
        </p:nvSpPr>
        <p:spPr>
          <a:xfrm xmlns:a="http://schemas.openxmlformats.org/drawingml/2006/main">
            <a:off x="3905250" y="259080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33EA1B1-C264-4C55-89F4-BA0CA54B4F02}"/>
              </a:ext>
            </a:extLst>
          </p:cNvPr>
          <p:cNvSpPr>
            <a:spLocks xmlns:a="http://schemas.openxmlformats.org/drawingml/2006/main" noGrp="1"/>
          </p:cNvSpPr>
          <p:nvPr/>
        </p:nvSpPr>
        <p:spPr>
          <a:xfrm xmlns:a="http://schemas.openxmlformats.org/drawingml/2006/main">
            <a:off x="3905250" y="398145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3E2476F-25DE-461B-AAD0-1B5C8880F9DF}"/>
              </a:ext>
            </a:extLst>
          </p:cNvPr>
          <p:cNvSpPr>
            <a:spLocks xmlns:a="http://schemas.openxmlformats.org/drawingml/2006/main" noGrp="1"/>
          </p:cNvSpPr>
          <p:nvPr/>
        </p:nvSpPr>
        <p:spPr>
          <a:xfrm xmlns:a="http://schemas.openxmlformats.org/drawingml/2006/main">
            <a:off x="4533900" y="219075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5" name="">
            <a:extLst xmlns:a="http://schemas.openxmlformats.org/drawingml/2006/main">
              <a:ext uri="{FF2B5EF4-FFF2-40B4-BE49-F238E27FC236}">
                <a16:creationId xmlns:a16="http://schemas.microsoft.com/office/drawing/2014/main" id="{79E5DC3C-3F1B-4969-B207-664E3B91E865}"/>
              </a:ext>
            </a:extLst>
          </p:cNvPr>
          <p:cNvSpPr>
            <a:spLocks xmlns:a="http://schemas.openxmlformats.org/drawingml/2006/main" noGrp="1"/>
          </p:cNvSpPr>
          <p:nvPr/>
        </p:nvSpPr>
        <p:spPr>
          <a:xfrm xmlns:a="http://schemas.openxmlformats.org/drawingml/2006/main">
            <a:off x="4533900" y="400050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32C28E9A-ED05-48E6-A4C3-527358A2CE8F}"/>
              </a:ext>
            </a:extLst>
          </p:cNvPr>
          <p:cNvSpPr>
            <a:spLocks xmlns:a="http://schemas.openxmlformats.org/drawingml/2006/main" noGrp="1"/>
          </p:cNvSpPr>
          <p:nvPr/>
        </p:nvSpPr>
        <p:spPr>
          <a:xfrm xmlns:a="http://schemas.openxmlformats.org/drawingml/2006/main">
            <a:off x="4800600" y="252412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A</a:t>
            </a:r>
          </a:p>
        </p:txBody>
      </p:sp>
      <p:sp>
        <p:nvSpPr>
          <p:cNvPr id="17" name="">
            <a:extLst xmlns:a="http://schemas.openxmlformats.org/drawingml/2006/main">
              <a:ext uri="{FF2B5EF4-FFF2-40B4-BE49-F238E27FC236}">
                <a16:creationId xmlns:a16="http://schemas.microsoft.com/office/drawing/2014/main" id="{B85105D8-0F1B-46C7-A384-300D3B800193}"/>
              </a:ext>
            </a:extLst>
          </p:cNvPr>
          <p:cNvSpPr>
            <a:spLocks xmlns:a="http://schemas.openxmlformats.org/drawingml/2006/main" noGrp="1"/>
          </p:cNvSpPr>
          <p:nvPr/>
        </p:nvSpPr>
        <p:spPr>
          <a:xfrm xmlns:a="http://schemas.openxmlformats.org/drawingml/2006/main">
            <a:off x="5524500" y="24955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Shorter digital path</a:t>
            </a:r>
          </a:p>
        </p:txBody>
      </p:sp>
      <p:sp>
        <p:nvSpPr>
          <p:cNvPr id="18" name="">
            <a:extLst xmlns:a="http://schemas.openxmlformats.org/drawingml/2006/main">
              <a:ext uri="{FF2B5EF4-FFF2-40B4-BE49-F238E27FC236}">
                <a16:creationId xmlns:a16="http://schemas.microsoft.com/office/drawing/2014/main" id="{F8BB365F-843C-49E8-8ECA-763F0EB6046F}"/>
              </a:ext>
            </a:extLst>
          </p:cNvPr>
          <p:cNvSpPr>
            <a:spLocks xmlns:a="http://schemas.openxmlformats.org/drawingml/2006/main" noGrp="1"/>
          </p:cNvSpPr>
          <p:nvPr/>
        </p:nvSpPr>
        <p:spPr>
          <a:xfrm xmlns:a="http://schemas.openxmlformats.org/drawingml/2006/main">
            <a:off x="5524500" y="2971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Favorites or shortcuts for frequent tasks.</a:t>
            </a:r>
          </a:p>
        </p:txBody>
      </p:sp>
      <p:sp>
        <p:nvSpPr>
          <p:cNvPr id="19" name="">
            <a:extLst xmlns:a="http://schemas.openxmlformats.org/drawingml/2006/main">
              <a:ext uri="{FF2B5EF4-FFF2-40B4-BE49-F238E27FC236}">
                <a16:creationId xmlns:a16="http://schemas.microsoft.com/office/drawing/2014/main" id="{6AAE0932-521F-4467-8BF4-1BD8AA0A2ED3}"/>
              </a:ext>
            </a:extLst>
          </p:cNvPr>
          <p:cNvSpPr>
            <a:spLocks xmlns:a="http://schemas.openxmlformats.org/drawingml/2006/main" noGrp="1"/>
          </p:cNvSpPr>
          <p:nvPr/>
        </p:nvSpPr>
        <p:spPr>
          <a:xfrm xmlns:a="http://schemas.openxmlformats.org/drawingml/2006/main">
            <a:off x="4800600" y="433387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B</a:t>
            </a:r>
          </a:p>
        </p:txBody>
      </p:sp>
      <p:sp>
        <p:nvSpPr>
          <p:cNvPr id="20" name="">
            <a:extLst xmlns:a="http://schemas.openxmlformats.org/drawingml/2006/main">
              <a:ext uri="{FF2B5EF4-FFF2-40B4-BE49-F238E27FC236}">
                <a16:creationId xmlns:a16="http://schemas.microsoft.com/office/drawing/2014/main" id="{DA39547F-BE1C-427A-A0B2-5F907656CC87}"/>
              </a:ext>
            </a:extLst>
          </p:cNvPr>
          <p:cNvSpPr>
            <a:spLocks xmlns:a="http://schemas.openxmlformats.org/drawingml/2006/main" noGrp="1"/>
          </p:cNvSpPr>
          <p:nvPr/>
        </p:nvSpPr>
        <p:spPr>
          <a:xfrm xmlns:a="http://schemas.openxmlformats.org/drawingml/2006/main">
            <a:off x="5524500" y="429577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Tactile access for selected tasks</a:t>
            </a:r>
          </a:p>
        </p:txBody>
      </p:sp>
      <p:sp>
        <p:nvSpPr>
          <p:cNvPr id="21" name="">
            <a:extLst xmlns:a="http://schemas.openxmlformats.org/drawingml/2006/main">
              <a:ext uri="{FF2B5EF4-FFF2-40B4-BE49-F238E27FC236}">
                <a16:creationId xmlns:a16="http://schemas.microsoft.com/office/drawing/2014/main" id="{F3251225-7C9C-4A67-B475-77F3B5374376}"/>
              </a:ext>
            </a:extLst>
          </p:cNvPr>
          <p:cNvSpPr>
            <a:spLocks xmlns:a="http://schemas.openxmlformats.org/drawingml/2006/main" noGrp="1"/>
          </p:cNvSpPr>
          <p:nvPr/>
        </p:nvSpPr>
        <p:spPr>
          <a:xfrm xmlns:a="http://schemas.openxmlformats.org/drawingml/2006/main">
            <a:off x="5524500" y="477202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Test whether some controls need a more direct interaction.</a:t>
            </a:r>
          </a:p>
        </p:txBody>
      </p:sp>
      <p:sp>
        <p:nvSpPr>
          <p:cNvPr id="22" name="">
            <a:extLst xmlns:a="http://schemas.openxmlformats.org/drawingml/2006/main">
              <a:ext uri="{FF2B5EF4-FFF2-40B4-BE49-F238E27FC236}">
                <a16:creationId xmlns:a16="http://schemas.microsoft.com/office/drawing/2014/main" id="{A1994CAA-171C-423F-97B3-35376C271AF4}"/>
              </a:ext>
            </a:extLst>
          </p:cNvPr>
          <p:cNvSpPr>
            <a:spLocks xmlns:a="http://schemas.openxmlformats.org/drawingml/2006/main" noGrp="1"/>
          </p:cNvSpPr>
          <p:nvPr/>
        </p:nvSpPr>
        <p:spPr>
          <a:xfrm xmlns:a="http://schemas.openxmlformats.org/drawingml/2006/main">
            <a:off x="571500" y="58483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5B6B82"/>
                </a:solidFill>
                <a:latin typeface="Calibri"/>
                <a:ea typeface="Calibri"/>
                <a:cs typeface="Calibri"/>
              </a:defRPr>
            </a:defPPr>
          </a:lstStyle>
          <a:p xmlns:a="http://schemas.openxmlformats.org/drawingml/2006/main">
            <a:pPr algn="l">
              <a:defRPr sz="1275" b="1">
                <a:solidFill>
                  <a:srgbClr val="5B6B82"/>
                </a:solidFill>
                <a:latin typeface="Calibri"/>
                <a:ea typeface="Calibri"/>
                <a:cs typeface="Calibri"/>
              </a:defRPr>
            </a:pPr>
            <a:r>
              <a:rPr sz="1275" b="1">
                <a:solidFill>
                  <a:srgbClr val="5B6B82"/>
                </a:solidFill>
                <a:latin typeface="Calibri"/>
                <a:ea typeface="Calibri"/>
                <a:cs typeface="Calibri"/>
              </a:rPr>
              <a:t>Design hypotheses. BMW feedback does not validate either solution.</a:t>
            </a:r>
          </a:p>
        </p:txBody>
      </p:sp>
    </p:spTree>
    <p:extLst>
      <p:ext uri="{BB962C8B-B14F-4D97-AF65-F5344CB8AC3E}">
        <p14:creationId xmlns:p14="http://schemas.microsoft.com/office/powerpoint/2010/main" val="1860856744"/>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C16DD52-7072-4F0C-A709-56A3913F85EA}"/>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0C2A2136-A642-4074-B047-39CD19B807D1}"/>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47CDE736-85BF-4182-B1C4-C2C04596108E}"/>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3F996F2D-17B5-4DF6-820B-7E9FE3E940C5}"/>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SETTING PRIORITIES</a:t>
            </a:r>
          </a:p>
        </p:txBody>
      </p:sp>
      <p:sp>
        <p:nvSpPr>
          <p:cNvPr id="5" name="">
            <a:extLst xmlns:a="http://schemas.openxmlformats.org/drawingml/2006/main">
              <a:ext uri="{FF2B5EF4-FFF2-40B4-BE49-F238E27FC236}">
                <a16:creationId xmlns:a16="http://schemas.microsoft.com/office/drawing/2014/main" id="{CBC8CFD9-4CFF-4D01-B118-4832FBB37C92}"/>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Priority waits for matched evidence.</a:t>
            </a:r>
          </a:p>
        </p:txBody>
      </p:sp>
      <p:sp>
        <p:nvSpPr>
          <p:cNvPr id="6" name="">
            <a:extLst xmlns:a="http://schemas.openxmlformats.org/drawingml/2006/main">
              <a:ext uri="{FF2B5EF4-FFF2-40B4-BE49-F238E27FC236}">
                <a16:creationId xmlns:a16="http://schemas.microsoft.com/office/drawing/2014/main" id="{E49B1DD6-2F47-4646-93DE-4C9DEB122059}"/>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07 / 11</a:t>
            </a:r>
          </a:p>
        </p:txBody>
      </p:sp>
      <p:sp>
        <p:nvSpPr>
          <p:cNvPr id="7" name="">
            <a:extLst xmlns:a="http://schemas.openxmlformats.org/drawingml/2006/main">
              <a:ext uri="{FF2B5EF4-FFF2-40B4-BE49-F238E27FC236}">
                <a16:creationId xmlns:a16="http://schemas.microsoft.com/office/drawing/2014/main" id="{5462326C-115F-4251-B369-D5C62C5CE7DD}"/>
              </a:ext>
            </a:extLst>
          </p:cNvPr>
          <p:cNvSpPr>
            <a:spLocks xmlns:a="http://schemas.openxmlformats.org/drawingml/2006/main" noGrp="1"/>
          </p:cNvSpPr>
          <p:nvPr/>
        </p:nvSpPr>
        <p:spPr>
          <a:xfrm xmlns:a="http://schemas.openxmlformats.org/drawingml/2006/main">
            <a:off x="552450" y="1962150"/>
            <a:ext cx="2381250" cy="285750"/>
          </a:xfrm>
          <a:prstGeom xmlns:a="http://schemas.openxmlformats.org/drawingml/2006/main" prst="rect">
            <a:avLst/>
          </a:prstGeom>
          <a:solidFill xmlns:a="http://schemas.openxmlformats.org/drawingml/2006/main">
            <a:srgbClr val="FFF4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BE07259-896F-481E-9EFC-7B99EAD4C95B}"/>
              </a:ext>
            </a:extLst>
          </p:cNvPr>
          <p:cNvSpPr>
            <a:spLocks xmlns:a="http://schemas.openxmlformats.org/drawingml/2006/main" noGrp="1"/>
          </p:cNvSpPr>
          <p:nvPr/>
        </p:nvSpPr>
        <p:spPr>
          <a:xfrm xmlns:a="http://schemas.openxmlformats.org/drawingml/2006/main">
            <a:off x="666750" y="2028825"/>
            <a:ext cx="2152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96620B"/>
                </a:solidFill>
                <a:latin typeface="Calibri"/>
                <a:ea typeface="Calibri"/>
                <a:cs typeface="Calibri"/>
              </a:defRPr>
            </a:defPPr>
          </a:lstStyle>
          <a:p xmlns:a="http://schemas.openxmlformats.org/drawingml/2006/main">
            <a:pPr algn="ctr">
              <a:defRPr sz="975" b="1">
                <a:solidFill>
                  <a:srgbClr val="96620B"/>
                </a:solidFill>
                <a:latin typeface="Calibri"/>
                <a:ea typeface="Calibri"/>
                <a:cs typeface="Calibri"/>
              </a:defRPr>
            </a:pPr>
            <a:r>
              <a:rPr sz="975" b="1">
                <a:solidFill>
                  <a:srgbClr val="96620B"/>
                </a:solidFill>
                <a:latin typeface="Calibri"/>
                <a:ea typeface="Calibri"/>
                <a:cs typeface="Calibri"/>
              </a:rPr>
              <a:t>REAL G60 CASE · NOT SCORED</a:t>
            </a:r>
          </a:p>
        </p:txBody>
      </p:sp>
      <p:sp>
        <p:nvSpPr>
          <p:cNvPr id="9" name="">
            <a:extLst xmlns:a="http://schemas.openxmlformats.org/drawingml/2006/main">
              <a:ext uri="{FF2B5EF4-FFF2-40B4-BE49-F238E27FC236}">
                <a16:creationId xmlns:a16="http://schemas.microsoft.com/office/drawing/2014/main" id="{3BF3B73B-BB47-4D41-A2E8-804C1A9DB894}"/>
              </a:ext>
            </a:extLst>
          </p:cNvPr>
          <p:cNvSpPr>
            <a:spLocks xmlns:a="http://schemas.openxmlformats.org/drawingml/2006/main" noGrp="1"/>
          </p:cNvSpPr>
          <p:nvPr/>
        </p:nvSpPr>
        <p:spPr>
          <a:xfrm xmlns:a="http://schemas.openxmlformats.org/drawingml/2006/main">
            <a:off x="5715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7A0E78A9-DE55-4BF5-8D69-E25EC4CB66C1}"/>
              </a:ext>
            </a:extLst>
          </p:cNvPr>
          <p:cNvSpPr>
            <a:spLocks xmlns:a="http://schemas.openxmlformats.org/drawingml/2006/main" noGrp="1"/>
          </p:cNvSpPr>
          <p:nvPr/>
        </p:nvSpPr>
        <p:spPr>
          <a:xfrm xmlns:a="http://schemas.openxmlformats.org/drawingml/2006/main">
            <a:off x="7429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CUSTOMER IMPACT</a:t>
            </a:r>
          </a:p>
        </p:txBody>
      </p:sp>
      <p:sp>
        <p:nvSpPr>
          <p:cNvPr id="11" name="">
            <a:extLst xmlns:a="http://schemas.openxmlformats.org/drawingml/2006/main">
              <a:ext uri="{FF2B5EF4-FFF2-40B4-BE49-F238E27FC236}">
                <a16:creationId xmlns:a16="http://schemas.microsoft.com/office/drawing/2014/main" id="{C3063B27-5EBE-4FAC-A10B-7631965C5057}"/>
              </a:ext>
            </a:extLst>
          </p:cNvPr>
          <p:cNvSpPr>
            <a:spLocks xmlns:a="http://schemas.openxmlformats.org/drawingml/2006/main" noGrp="1"/>
          </p:cNvSpPr>
          <p:nvPr/>
        </p:nvSpPr>
        <p:spPr>
          <a:xfrm xmlns:a="http://schemas.openxmlformats.org/drawingml/2006/main">
            <a:off x="7429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rated</a:t>
            </a:r>
          </a:p>
        </p:txBody>
      </p:sp>
      <p:sp>
        <p:nvSpPr>
          <p:cNvPr id="12" name="">
            <a:extLst xmlns:a="http://schemas.openxmlformats.org/drawingml/2006/main">
              <a:ext uri="{FF2B5EF4-FFF2-40B4-BE49-F238E27FC236}">
                <a16:creationId xmlns:a16="http://schemas.microsoft.com/office/drawing/2014/main" id="{04FE33F2-3B95-4A98-9235-F0533CD8D316}"/>
              </a:ext>
            </a:extLst>
          </p:cNvPr>
          <p:cNvSpPr>
            <a:spLocks xmlns:a="http://schemas.openxmlformats.org/drawingml/2006/main" noGrp="1"/>
          </p:cNvSpPr>
          <p:nvPr/>
        </p:nvSpPr>
        <p:spPr>
          <a:xfrm xmlns:a="http://schemas.openxmlformats.org/drawingml/2006/main">
            <a:off x="33718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3" name="">
            <a:extLst xmlns:a="http://schemas.openxmlformats.org/drawingml/2006/main">
              <a:ext uri="{FF2B5EF4-FFF2-40B4-BE49-F238E27FC236}">
                <a16:creationId xmlns:a16="http://schemas.microsoft.com/office/drawing/2014/main" id="{0B3BF653-6788-4AD9-AFE9-F3F7F356671E}"/>
              </a:ext>
            </a:extLst>
          </p:cNvPr>
          <p:cNvSpPr>
            <a:spLocks xmlns:a="http://schemas.openxmlformats.org/drawingml/2006/main" noGrp="1"/>
          </p:cNvSpPr>
          <p:nvPr/>
        </p:nvSpPr>
        <p:spPr>
          <a:xfrm xmlns:a="http://schemas.openxmlformats.org/drawingml/2006/main">
            <a:off x="35433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TARGET-GROUP REACH</a:t>
            </a:r>
          </a:p>
        </p:txBody>
      </p:sp>
      <p:sp>
        <p:nvSpPr>
          <p:cNvPr id="14" name="">
            <a:extLst xmlns:a="http://schemas.openxmlformats.org/drawingml/2006/main">
              <a:ext uri="{FF2B5EF4-FFF2-40B4-BE49-F238E27FC236}">
                <a16:creationId xmlns:a16="http://schemas.microsoft.com/office/drawing/2014/main" id="{245637C8-5BF2-4605-BD83-6D1193E68FBF}"/>
              </a:ext>
            </a:extLst>
          </p:cNvPr>
          <p:cNvSpPr>
            <a:spLocks xmlns:a="http://schemas.openxmlformats.org/drawingml/2006/main" noGrp="1"/>
          </p:cNvSpPr>
          <p:nvPr/>
        </p:nvSpPr>
        <p:spPr>
          <a:xfrm xmlns:a="http://schemas.openxmlformats.org/drawingml/2006/main">
            <a:off x="35433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established</a:t>
            </a:r>
          </a:p>
        </p:txBody>
      </p:sp>
      <p:sp>
        <p:nvSpPr>
          <p:cNvPr id="15" name="">
            <a:extLst xmlns:a="http://schemas.openxmlformats.org/drawingml/2006/main">
              <a:ext uri="{FF2B5EF4-FFF2-40B4-BE49-F238E27FC236}">
                <a16:creationId xmlns:a16="http://schemas.microsoft.com/office/drawing/2014/main" id="{1ACAE225-C0EB-49B7-AE07-98EE21E0BC49}"/>
              </a:ext>
            </a:extLst>
          </p:cNvPr>
          <p:cNvSpPr>
            <a:spLocks xmlns:a="http://schemas.openxmlformats.org/drawingml/2006/main" noGrp="1"/>
          </p:cNvSpPr>
          <p:nvPr/>
        </p:nvSpPr>
        <p:spPr>
          <a:xfrm xmlns:a="http://schemas.openxmlformats.org/drawingml/2006/main">
            <a:off x="61722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088C7240-5BD8-4F3C-877E-57F70D371D36}"/>
              </a:ext>
            </a:extLst>
          </p:cNvPr>
          <p:cNvSpPr>
            <a:spLocks xmlns:a="http://schemas.openxmlformats.org/drawingml/2006/main" noGrp="1"/>
          </p:cNvSpPr>
          <p:nvPr/>
        </p:nvSpPr>
        <p:spPr>
          <a:xfrm xmlns:a="http://schemas.openxmlformats.org/drawingml/2006/main">
            <a:off x="63436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CURRENT OFFERING GAP</a:t>
            </a:r>
          </a:p>
        </p:txBody>
      </p:sp>
      <p:sp>
        <p:nvSpPr>
          <p:cNvPr id="17" name="">
            <a:extLst xmlns:a="http://schemas.openxmlformats.org/drawingml/2006/main">
              <a:ext uri="{FF2B5EF4-FFF2-40B4-BE49-F238E27FC236}">
                <a16:creationId xmlns:a16="http://schemas.microsoft.com/office/drawing/2014/main" id="{7786FA4D-B358-4E73-9D52-EA6CAE7C227B}"/>
              </a:ext>
            </a:extLst>
          </p:cNvPr>
          <p:cNvSpPr>
            <a:spLocks xmlns:a="http://schemas.openxmlformats.org/drawingml/2006/main" noGrp="1"/>
          </p:cNvSpPr>
          <p:nvPr/>
        </p:nvSpPr>
        <p:spPr>
          <a:xfrm xmlns:a="http://schemas.openxmlformats.org/drawingml/2006/main">
            <a:off x="63436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Unknown</a:t>
            </a:r>
          </a:p>
        </p:txBody>
      </p:sp>
      <p:sp>
        <p:nvSpPr>
          <p:cNvPr id="18" name="">
            <a:extLst xmlns:a="http://schemas.openxmlformats.org/drawingml/2006/main">
              <a:ext uri="{FF2B5EF4-FFF2-40B4-BE49-F238E27FC236}">
                <a16:creationId xmlns:a16="http://schemas.microsoft.com/office/drawing/2014/main" id="{C6E54700-DAEF-486A-AAE9-2359D2E7159E}"/>
              </a:ext>
            </a:extLst>
          </p:cNvPr>
          <p:cNvSpPr>
            <a:spLocks xmlns:a="http://schemas.openxmlformats.org/drawingml/2006/main" noGrp="1"/>
          </p:cNvSpPr>
          <p:nvPr/>
        </p:nvSpPr>
        <p:spPr>
          <a:xfrm xmlns:a="http://schemas.openxmlformats.org/drawingml/2006/main">
            <a:off x="89725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9" name="">
            <a:extLst xmlns:a="http://schemas.openxmlformats.org/drawingml/2006/main">
              <a:ext uri="{FF2B5EF4-FFF2-40B4-BE49-F238E27FC236}">
                <a16:creationId xmlns:a16="http://schemas.microsoft.com/office/drawing/2014/main" id="{207B4D10-F560-4F8E-870A-A28261132042}"/>
              </a:ext>
            </a:extLst>
          </p:cNvPr>
          <p:cNvSpPr>
            <a:spLocks xmlns:a="http://schemas.openxmlformats.org/drawingml/2006/main" noGrp="1"/>
          </p:cNvSpPr>
          <p:nvPr/>
        </p:nvSpPr>
        <p:spPr>
          <a:xfrm xmlns:a="http://schemas.openxmlformats.org/drawingml/2006/main">
            <a:off x="91440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FUTURE RELEVANCE</a:t>
            </a:r>
          </a:p>
        </p:txBody>
      </p:sp>
      <p:sp>
        <p:nvSpPr>
          <p:cNvPr id="20" name="">
            <a:extLst xmlns:a="http://schemas.openxmlformats.org/drawingml/2006/main">
              <a:ext uri="{FF2B5EF4-FFF2-40B4-BE49-F238E27FC236}">
                <a16:creationId xmlns:a16="http://schemas.microsoft.com/office/drawing/2014/main" id="{EF6020D6-19B9-4443-A8CD-94869EFFA474}"/>
              </a:ext>
            </a:extLst>
          </p:cNvPr>
          <p:cNvSpPr>
            <a:spLocks xmlns:a="http://schemas.openxmlformats.org/drawingml/2006/main" noGrp="1"/>
          </p:cNvSpPr>
          <p:nvPr/>
        </p:nvSpPr>
        <p:spPr>
          <a:xfrm xmlns:a="http://schemas.openxmlformats.org/drawingml/2006/main">
            <a:off x="91440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Assumption</a:t>
            </a:r>
          </a:p>
        </p:txBody>
      </p:sp>
      <p:sp>
        <p:nvSpPr>
          <p:cNvPr id="21" name="">
            <a:extLst xmlns:a="http://schemas.openxmlformats.org/drawingml/2006/main">
              <a:ext uri="{FF2B5EF4-FFF2-40B4-BE49-F238E27FC236}">
                <a16:creationId xmlns:a16="http://schemas.microsoft.com/office/drawing/2014/main" id="{C994FFB9-E281-4A6E-B37E-593C5E5E0DC3}"/>
              </a:ext>
            </a:extLst>
          </p:cNvPr>
          <p:cNvSpPr>
            <a:spLocks xmlns:a="http://schemas.openxmlformats.org/drawingml/2006/main" noGrp="1"/>
          </p:cNvSpPr>
          <p:nvPr/>
        </p:nvSpPr>
        <p:spPr>
          <a:xfrm xmlns:a="http://schemas.openxmlformats.org/drawingml/2006/main">
            <a:off x="571500" y="4267200"/>
            <a:ext cx="10706100" cy="1352550"/>
          </a:xfrm>
          <a:prstGeom xmlns:a="http://schemas.openxmlformats.org/drawingml/2006/main" prst="rect">
            <a:avLst/>
          </a:prstGeom>
          <a:solidFill xmlns:a="http://schemas.openxmlformats.org/drawingml/2006/main">
            <a:srgbClr val="11192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31423F3-FC8A-48D4-BC48-B34C3BDB3EE1}"/>
              </a:ext>
            </a:extLst>
          </p:cNvPr>
          <p:cNvSpPr>
            <a:spLocks xmlns:a="http://schemas.openxmlformats.org/drawingml/2006/main" noGrp="1"/>
          </p:cNvSpPr>
          <p:nvPr/>
        </p:nvSpPr>
        <p:spPr>
          <a:xfrm xmlns:a="http://schemas.openxmlformats.org/drawingml/2006/main">
            <a:off x="838200" y="45720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EBBD0"/>
                </a:solidFill>
                <a:latin typeface="Calibri"/>
                <a:ea typeface="Calibri"/>
                <a:cs typeface="Calibri"/>
              </a:defRPr>
            </a:defPPr>
          </a:lstStyle>
          <a:p xmlns:a="http://schemas.openxmlformats.org/drawingml/2006/main">
            <a:pPr algn="l">
              <a:defRPr sz="1050" b="1">
                <a:solidFill>
                  <a:srgbClr val="AEBBD0"/>
                </a:solidFill>
                <a:latin typeface="Calibri"/>
                <a:ea typeface="Calibri"/>
                <a:cs typeface="Calibri"/>
              </a:defRPr>
            </a:pPr>
            <a:r>
              <a:rPr sz="1050" b="1">
                <a:solidFill>
                  <a:srgbClr val="AEBBD0"/>
                </a:solidFill>
                <a:latin typeface="Calibri"/>
                <a:ea typeface="Calibri"/>
                <a:cs typeface="Calibri"/>
              </a:rPr>
              <a:t>PRIORITY</a:t>
            </a:r>
          </a:p>
        </p:txBody>
      </p:sp>
      <p:sp>
        <p:nvSpPr>
          <p:cNvPr id="23" name="">
            <a:extLst xmlns:a="http://schemas.openxmlformats.org/drawingml/2006/main">
              <a:ext uri="{FF2B5EF4-FFF2-40B4-BE49-F238E27FC236}">
                <a16:creationId xmlns:a16="http://schemas.microsoft.com/office/drawing/2014/main" id="{3237D563-A0D5-4CB5-BD7C-D860158A71F9}"/>
              </a:ext>
            </a:extLst>
          </p:cNvPr>
          <p:cNvSpPr>
            <a:spLocks xmlns:a="http://schemas.openxmlformats.org/drawingml/2006/main" noGrp="1"/>
          </p:cNvSpPr>
          <p:nvPr/>
        </p:nvSpPr>
        <p:spPr>
          <a:xfrm xmlns:a="http://schemas.openxmlformats.org/drawingml/2006/main">
            <a:off x="838200" y="48958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FFFFF"/>
                </a:solidFill>
                <a:latin typeface="Calibri"/>
                <a:ea typeface="Calibri"/>
                <a:cs typeface="Calibri"/>
              </a:defRPr>
            </a:defPPr>
          </a:lstStyle>
          <a:p xmlns:a="http://schemas.openxmlformats.org/drawingml/2006/main">
            <a:pPr algn="l">
              <a:defRPr sz="2850" b="1">
                <a:solidFill>
                  <a:srgbClr val="FFFFFF"/>
                </a:solidFill>
                <a:latin typeface="Calibri"/>
                <a:ea typeface="Calibri"/>
                <a:cs typeface="Calibri"/>
              </a:defRPr>
            </a:pPr>
            <a:r>
              <a:rPr sz="2850" b="1">
                <a:solidFill>
                  <a:srgbClr val="FFFFFF"/>
                </a:solidFill>
                <a:latin typeface="Calibri"/>
                <a:ea typeface="Calibri"/>
                <a:cs typeface="Calibri"/>
              </a:rPr>
              <a:t>Not scored</a:t>
            </a:r>
          </a:p>
        </p:txBody>
      </p:sp>
      <p:sp>
        <p:nvSpPr>
          <p:cNvPr id="24" name="">
            <a:extLst xmlns:a="http://schemas.openxmlformats.org/drawingml/2006/main">
              <a:ext uri="{FF2B5EF4-FFF2-40B4-BE49-F238E27FC236}">
                <a16:creationId xmlns:a16="http://schemas.microsoft.com/office/drawing/2014/main" id="{E1BFE41C-5C6F-4066-87E5-BCAC453EB617}"/>
              </a:ext>
            </a:extLst>
          </p:cNvPr>
          <p:cNvSpPr>
            <a:spLocks xmlns:a="http://schemas.openxmlformats.org/drawingml/2006/main" noGrp="1"/>
          </p:cNvSpPr>
          <p:nvPr/>
        </p:nvSpPr>
        <p:spPr>
          <a:xfrm xmlns:a="http://schemas.openxmlformats.org/drawingml/2006/main">
            <a:off x="5143500" y="469582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D4DCEA"/>
                </a:solidFill>
                <a:latin typeface="Calibri"/>
                <a:ea typeface="Calibri"/>
                <a:cs typeface="Calibri"/>
              </a:defRPr>
            </a:defPPr>
          </a:lstStyle>
          <a:p xmlns:a="http://schemas.openxmlformats.org/drawingml/2006/main">
            <a:pPr algn="l">
              <a:defRPr sz="1500" b="0">
                <a:solidFill>
                  <a:srgbClr val="D4DCEA"/>
                </a:solidFill>
                <a:latin typeface="Calibri"/>
                <a:ea typeface="Calibri"/>
                <a:cs typeface="Calibri"/>
              </a:defRPr>
            </a:pPr>
            <a:r>
              <a:rPr sz="1500" b="0">
                <a:solidFill>
                  <a:srgbClr val="D4DCEA"/>
                </a:solidFill>
                <a:latin typeface="Calibri"/>
                <a:ea typeface="Calibri"/>
                <a:cs typeface="Calibri"/>
              </a:rPr>
              <a:t>A few source records and an unmatched vehicle baseline cannot support a defensible case score.</a:t>
            </a:r>
          </a:p>
        </p:txBody>
      </p:sp>
      <p:sp>
        <p:nvSpPr>
          <p:cNvPr id="25" name="">
            <a:extLst xmlns:a="http://schemas.openxmlformats.org/drawingml/2006/main">
              <a:ext uri="{FF2B5EF4-FFF2-40B4-BE49-F238E27FC236}">
                <a16:creationId xmlns:a16="http://schemas.microsoft.com/office/drawing/2014/main" id="{9965DE07-3693-4D0D-AF7D-7B0E9A75F1E8}"/>
              </a:ext>
            </a:extLst>
          </p:cNvPr>
          <p:cNvSpPr>
            <a:spLocks xmlns:a="http://schemas.openxmlformats.org/drawingml/2006/main" noGrp="1"/>
          </p:cNvSpPr>
          <p:nvPr/>
        </p:nvSpPr>
        <p:spPr>
          <a:xfrm xmlns:a="http://schemas.openxmlformats.org/drawingml/2006/main">
            <a:off x="571500" y="58293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Scoring workflow exists. Weights remain a project policy, not BMW guidance.</a:t>
            </a:r>
          </a:p>
        </p:txBody>
      </p:sp>
    </p:spTree>
    <p:extLst>
      <p:ext uri="{BB962C8B-B14F-4D97-AF65-F5344CB8AC3E}">
        <p14:creationId xmlns:p14="http://schemas.microsoft.com/office/powerpoint/2010/main" val="504264246"/>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17D51B0-9FB8-46AC-821C-20FDBC4A24CC}"/>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63B6C6C6-E464-4B7C-85E3-BA88D3899DAC}"/>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964397E6-2C47-43E2-872C-005B26B7474D}"/>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4FD379D2-A5E1-46DD-9EB9-9D253F4CF8EB}"/>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OUTPUT</a:t>
            </a:r>
          </a:p>
        </p:txBody>
      </p:sp>
      <p:sp>
        <p:nvSpPr>
          <p:cNvPr id="5" name="">
            <a:extLst xmlns:a="http://schemas.openxmlformats.org/drawingml/2006/main">
              <a:ext uri="{FF2B5EF4-FFF2-40B4-BE49-F238E27FC236}">
                <a16:creationId xmlns:a16="http://schemas.microsoft.com/office/drawing/2014/main" id="{2E02AA90-93F7-46F4-9ACB-53B4ED7B9A79}"/>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candidate requirement, pending review.</a:t>
            </a:r>
          </a:p>
        </p:txBody>
      </p:sp>
      <p:sp>
        <p:nvSpPr>
          <p:cNvPr id="6" name="">
            <a:extLst xmlns:a="http://schemas.openxmlformats.org/drawingml/2006/main">
              <a:ext uri="{FF2B5EF4-FFF2-40B4-BE49-F238E27FC236}">
                <a16:creationId xmlns:a16="http://schemas.microsoft.com/office/drawing/2014/main" id="{C941C174-99E8-4867-A954-9AA85F0B6AAE}"/>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08 / 11</a:t>
            </a:r>
          </a:p>
        </p:txBody>
      </p:sp>
      <p:sp>
        <p:nvSpPr>
          <p:cNvPr id="7" name="">
            <a:extLst xmlns:a="http://schemas.openxmlformats.org/drawingml/2006/main">
              <a:ext uri="{FF2B5EF4-FFF2-40B4-BE49-F238E27FC236}">
                <a16:creationId xmlns:a16="http://schemas.microsoft.com/office/drawing/2014/main" id="{AA1802CA-AF34-42E1-801D-664D13335EFC}"/>
              </a:ext>
            </a:extLst>
          </p:cNvPr>
          <p:cNvSpPr>
            <a:spLocks xmlns:a="http://schemas.openxmlformats.org/drawingml/2006/main" noGrp="1"/>
          </p:cNvSpPr>
          <p:nvPr/>
        </p:nvSpPr>
        <p:spPr>
          <a:xfrm xmlns:a="http://schemas.openxmlformats.org/drawingml/2006/main">
            <a:off x="552450" y="1924050"/>
            <a:ext cx="30289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E6623E0-0CF7-47E1-97B1-73E5138B55E6}"/>
              </a:ext>
            </a:extLst>
          </p:cNvPr>
          <p:cNvSpPr>
            <a:spLocks xmlns:a="http://schemas.openxmlformats.org/drawingml/2006/main" noGrp="1"/>
          </p:cNvSpPr>
          <p:nvPr/>
        </p:nvSpPr>
        <p:spPr>
          <a:xfrm xmlns:a="http://schemas.openxmlformats.org/drawingml/2006/main">
            <a:off x="666750" y="1990725"/>
            <a:ext cx="2800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SOURCE-BASED DRAFT · NOT APPROVED</a:t>
            </a:r>
          </a:p>
        </p:txBody>
      </p:sp>
      <p:sp>
        <p:nvSpPr>
          <p:cNvPr id="9" name="">
            <a:extLst xmlns:a="http://schemas.openxmlformats.org/drawingml/2006/main">
              <a:ext uri="{FF2B5EF4-FFF2-40B4-BE49-F238E27FC236}">
                <a16:creationId xmlns:a16="http://schemas.microsoft.com/office/drawing/2014/main" id="{1500CC04-C22C-4B7C-80D6-016F334ED740}"/>
              </a:ext>
            </a:extLst>
          </p:cNvPr>
          <p:cNvSpPr>
            <a:spLocks xmlns:a="http://schemas.openxmlformats.org/drawingml/2006/main" noGrp="1"/>
          </p:cNvSpPr>
          <p:nvPr/>
        </p:nvSpPr>
        <p:spPr>
          <a:xfrm xmlns:a="http://schemas.openxmlformats.org/drawingml/2006/main">
            <a:off x="552450" y="2438400"/>
            <a:ext cx="11087100" cy="31623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287A06DB-2933-4A66-8946-574B712D6686}"/>
              </a:ext>
            </a:extLst>
          </p:cNvPr>
          <p:cNvSpPr>
            <a:spLocks xmlns:a="http://schemas.openxmlformats.org/drawingml/2006/main" noGrp="1"/>
          </p:cNvSpPr>
          <p:nvPr/>
        </p:nvSpPr>
        <p:spPr>
          <a:xfrm xmlns:a="http://schemas.openxmlformats.org/drawingml/2006/main">
            <a:off x="552450" y="2438400"/>
            <a:ext cx="1790700" cy="31623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7F7E934-3CC7-4C02-BB37-4E760B029995}"/>
              </a:ext>
            </a:extLst>
          </p:cNvPr>
          <p:cNvSpPr>
            <a:spLocks xmlns:a="http://schemas.openxmlformats.org/drawingml/2006/main" noGrp="1"/>
          </p:cNvSpPr>
          <p:nvPr/>
        </p:nvSpPr>
        <p:spPr>
          <a:xfrm xmlns:a="http://schemas.openxmlformats.org/drawingml/2006/main">
            <a:off x="781050" y="26860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FWD</a:t>
            </a:r>
          </a:p>
        </p:txBody>
      </p:sp>
      <p:sp>
        <p:nvSpPr>
          <p:cNvPr id="12" name="">
            <a:extLst xmlns:a="http://schemas.openxmlformats.org/drawingml/2006/main">
              <a:ext uri="{FF2B5EF4-FFF2-40B4-BE49-F238E27FC236}">
                <a16:creationId xmlns:a16="http://schemas.microsoft.com/office/drawing/2014/main" id="{148BB81F-625F-4E19-9064-7F8A1366007D}"/>
              </a:ext>
            </a:extLst>
          </p:cNvPr>
          <p:cNvSpPr>
            <a:spLocks xmlns:a="http://schemas.openxmlformats.org/drawingml/2006/main" noGrp="1"/>
          </p:cNvSpPr>
          <p:nvPr/>
        </p:nvSpPr>
        <p:spPr>
          <a:xfrm xmlns:a="http://schemas.openxmlformats.org/drawingml/2006/main">
            <a:off x="781050" y="339090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Review</a:t>
            </a:r>
          </a:p>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workspace</a:t>
            </a:r>
          </a:p>
        </p:txBody>
      </p:sp>
      <p:sp>
        <p:nvSpPr>
          <p:cNvPr id="13" name="">
            <a:extLst xmlns:a="http://schemas.openxmlformats.org/drawingml/2006/main">
              <a:ext uri="{FF2B5EF4-FFF2-40B4-BE49-F238E27FC236}">
                <a16:creationId xmlns:a16="http://schemas.microsoft.com/office/drawing/2014/main" id="{CC05C369-9459-4EC2-9F7B-085B986DA041}"/>
              </a:ext>
            </a:extLst>
          </p:cNvPr>
          <p:cNvSpPr>
            <a:spLocks xmlns:a="http://schemas.openxmlformats.org/drawingml/2006/main" noGrp="1"/>
          </p:cNvSpPr>
          <p:nvPr/>
        </p:nvSpPr>
        <p:spPr>
          <a:xfrm xmlns:a="http://schemas.openxmlformats.org/drawingml/2006/main">
            <a:off x="781050" y="4276725"/>
            <a:ext cx="123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Evidence</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Requirements</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Versions</a:t>
            </a:r>
          </a:p>
        </p:txBody>
      </p:sp>
      <p:sp>
        <p:nvSpPr>
          <p:cNvPr id="14" name="">
            <a:extLst xmlns:a="http://schemas.openxmlformats.org/drawingml/2006/main">
              <a:ext uri="{FF2B5EF4-FFF2-40B4-BE49-F238E27FC236}">
                <a16:creationId xmlns:a16="http://schemas.microsoft.com/office/drawing/2014/main" id="{F9930BF1-CE54-4D5E-AF65-F83D0077CF8A}"/>
              </a:ext>
            </a:extLst>
          </p:cNvPr>
          <p:cNvSpPr>
            <a:spLocks xmlns:a="http://schemas.openxmlformats.org/drawingml/2006/main" noGrp="1"/>
          </p:cNvSpPr>
          <p:nvPr/>
        </p:nvSpPr>
        <p:spPr>
          <a:xfrm xmlns:a="http://schemas.openxmlformats.org/drawingml/2006/main">
            <a:off x="2628900" y="272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REQ-DRAFT-01</a:t>
            </a:r>
          </a:p>
        </p:txBody>
      </p:sp>
      <p:sp>
        <p:nvSpPr>
          <p:cNvPr id="15" name="">
            <a:extLst xmlns:a="http://schemas.openxmlformats.org/drawingml/2006/main">
              <a:ext uri="{FF2B5EF4-FFF2-40B4-BE49-F238E27FC236}">
                <a16:creationId xmlns:a16="http://schemas.microsoft.com/office/drawing/2014/main" id="{B98E3359-6D3C-4AD5-BE9A-9D1FC59308D8}"/>
              </a:ext>
            </a:extLst>
          </p:cNvPr>
          <p:cNvSpPr>
            <a:spLocks xmlns:a="http://schemas.openxmlformats.org/drawingml/2006/main" noGrp="1"/>
          </p:cNvSpPr>
          <p:nvPr/>
        </p:nvSpPr>
        <p:spPr>
          <a:xfrm xmlns:a="http://schemas.openxmlformats.org/drawingml/2006/main">
            <a:off x="2628900" y="3105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Drivers can reach frequently used functions through clear, consistent paths with fewer steps.</a:t>
            </a:r>
          </a:p>
        </p:txBody>
      </p:sp>
      <p:sp>
        <p:nvSpPr>
          <p:cNvPr id="16" name="">
            <a:extLst xmlns:a="http://schemas.openxmlformats.org/drawingml/2006/main">
              <a:ext uri="{FF2B5EF4-FFF2-40B4-BE49-F238E27FC236}">
                <a16:creationId xmlns:a16="http://schemas.microsoft.com/office/drawing/2014/main" id="{867B587A-0544-4BA5-8F7E-F2EA1228B8B5}"/>
              </a:ext>
            </a:extLst>
          </p:cNvPr>
          <p:cNvSpPr>
            <a:spLocks xmlns:a="http://schemas.openxmlformats.org/drawingml/2006/main" noGrp="1"/>
          </p:cNvSpPr>
          <p:nvPr/>
        </p:nvSpPr>
        <p:spPr>
          <a:xfrm xmlns:a="http://schemas.openxmlformats.org/drawingml/2006/main">
            <a:off x="2628900" y="43624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D5FF4"/>
                </a:solidFill>
                <a:latin typeface="Calibri"/>
                <a:ea typeface="Calibri"/>
                <a:cs typeface="Calibri"/>
              </a:defRPr>
            </a:defPPr>
          </a:lstStyle>
          <a:p xmlns:a="http://schemas.openxmlformats.org/drawingml/2006/main">
            <a:pPr algn="l">
              <a:defRPr sz="1050" b="1">
                <a:solidFill>
                  <a:srgbClr val="2D5FF4"/>
                </a:solidFill>
                <a:latin typeface="Calibri"/>
                <a:ea typeface="Calibri"/>
                <a:cs typeface="Calibri"/>
              </a:defRPr>
            </a:pPr>
            <a:r>
              <a:rPr sz="1050" b="1">
                <a:solidFill>
                  <a:srgbClr val="2D5FF4"/>
                </a:solidFill>
                <a:latin typeface="Calibri"/>
                <a:ea typeface="Calibri"/>
                <a:cs typeface="Calibri"/>
              </a:rPr>
              <a:t>Evidence</a:t>
            </a:r>
          </a:p>
        </p:txBody>
      </p:sp>
      <p:sp>
        <p:nvSpPr>
          <p:cNvPr id="17" name="">
            <a:extLst xmlns:a="http://schemas.openxmlformats.org/drawingml/2006/main">
              <a:ext uri="{FF2B5EF4-FFF2-40B4-BE49-F238E27FC236}">
                <a16:creationId xmlns:a16="http://schemas.microsoft.com/office/drawing/2014/main" id="{EBCA9648-5BFC-4106-9304-670F454CAE01}"/>
              </a:ext>
            </a:extLst>
          </p:cNvPr>
          <p:cNvSpPr>
            <a:spLocks xmlns:a="http://schemas.openxmlformats.org/drawingml/2006/main" noGrp="1"/>
          </p:cNvSpPr>
          <p:nvPr/>
        </p:nvSpPr>
        <p:spPr>
          <a:xfrm xmlns:a="http://schemas.openxmlformats.org/drawingml/2006/main">
            <a:off x="2628900" y="46482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G60-0248 · row 313</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G60-0635 · row 797</a:t>
            </a:r>
          </a:p>
        </p:txBody>
      </p:sp>
      <p:sp>
        <p:nvSpPr>
          <p:cNvPr id="18" name="">
            <a:extLst xmlns:a="http://schemas.openxmlformats.org/drawingml/2006/main">
              <a:ext uri="{FF2B5EF4-FFF2-40B4-BE49-F238E27FC236}">
                <a16:creationId xmlns:a16="http://schemas.microsoft.com/office/drawing/2014/main" id="{66698810-3DDE-4110-925C-2D66608DDFC6}"/>
              </a:ext>
            </a:extLst>
          </p:cNvPr>
          <p:cNvSpPr>
            <a:spLocks xmlns:a="http://schemas.openxmlformats.org/drawingml/2006/main" noGrp="1"/>
          </p:cNvSpPr>
          <p:nvPr/>
        </p:nvSpPr>
        <p:spPr>
          <a:xfrm xmlns:a="http://schemas.openxmlformats.org/drawingml/2006/main">
            <a:off x="8191500" y="2724150"/>
            <a:ext cx="9525" cy="247650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53BD713-D7DB-457C-9B10-7603803F8267}"/>
              </a:ext>
            </a:extLst>
          </p:cNvPr>
          <p:cNvSpPr>
            <a:spLocks xmlns:a="http://schemas.openxmlformats.org/drawingml/2006/main" noGrp="1"/>
          </p:cNvSpPr>
          <p:nvPr/>
        </p:nvSpPr>
        <p:spPr>
          <a:xfrm xmlns:a="http://schemas.openxmlformats.org/drawingml/2006/main">
            <a:off x="8572500" y="2800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SCOPE</a:t>
            </a:r>
          </a:p>
        </p:txBody>
      </p:sp>
      <p:sp>
        <p:nvSpPr>
          <p:cNvPr id="20" name="">
            <a:extLst xmlns:a="http://schemas.openxmlformats.org/drawingml/2006/main">
              <a:ext uri="{FF2B5EF4-FFF2-40B4-BE49-F238E27FC236}">
                <a16:creationId xmlns:a16="http://schemas.microsoft.com/office/drawing/2014/main" id="{1AC6479D-3FEC-4733-8C46-134FBEF3877E}"/>
              </a:ext>
            </a:extLst>
          </p:cNvPr>
          <p:cNvSpPr>
            <a:spLocks xmlns:a="http://schemas.openxmlformats.org/drawingml/2006/main" noGrp="1"/>
          </p:cNvSpPr>
          <p:nvPr/>
        </p:nvSpPr>
        <p:spPr>
          <a:xfrm xmlns:a="http://schemas.openxmlformats.org/drawingml/2006/main">
            <a:off x="8572500" y="31432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BMW 5 Series G60</a:t>
            </a:r>
          </a:p>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US feedback records</a:t>
            </a:r>
          </a:p>
        </p:txBody>
      </p:sp>
      <p:sp>
        <p:nvSpPr>
          <p:cNvPr id="21" name="">
            <a:extLst xmlns:a="http://schemas.openxmlformats.org/drawingml/2006/main">
              <a:ext uri="{FF2B5EF4-FFF2-40B4-BE49-F238E27FC236}">
                <a16:creationId xmlns:a16="http://schemas.microsoft.com/office/drawing/2014/main" id="{BA056787-B047-4A42-932C-48D6E7C0F37B}"/>
              </a:ext>
            </a:extLst>
          </p:cNvPr>
          <p:cNvSpPr>
            <a:spLocks xmlns:a="http://schemas.openxmlformats.org/drawingml/2006/main" noGrp="1"/>
          </p:cNvSpPr>
          <p:nvPr/>
        </p:nvSpPr>
        <p:spPr>
          <a:xfrm xmlns:a="http://schemas.openxmlformats.org/drawingml/2006/main">
            <a:off x="8572500" y="39719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OPEN CHECKS</a:t>
            </a:r>
          </a:p>
        </p:txBody>
      </p:sp>
      <p:sp>
        <p:nvSpPr>
          <p:cNvPr id="22" name="">
            <a:extLst xmlns:a="http://schemas.openxmlformats.org/drawingml/2006/main">
              <a:ext uri="{FF2B5EF4-FFF2-40B4-BE49-F238E27FC236}">
                <a16:creationId xmlns:a16="http://schemas.microsoft.com/office/drawing/2014/main" id="{3D687083-FA81-4AD7-8890-B0AEB68FC5E1}"/>
              </a:ext>
            </a:extLst>
          </p:cNvPr>
          <p:cNvSpPr>
            <a:spLocks xmlns:a="http://schemas.openxmlformats.org/drawingml/2006/main" noGrp="1"/>
          </p:cNvSpPr>
          <p:nvPr/>
        </p:nvSpPr>
        <p:spPr>
          <a:xfrm xmlns:a="http://schemas.openxmlformats.org/drawingml/2006/main">
            <a:off x="8572500" y="4295775"/>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Exact trim, current feature baseline, reach and successor relevance.</a:t>
            </a:r>
          </a:p>
        </p:txBody>
      </p:sp>
      <p:sp>
        <p:nvSpPr>
          <p:cNvPr id="23" name="">
            <a:extLst xmlns:a="http://schemas.openxmlformats.org/drawingml/2006/main">
              <a:ext uri="{FF2B5EF4-FFF2-40B4-BE49-F238E27FC236}">
                <a16:creationId xmlns:a16="http://schemas.microsoft.com/office/drawing/2014/main" id="{40B4DC5B-3E09-4424-809A-EE2E4D0B4E8B}"/>
              </a:ext>
            </a:extLst>
          </p:cNvPr>
          <p:cNvSpPr>
            <a:spLocks xmlns:a="http://schemas.openxmlformats.org/drawingml/2006/main" noGrp="1"/>
          </p:cNvSpPr>
          <p:nvPr/>
        </p:nvSpPr>
        <p:spPr>
          <a:xfrm xmlns:a="http://schemas.openxmlformats.org/drawingml/2006/main">
            <a:off x="8572500" y="5105400"/>
            <a:ext cx="27241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1B9D1F6-D33B-4A43-A9EC-3AC5E7A9AD37}"/>
              </a:ext>
            </a:extLst>
          </p:cNvPr>
          <p:cNvSpPr>
            <a:spLocks xmlns:a="http://schemas.openxmlformats.org/drawingml/2006/main" noGrp="1"/>
          </p:cNvSpPr>
          <p:nvPr/>
        </p:nvSpPr>
        <p:spPr>
          <a:xfrm xmlns:a="http://schemas.openxmlformats.org/drawingml/2006/main">
            <a:off x="8686800" y="51720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81"/>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PROPOSED WORDING · NEEDS PM REVIEW</a:t>
            </a:r>
          </a:p>
        </p:txBody>
      </p:sp>
      <p:sp>
        <p:nvSpPr>
          <p:cNvPr id="25" name="">
            <a:extLst xmlns:a="http://schemas.openxmlformats.org/drawingml/2006/main">
              <a:ext uri="{FF2B5EF4-FFF2-40B4-BE49-F238E27FC236}">
                <a16:creationId xmlns:a16="http://schemas.microsoft.com/office/drawing/2014/main" id="{AB4C2670-CCF2-4C23-89F5-D01FE1624D3F}"/>
              </a:ext>
            </a:extLst>
          </p:cNvPr>
          <p:cNvSpPr>
            <a:spLocks xmlns:a="http://schemas.openxmlformats.org/drawingml/2006/main" noGrp="1"/>
          </p:cNvSpPr>
          <p:nvPr/>
        </p:nvSpPr>
        <p:spPr>
          <a:xfrm xmlns:a="http://schemas.openxmlformats.org/drawingml/2006/main">
            <a:off x="2628900" y="5276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B6B82"/>
                </a:solidFill>
                <a:latin typeface="Calibri"/>
                <a:ea typeface="Calibri"/>
                <a:cs typeface="Calibri"/>
              </a:defRPr>
            </a:defPPr>
          </a:lstStyle>
          <a:p xmlns:a="http://schemas.openxmlformats.org/drawingml/2006/main">
            <a:pPr algn="l">
              <a:defRPr sz="1050" b="0">
                <a:solidFill>
                  <a:srgbClr val="5B6B82"/>
                </a:solidFill>
                <a:latin typeface="Calibri"/>
                <a:ea typeface="Calibri"/>
                <a:cs typeface="Calibri"/>
              </a:defRPr>
            </a:pPr>
            <a:r>
              <a:rPr sz="1050" b="0">
                <a:solidFill>
                  <a:srgbClr val="5B6B82"/>
                </a:solidFill>
                <a:latin typeface="Calibri"/>
                <a:ea typeface="Calibri"/>
                <a:cs typeface="Calibri"/>
              </a:rPr>
              <a:t>Two source examples. Not a prevalence estimate.</a:t>
            </a:r>
          </a:p>
        </p:txBody>
      </p:sp>
    </p:spTree>
    <p:extLst>
      <p:ext uri="{BB962C8B-B14F-4D97-AF65-F5344CB8AC3E}">
        <p14:creationId xmlns:p14="http://schemas.microsoft.com/office/powerpoint/2010/main" val="1494105171"/>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D5087AF-AD62-409C-903F-1E0218D8A527}"/>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EF8E228D-A5EE-4281-ABCA-9FCBA35A15DE}"/>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9BA4BF9E-CAF9-4DA7-9B25-1A112D452353}"/>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70E37CD0-4A48-44AE-94D8-F2C776D02ADD}"/>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REIMAGINE</a:t>
            </a:r>
          </a:p>
        </p:txBody>
      </p:sp>
      <p:sp>
        <p:nvSpPr>
          <p:cNvPr id="5" name="">
            <a:extLst xmlns:a="http://schemas.openxmlformats.org/drawingml/2006/main">
              <a:ext uri="{FF2B5EF4-FFF2-40B4-BE49-F238E27FC236}">
                <a16:creationId xmlns:a16="http://schemas.microsoft.com/office/drawing/2014/main" id="{403DF317-4A9B-4CC4-AB98-9C3D760165BB}"/>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design hypothesis for faster access.</a:t>
            </a:r>
          </a:p>
        </p:txBody>
      </p:sp>
      <p:sp>
        <p:nvSpPr>
          <p:cNvPr id="6" name="">
            <a:extLst xmlns:a="http://schemas.openxmlformats.org/drawingml/2006/main">
              <a:ext uri="{FF2B5EF4-FFF2-40B4-BE49-F238E27FC236}">
                <a16:creationId xmlns:a16="http://schemas.microsoft.com/office/drawing/2014/main" id="{6411FAE4-2DF2-4EC6-A86C-4955C84E3849}"/>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09 / 11</a:t>
            </a:r>
          </a:p>
        </p:txBody>
      </p:sp>
      <p:sp>
        <p:nvSpPr>
          <p:cNvPr id="7" name="">
            <a:extLst xmlns:a="http://schemas.openxmlformats.org/drawingml/2006/main">
              <a:ext uri="{FF2B5EF4-FFF2-40B4-BE49-F238E27FC236}">
                <a16:creationId xmlns:a16="http://schemas.microsoft.com/office/drawing/2014/main" id="{423A7348-1184-4FE6-9975-630F9AD4476F}"/>
              </a:ext>
            </a:extLst>
          </p:cNvPr>
          <p:cNvSpPr>
            <a:spLocks xmlns:a="http://schemas.openxmlformats.org/drawingml/2006/main" noGrp="1"/>
          </p:cNvSpPr>
          <p:nvPr/>
        </p:nvSpPr>
        <p:spPr>
          <a:xfrm xmlns:a="http://schemas.openxmlformats.org/drawingml/2006/main">
            <a:off x="571500" y="22098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 · REPORTED FRICTION</a:t>
            </a:r>
          </a:p>
        </p:txBody>
      </p:sp>
      <p:sp>
        <p:nvSpPr>
          <p:cNvPr id="8" name="">
            <a:extLst xmlns:a="http://schemas.openxmlformats.org/drawingml/2006/main">
              <a:ext uri="{FF2B5EF4-FFF2-40B4-BE49-F238E27FC236}">
                <a16:creationId xmlns:a16="http://schemas.microsoft.com/office/drawing/2014/main" id="{26BCDE56-48D8-4082-A28E-87C6A7841568}"/>
              </a:ext>
            </a:extLst>
          </p:cNvPr>
          <p:cNvSpPr>
            <a:spLocks xmlns:a="http://schemas.openxmlformats.org/drawingml/2006/main" noGrp="1"/>
          </p:cNvSpPr>
          <p:nvPr/>
        </p:nvSpPr>
        <p:spPr>
          <a:xfrm xmlns:a="http://schemas.openxmlformats.org/drawingml/2006/main">
            <a:off x="6324600" y="220980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CONCEPT · FEWER STEPS</a:t>
            </a:r>
          </a:p>
        </p:txBody>
      </p:sp>
      <p:sp>
        <p:nvSpPr>
          <p:cNvPr id="9" name="">
            <a:extLst xmlns:a="http://schemas.openxmlformats.org/drawingml/2006/main">
              <a:ext uri="{FF2B5EF4-FFF2-40B4-BE49-F238E27FC236}">
                <a16:creationId xmlns:a16="http://schemas.microsoft.com/office/drawing/2014/main" id="{E9F84306-59D1-4CE3-AE62-3494CB6FEBDB}"/>
              </a:ext>
            </a:extLst>
          </p:cNvPr>
          <p:cNvSpPr>
            <a:spLocks xmlns:a="http://schemas.openxmlformats.org/drawingml/2006/main" noGrp="1"/>
          </p:cNvSpPr>
          <p:nvPr/>
        </p:nvSpPr>
        <p:spPr>
          <a:xfrm xmlns:a="http://schemas.openxmlformats.org/drawingml/2006/main">
            <a:off x="571500" y="2609850"/>
            <a:ext cx="49530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1487409F-55CA-4A4A-892F-2F84B403484A}"/>
              </a:ext>
            </a:extLst>
          </p:cNvPr>
          <p:cNvSpPr>
            <a:spLocks xmlns:a="http://schemas.openxmlformats.org/drawingml/2006/main" noGrp="1"/>
          </p:cNvSpPr>
          <p:nvPr/>
        </p:nvSpPr>
        <p:spPr>
          <a:xfrm xmlns:a="http://schemas.openxmlformats.org/drawingml/2006/main">
            <a:off x="571500" y="2609850"/>
            <a:ext cx="49530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CD92E7C-2C9B-4577-A038-7E476FC2695B}"/>
              </a:ext>
            </a:extLst>
          </p:cNvPr>
          <p:cNvSpPr>
            <a:spLocks xmlns:a="http://schemas.openxmlformats.org/drawingml/2006/main" noGrp="1"/>
          </p:cNvSpPr>
          <p:nvPr/>
        </p:nvSpPr>
        <p:spPr>
          <a:xfrm xmlns:a="http://schemas.openxmlformats.org/drawingml/2006/main">
            <a:off x="8001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settings</a:t>
            </a:r>
          </a:p>
        </p:txBody>
      </p:sp>
      <p:sp>
        <p:nvSpPr>
          <p:cNvPr id="12" name="">
            <a:extLst xmlns:a="http://schemas.openxmlformats.org/drawingml/2006/main">
              <a:ext uri="{FF2B5EF4-FFF2-40B4-BE49-F238E27FC236}">
                <a16:creationId xmlns:a16="http://schemas.microsoft.com/office/drawing/2014/main" id="{2BE0AD2F-66EF-4FB7-BFD3-E922519B9EC6}"/>
              </a:ext>
            </a:extLst>
          </p:cNvPr>
          <p:cNvSpPr>
            <a:spLocks xmlns:a="http://schemas.openxmlformats.org/drawingml/2006/main" noGrp="1"/>
          </p:cNvSpPr>
          <p:nvPr/>
        </p:nvSpPr>
        <p:spPr>
          <a:xfrm xmlns:a="http://schemas.openxmlformats.org/drawingml/2006/main">
            <a:off x="819150" y="33337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Home  /  Vehicle  /  Function</a:t>
            </a:r>
          </a:p>
        </p:txBody>
      </p:sp>
      <p:sp>
        <p:nvSpPr>
          <p:cNvPr id="13" name="">
            <a:extLst xmlns:a="http://schemas.openxmlformats.org/drawingml/2006/main">
              <a:ext uri="{FF2B5EF4-FFF2-40B4-BE49-F238E27FC236}">
                <a16:creationId xmlns:a16="http://schemas.microsoft.com/office/drawing/2014/main" id="{0256769B-FD33-4F89-9FDF-EE477E456ABE}"/>
              </a:ext>
            </a:extLst>
          </p:cNvPr>
          <p:cNvSpPr>
            <a:spLocks xmlns:a="http://schemas.openxmlformats.org/drawingml/2006/main" noGrp="1"/>
          </p:cNvSpPr>
          <p:nvPr/>
        </p:nvSpPr>
        <p:spPr>
          <a:xfrm xmlns:a="http://schemas.openxmlformats.org/drawingml/2006/main">
            <a:off x="819150" y="3857625"/>
            <a:ext cx="4419600" cy="704850"/>
          </a:xfrm>
          <a:prstGeom xmlns:a="http://schemas.openxmlformats.org/drawingml/2006/main" prst="rect">
            <a:avLst/>
          </a:prstGeom>
          <a:solidFill xmlns:a="http://schemas.openxmlformats.org/drawingml/2006/main">
            <a:srgbClr val="F2F5FA"/>
          </a:solidFill>
          <a:ln xmlns:a="http://schemas.openxmlformats.org/drawingml/2006/main" w="9525">
            <a:solidFill>
              <a:srgbClr val="D6DFEC"/>
            </a:solidFill>
            <a:prstDash val="solid"/>
          </a:ln>
        </p:spPr>
      </p:sp>
      <p:sp>
        <p:nvSpPr>
          <p:cNvPr id="14" name="">
            <a:extLst xmlns:a="http://schemas.openxmlformats.org/drawingml/2006/main">
              <a:ext uri="{FF2B5EF4-FFF2-40B4-BE49-F238E27FC236}">
                <a16:creationId xmlns:a16="http://schemas.microsoft.com/office/drawing/2014/main" id="{1992BE41-520E-46EF-AC4A-2F4F4E67A6A1}"/>
              </a:ext>
            </a:extLst>
          </p:cNvPr>
          <p:cNvSpPr>
            <a:spLocks xmlns:a="http://schemas.openxmlformats.org/drawingml/2006/main" noGrp="1"/>
          </p:cNvSpPr>
          <p:nvPr/>
        </p:nvSpPr>
        <p:spPr>
          <a:xfrm xmlns:a="http://schemas.openxmlformats.org/drawingml/2006/main">
            <a:off x="1028700" y="4076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Find function through several screens</a:t>
            </a:r>
          </a:p>
        </p:txBody>
      </p:sp>
      <p:sp>
        <p:nvSpPr>
          <p:cNvPr id="15" name="">
            <a:extLst xmlns:a="http://schemas.openxmlformats.org/drawingml/2006/main">
              <a:ext uri="{FF2B5EF4-FFF2-40B4-BE49-F238E27FC236}">
                <a16:creationId xmlns:a16="http://schemas.microsoft.com/office/drawing/2014/main" id="{2C157EAE-9169-4377-953A-ED54B31C94C2}"/>
              </a:ext>
            </a:extLst>
          </p:cNvPr>
          <p:cNvSpPr>
            <a:spLocks xmlns:a="http://schemas.openxmlformats.org/drawingml/2006/main" noGrp="1"/>
          </p:cNvSpPr>
          <p:nvPr/>
        </p:nvSpPr>
        <p:spPr>
          <a:xfrm xmlns:a="http://schemas.openxmlformats.org/drawingml/2006/main">
            <a:off x="6324600" y="2609850"/>
            <a:ext cx="52959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E011D3ED-111A-4CC8-B5A3-7BC5D9BE355D}"/>
              </a:ext>
            </a:extLst>
          </p:cNvPr>
          <p:cNvSpPr>
            <a:spLocks xmlns:a="http://schemas.openxmlformats.org/drawingml/2006/main" noGrp="1"/>
          </p:cNvSpPr>
          <p:nvPr/>
        </p:nvSpPr>
        <p:spPr>
          <a:xfrm xmlns:a="http://schemas.openxmlformats.org/drawingml/2006/main">
            <a:off x="6324600" y="2609850"/>
            <a:ext cx="52959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B5C4BEB-80C9-4ED2-A776-00CDB4F9EABC}"/>
              </a:ext>
            </a:extLst>
          </p:cNvPr>
          <p:cNvSpPr>
            <a:spLocks xmlns:a="http://schemas.openxmlformats.org/drawingml/2006/main" noGrp="1"/>
          </p:cNvSpPr>
          <p:nvPr/>
        </p:nvSpPr>
        <p:spPr>
          <a:xfrm xmlns:a="http://schemas.openxmlformats.org/drawingml/2006/main">
            <a:off x="65532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home</a:t>
            </a:r>
          </a:p>
        </p:txBody>
      </p:sp>
      <p:sp>
        <p:nvSpPr>
          <p:cNvPr id="18" name="">
            <a:extLst xmlns:a="http://schemas.openxmlformats.org/drawingml/2006/main">
              <a:ext uri="{FF2B5EF4-FFF2-40B4-BE49-F238E27FC236}">
                <a16:creationId xmlns:a16="http://schemas.microsoft.com/office/drawing/2014/main" id="{D87CFAC9-C1F4-4CBB-9BB8-6A80A685350B}"/>
              </a:ext>
            </a:extLst>
          </p:cNvPr>
          <p:cNvSpPr>
            <a:spLocks xmlns:a="http://schemas.openxmlformats.org/drawingml/2006/main" noGrp="1"/>
          </p:cNvSpPr>
          <p:nvPr/>
        </p:nvSpPr>
        <p:spPr>
          <a:xfrm xmlns:a="http://schemas.openxmlformats.org/drawingml/2006/main">
            <a:off x="6553200" y="33337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Frequent functions</a:t>
            </a:r>
          </a:p>
        </p:txBody>
      </p:sp>
      <p:sp>
        <p:nvSpPr>
          <p:cNvPr id="19" name="">
            <a:extLst xmlns:a="http://schemas.openxmlformats.org/drawingml/2006/main">
              <a:ext uri="{FF2B5EF4-FFF2-40B4-BE49-F238E27FC236}">
                <a16:creationId xmlns:a16="http://schemas.microsoft.com/office/drawing/2014/main" id="{5C7A3D73-F27C-4BC0-9E48-09C8CF9590A7}"/>
              </a:ext>
            </a:extLst>
          </p:cNvPr>
          <p:cNvSpPr>
            <a:spLocks xmlns:a="http://schemas.openxmlformats.org/drawingml/2006/main" noGrp="1"/>
          </p:cNvSpPr>
          <p:nvPr/>
        </p:nvSpPr>
        <p:spPr>
          <a:xfrm xmlns:a="http://schemas.openxmlformats.org/drawingml/2006/main">
            <a:off x="6553200" y="3857625"/>
            <a:ext cx="22479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D0F7090-A8CA-422C-8F76-A3D47889BB1B}"/>
              </a:ext>
            </a:extLst>
          </p:cNvPr>
          <p:cNvSpPr>
            <a:spLocks xmlns:a="http://schemas.openxmlformats.org/drawingml/2006/main" noGrp="1"/>
          </p:cNvSpPr>
          <p:nvPr/>
        </p:nvSpPr>
        <p:spPr>
          <a:xfrm xmlns:a="http://schemas.openxmlformats.org/drawingml/2006/main">
            <a:off x="6724650" y="4086225"/>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A</a:t>
            </a:r>
          </a:p>
        </p:txBody>
      </p:sp>
      <p:sp>
        <p:nvSpPr>
          <p:cNvPr id="21" name="">
            <a:extLst xmlns:a="http://schemas.openxmlformats.org/drawingml/2006/main">
              <a:ext uri="{FF2B5EF4-FFF2-40B4-BE49-F238E27FC236}">
                <a16:creationId xmlns:a16="http://schemas.microsoft.com/office/drawing/2014/main" id="{8646A1A8-B369-486D-AD21-6D4C275CACB5}"/>
              </a:ext>
            </a:extLst>
          </p:cNvPr>
          <p:cNvSpPr>
            <a:spLocks xmlns:a="http://schemas.openxmlformats.org/drawingml/2006/main" noGrp="1"/>
          </p:cNvSpPr>
          <p:nvPr/>
        </p:nvSpPr>
        <p:spPr>
          <a:xfrm xmlns:a="http://schemas.openxmlformats.org/drawingml/2006/main">
            <a:off x="8991600" y="3857625"/>
            <a:ext cx="23241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A125983-23A5-4D73-AFD2-2E171D2DD2EE}"/>
              </a:ext>
            </a:extLst>
          </p:cNvPr>
          <p:cNvSpPr>
            <a:spLocks xmlns:a="http://schemas.openxmlformats.org/drawingml/2006/main" noGrp="1"/>
          </p:cNvSpPr>
          <p:nvPr/>
        </p:nvSpPr>
        <p:spPr>
          <a:xfrm xmlns:a="http://schemas.openxmlformats.org/drawingml/2006/main">
            <a:off x="9163050" y="40862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B</a:t>
            </a:r>
          </a:p>
        </p:txBody>
      </p:sp>
      <p:sp>
        <p:nvSpPr>
          <p:cNvPr id="23" name="">
            <a:extLst xmlns:a="http://schemas.openxmlformats.org/drawingml/2006/main">
              <a:ext uri="{FF2B5EF4-FFF2-40B4-BE49-F238E27FC236}">
                <a16:creationId xmlns:a16="http://schemas.microsoft.com/office/drawing/2014/main" id="{F1DE34FF-FC15-448E-B20B-B7455DF045F6}"/>
              </a:ext>
            </a:extLst>
          </p:cNvPr>
          <p:cNvSpPr>
            <a:spLocks xmlns:a="http://schemas.openxmlformats.org/drawingml/2006/main" noGrp="1"/>
          </p:cNvSpPr>
          <p:nvPr/>
        </p:nvSpPr>
        <p:spPr>
          <a:xfrm xmlns:a="http://schemas.openxmlformats.org/drawingml/2006/main">
            <a:off x="571500" y="55626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UI concept only. Current Reimagine proof supports a bounded front-seat resize, not dashboard redesign.</a:t>
            </a:r>
          </a:p>
        </p:txBody>
      </p:sp>
    </p:spTree>
    <p:extLst>
      <p:ext uri="{BB962C8B-B14F-4D97-AF65-F5344CB8AC3E}">
        <p14:creationId xmlns:p14="http://schemas.microsoft.com/office/powerpoint/2010/main" val="608186566"/>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CC848D5-04E5-4C0F-9B35-D779EEFE4C41}"/>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4E57B032-54B5-4CCE-B540-0444FA1647AB}"/>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22AB1B78-A21F-44B2-A90F-7FD91DA95C83}"/>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55E02F86-91A4-47C7-838A-0857309B1EAC}"/>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STATUS AND NEXT STEP</a:t>
            </a:r>
          </a:p>
        </p:txBody>
      </p:sp>
      <p:sp>
        <p:nvSpPr>
          <p:cNvPr id="5" name="">
            <a:extLst xmlns:a="http://schemas.openxmlformats.org/drawingml/2006/main">
              <a:ext uri="{FF2B5EF4-FFF2-40B4-BE49-F238E27FC236}">
                <a16:creationId xmlns:a16="http://schemas.microsoft.com/office/drawing/2014/main" id="{E457ED47-37FD-4AB8-8D0D-AE9403521FFB}"/>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Integrated prototype. Scoped proof still needed.</a:t>
            </a:r>
          </a:p>
        </p:txBody>
      </p:sp>
      <p:sp>
        <p:nvSpPr>
          <p:cNvPr id="6" name="">
            <a:extLst xmlns:a="http://schemas.openxmlformats.org/drawingml/2006/main">
              <a:ext uri="{FF2B5EF4-FFF2-40B4-BE49-F238E27FC236}">
                <a16:creationId xmlns:a16="http://schemas.microsoft.com/office/drawing/2014/main" id="{23C987A2-54A0-4981-B829-CD3982E800BA}"/>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10 / 11</a:t>
            </a:r>
          </a:p>
        </p:txBody>
      </p:sp>
      <p:sp>
        <p:nvSpPr>
          <p:cNvPr id="7" name="">
            <a:extLst xmlns:a="http://schemas.openxmlformats.org/drawingml/2006/main">
              <a:ext uri="{FF2B5EF4-FFF2-40B4-BE49-F238E27FC236}">
                <a16:creationId xmlns:a16="http://schemas.microsoft.com/office/drawing/2014/main" id="{77364083-562C-4541-A95C-D0EBBD3D7C25}"/>
              </a:ext>
            </a:extLst>
          </p:cNvPr>
          <p:cNvSpPr>
            <a:spLocks xmlns:a="http://schemas.openxmlformats.org/drawingml/2006/main" noGrp="1"/>
          </p:cNvSpPr>
          <p:nvPr/>
        </p:nvSpPr>
        <p:spPr>
          <a:xfrm xmlns:a="http://schemas.openxmlformats.org/drawingml/2006/main">
            <a:off x="552450" y="2095500"/>
            <a:ext cx="5067300" cy="35814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8" name="">
            <a:extLst xmlns:a="http://schemas.openxmlformats.org/drawingml/2006/main">
              <a:ext uri="{FF2B5EF4-FFF2-40B4-BE49-F238E27FC236}">
                <a16:creationId xmlns:a16="http://schemas.microsoft.com/office/drawing/2014/main" id="{183E4E4F-6F5D-4A18-86FF-87B88A5E6709}"/>
              </a:ext>
            </a:extLst>
          </p:cNvPr>
          <p:cNvSpPr>
            <a:spLocks xmlns:a="http://schemas.openxmlformats.org/drawingml/2006/main" noGrp="1"/>
          </p:cNvSpPr>
          <p:nvPr/>
        </p:nvSpPr>
        <p:spPr>
          <a:xfrm xmlns:a="http://schemas.openxmlformats.org/drawingml/2006/main">
            <a:off x="81915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a:t>
            </a:r>
          </a:p>
        </p:txBody>
      </p:sp>
      <p:sp>
        <p:nvSpPr>
          <p:cNvPr id="9" name="">
            <a:extLst xmlns:a="http://schemas.openxmlformats.org/drawingml/2006/main">
              <a:ext uri="{FF2B5EF4-FFF2-40B4-BE49-F238E27FC236}">
                <a16:creationId xmlns:a16="http://schemas.microsoft.com/office/drawing/2014/main" id="{3D9FF313-24C0-4078-A847-F7E87BA07B57}"/>
              </a:ext>
            </a:extLst>
          </p:cNvPr>
          <p:cNvSpPr>
            <a:spLocks xmlns:a="http://schemas.openxmlformats.org/drawingml/2006/main" noGrp="1"/>
          </p:cNvSpPr>
          <p:nvPr/>
        </p:nvSpPr>
        <p:spPr>
          <a:xfrm xmlns:a="http://schemas.openxmlformats.org/drawingml/2006/main">
            <a:off x="819150" y="28194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Connected application</a:t>
            </a:r>
          </a:p>
        </p:txBody>
      </p:sp>
      <p:sp>
        <p:nvSpPr>
          <p:cNvPr id="10" name="">
            <a:extLst xmlns:a="http://schemas.openxmlformats.org/drawingml/2006/main">
              <a:ext uri="{FF2B5EF4-FFF2-40B4-BE49-F238E27FC236}">
                <a16:creationId xmlns:a16="http://schemas.microsoft.com/office/drawing/2014/main" id="{EBFD04DE-19EB-4C0F-B2E3-73171918FA85}"/>
              </a:ext>
            </a:extLst>
          </p:cNvPr>
          <p:cNvSpPr>
            <a:spLocks xmlns:a="http://schemas.openxmlformats.org/drawingml/2006/main" noGrp="1"/>
          </p:cNvSpPr>
          <p:nvPr/>
        </p:nvSpPr>
        <p:spPr>
          <a:xfrm xmlns:a="http://schemas.openxmlformats.org/drawingml/2006/main">
            <a:off x="81915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44644C1A-99E5-4B5B-BFD4-FF839D6882E5}"/>
              </a:ext>
            </a:extLst>
          </p:cNvPr>
          <p:cNvSpPr>
            <a:spLocks xmlns:a="http://schemas.openxmlformats.org/drawingml/2006/main" noGrp="1"/>
          </p:cNvSpPr>
          <p:nvPr/>
        </p:nvSpPr>
        <p:spPr>
          <a:xfrm xmlns:a="http://schemas.openxmlformats.org/drawingml/2006/main">
            <a:off x="125730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Frontend and backend are combined.</a:t>
            </a:r>
          </a:p>
        </p:txBody>
      </p:sp>
      <p:sp>
        <p:nvSpPr>
          <p:cNvPr id="12" name="">
            <a:extLst xmlns:a="http://schemas.openxmlformats.org/drawingml/2006/main">
              <a:ext uri="{FF2B5EF4-FFF2-40B4-BE49-F238E27FC236}">
                <a16:creationId xmlns:a16="http://schemas.microsoft.com/office/drawing/2014/main" id="{D7AC3A3E-265E-4F4E-A0F4-DA07DBFD399A}"/>
              </a:ext>
            </a:extLst>
          </p:cNvPr>
          <p:cNvSpPr>
            <a:spLocks xmlns:a="http://schemas.openxmlformats.org/drawingml/2006/main" noGrp="1"/>
          </p:cNvSpPr>
          <p:nvPr/>
        </p:nvSpPr>
        <p:spPr>
          <a:xfrm xmlns:a="http://schemas.openxmlformats.org/drawingml/2006/main">
            <a:off x="81915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D4C75EA5-2EAA-454E-900F-7B6FBC794C10}"/>
              </a:ext>
            </a:extLst>
          </p:cNvPr>
          <p:cNvSpPr>
            <a:spLocks xmlns:a="http://schemas.openxmlformats.org/drawingml/2006/main" noGrp="1"/>
          </p:cNvSpPr>
          <p:nvPr/>
        </p:nvSpPr>
        <p:spPr>
          <a:xfrm xmlns:a="http://schemas.openxmlformats.org/drawingml/2006/main">
            <a:off x="125730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Real-source runs exercised on bounded samples.</a:t>
            </a:r>
          </a:p>
        </p:txBody>
      </p:sp>
      <p:sp>
        <p:nvSpPr>
          <p:cNvPr id="14" name="">
            <a:extLst xmlns:a="http://schemas.openxmlformats.org/drawingml/2006/main">
              <a:ext uri="{FF2B5EF4-FFF2-40B4-BE49-F238E27FC236}">
                <a16:creationId xmlns:a16="http://schemas.microsoft.com/office/drawing/2014/main" id="{EDC377BB-3830-4442-9D69-813877BC1B6E}"/>
              </a:ext>
            </a:extLst>
          </p:cNvPr>
          <p:cNvSpPr>
            <a:spLocks xmlns:a="http://schemas.openxmlformats.org/drawingml/2006/main" noGrp="1"/>
          </p:cNvSpPr>
          <p:nvPr/>
        </p:nvSpPr>
        <p:spPr>
          <a:xfrm xmlns:a="http://schemas.openxmlformats.org/drawingml/2006/main">
            <a:off x="81915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DC142C89-FA06-45D8-9AF8-7FF00C9A5016}"/>
              </a:ext>
            </a:extLst>
          </p:cNvPr>
          <p:cNvSpPr>
            <a:spLocks xmlns:a="http://schemas.openxmlformats.org/drawingml/2006/main" noGrp="1"/>
          </p:cNvSpPr>
          <p:nvPr/>
        </p:nvSpPr>
        <p:spPr>
          <a:xfrm xmlns:a="http://schemas.openxmlformats.org/drawingml/2006/main">
            <a:off x="125730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Current UI screenshots use fixture content.</a:t>
            </a:r>
          </a:p>
        </p:txBody>
      </p:sp>
      <p:sp>
        <p:nvSpPr>
          <p:cNvPr id="16" name="">
            <a:extLst xmlns:a="http://schemas.openxmlformats.org/drawingml/2006/main">
              <a:ext uri="{FF2B5EF4-FFF2-40B4-BE49-F238E27FC236}">
                <a16:creationId xmlns:a16="http://schemas.microsoft.com/office/drawing/2014/main" id="{E1B00583-FD83-4A21-9A4B-7BBA872033FF}"/>
              </a:ext>
            </a:extLst>
          </p:cNvPr>
          <p:cNvSpPr>
            <a:spLocks xmlns:a="http://schemas.openxmlformats.org/drawingml/2006/main" noGrp="1"/>
          </p:cNvSpPr>
          <p:nvPr/>
        </p:nvSpPr>
        <p:spPr>
          <a:xfrm xmlns:a="http://schemas.openxmlformats.org/drawingml/2006/main">
            <a:off x="81915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17" name="">
            <a:extLst xmlns:a="http://schemas.openxmlformats.org/drawingml/2006/main">
              <a:ext uri="{FF2B5EF4-FFF2-40B4-BE49-F238E27FC236}">
                <a16:creationId xmlns:a16="http://schemas.microsoft.com/office/drawing/2014/main" id="{CFAEFCCF-DC58-4222-A461-F0B8A6A37969}"/>
              </a:ext>
            </a:extLst>
          </p:cNvPr>
          <p:cNvSpPr>
            <a:spLocks xmlns:a="http://schemas.openxmlformats.org/drawingml/2006/main" noGrp="1"/>
          </p:cNvSpPr>
          <p:nvPr/>
        </p:nvSpPr>
        <p:spPr>
          <a:xfrm xmlns:a="http://schemas.openxmlformats.org/drawingml/2006/main">
            <a:off x="125730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and part catalog still synthetic for G60 run.</a:t>
            </a:r>
          </a:p>
        </p:txBody>
      </p:sp>
      <p:sp>
        <p:nvSpPr>
          <p:cNvPr id="18" name="">
            <a:extLst xmlns:a="http://schemas.openxmlformats.org/drawingml/2006/main">
              <a:ext uri="{FF2B5EF4-FFF2-40B4-BE49-F238E27FC236}">
                <a16:creationId xmlns:a16="http://schemas.microsoft.com/office/drawing/2014/main" id="{C74AFA75-C00A-4040-8AF7-2E2837446F8F}"/>
              </a:ext>
            </a:extLst>
          </p:cNvPr>
          <p:cNvSpPr>
            <a:spLocks xmlns:a="http://schemas.openxmlformats.org/drawingml/2006/main" noGrp="1"/>
          </p:cNvSpPr>
          <p:nvPr/>
        </p:nvSpPr>
        <p:spPr>
          <a:xfrm xmlns:a="http://schemas.openxmlformats.org/drawingml/2006/main">
            <a:off x="6572250" y="2095500"/>
            <a:ext cx="5067300" cy="3581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6BE09E3-EC20-4D05-967F-6ECB6B1AFEE5}"/>
              </a:ext>
            </a:extLst>
          </p:cNvPr>
          <p:cNvSpPr>
            <a:spLocks xmlns:a="http://schemas.openxmlformats.org/drawingml/2006/main" noGrp="1"/>
          </p:cNvSpPr>
          <p:nvPr/>
        </p:nvSpPr>
        <p:spPr>
          <a:xfrm xmlns:a="http://schemas.openxmlformats.org/drawingml/2006/main">
            <a:off x="685800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NEXT</a:t>
            </a:r>
          </a:p>
        </p:txBody>
      </p:sp>
      <p:sp>
        <p:nvSpPr>
          <p:cNvPr id="20" name="">
            <a:extLst xmlns:a="http://schemas.openxmlformats.org/drawingml/2006/main">
              <a:ext uri="{FF2B5EF4-FFF2-40B4-BE49-F238E27FC236}">
                <a16:creationId xmlns:a16="http://schemas.microsoft.com/office/drawing/2014/main" id="{11F81705-5ACC-4CEC-A380-9BC571DA95F3}"/>
              </a:ext>
            </a:extLst>
          </p:cNvPr>
          <p:cNvSpPr>
            <a:spLocks xmlns:a="http://schemas.openxmlformats.org/drawingml/2006/main" noGrp="1"/>
          </p:cNvSpPr>
          <p:nvPr/>
        </p:nvSpPr>
        <p:spPr>
          <a:xfrm xmlns:a="http://schemas.openxmlformats.org/drawingml/2006/main">
            <a:off x="6858000" y="28194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One coherent BMW case</a:t>
            </a:r>
          </a:p>
        </p:txBody>
      </p:sp>
      <p:sp>
        <p:nvSpPr>
          <p:cNvPr id="21" name="">
            <a:extLst xmlns:a="http://schemas.openxmlformats.org/drawingml/2006/main">
              <a:ext uri="{FF2B5EF4-FFF2-40B4-BE49-F238E27FC236}">
                <a16:creationId xmlns:a16="http://schemas.microsoft.com/office/drawing/2014/main" id="{6551B42D-63CA-4023-8B9A-27025A199605}"/>
              </a:ext>
            </a:extLst>
          </p:cNvPr>
          <p:cNvSpPr>
            <a:spLocks xmlns:a="http://schemas.openxmlformats.org/drawingml/2006/main" noGrp="1"/>
          </p:cNvSpPr>
          <p:nvPr/>
        </p:nvSpPr>
        <p:spPr>
          <a:xfrm xmlns:a="http://schemas.openxmlformats.org/drawingml/2006/main">
            <a:off x="685800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22" name="">
            <a:extLst xmlns:a="http://schemas.openxmlformats.org/drawingml/2006/main">
              <a:ext uri="{FF2B5EF4-FFF2-40B4-BE49-F238E27FC236}">
                <a16:creationId xmlns:a16="http://schemas.microsoft.com/office/drawing/2014/main" id="{83EB2106-0901-4424-ABE4-3CB8B979EE04}"/>
              </a:ext>
            </a:extLst>
          </p:cNvPr>
          <p:cNvSpPr>
            <a:spLocks xmlns:a="http://schemas.openxmlformats.org/drawingml/2006/main" noGrp="1"/>
          </p:cNvSpPr>
          <p:nvPr/>
        </p:nvSpPr>
        <p:spPr>
          <a:xfrm xmlns:a="http://schemas.openxmlformats.org/drawingml/2006/main">
            <a:off x="729615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Match US feedback to the relevant baseline.</a:t>
            </a:r>
          </a:p>
        </p:txBody>
      </p:sp>
      <p:sp>
        <p:nvSpPr>
          <p:cNvPr id="23" name="">
            <a:extLst xmlns:a="http://schemas.openxmlformats.org/drawingml/2006/main">
              <a:ext uri="{FF2B5EF4-FFF2-40B4-BE49-F238E27FC236}">
                <a16:creationId xmlns:a16="http://schemas.microsoft.com/office/drawing/2014/main" id="{277DA977-EC21-4CEF-9DFB-1726249606CA}"/>
              </a:ext>
            </a:extLst>
          </p:cNvPr>
          <p:cNvSpPr>
            <a:spLocks xmlns:a="http://schemas.openxmlformats.org/drawingml/2006/main" noGrp="1"/>
          </p:cNvSpPr>
          <p:nvPr/>
        </p:nvSpPr>
        <p:spPr>
          <a:xfrm xmlns:a="http://schemas.openxmlformats.org/drawingml/2006/main">
            <a:off x="685800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24" name="">
            <a:extLst xmlns:a="http://schemas.openxmlformats.org/drawingml/2006/main">
              <a:ext uri="{FF2B5EF4-FFF2-40B4-BE49-F238E27FC236}">
                <a16:creationId xmlns:a16="http://schemas.microsoft.com/office/drawing/2014/main" id="{583909D2-0383-4A1B-A22B-8F02C1391608}"/>
              </a:ext>
            </a:extLst>
          </p:cNvPr>
          <p:cNvSpPr>
            <a:spLocks xmlns:a="http://schemas.openxmlformats.org/drawingml/2006/main" noGrp="1"/>
          </p:cNvSpPr>
          <p:nvPr/>
        </p:nvSpPr>
        <p:spPr>
          <a:xfrm xmlns:a="http://schemas.openxmlformats.org/drawingml/2006/main">
            <a:off x="729615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Show exact source and a reviewed requirement.</a:t>
            </a:r>
          </a:p>
        </p:txBody>
      </p:sp>
      <p:sp>
        <p:nvSpPr>
          <p:cNvPr id="25" name="">
            <a:extLst xmlns:a="http://schemas.openxmlformats.org/drawingml/2006/main">
              <a:ext uri="{FF2B5EF4-FFF2-40B4-BE49-F238E27FC236}">
                <a16:creationId xmlns:a16="http://schemas.microsoft.com/office/drawing/2014/main" id="{4F3BCCBB-FFF9-4F15-B3B5-31AC387F2468}"/>
              </a:ext>
            </a:extLst>
          </p:cNvPr>
          <p:cNvSpPr>
            <a:spLocks xmlns:a="http://schemas.openxmlformats.org/drawingml/2006/main" noGrp="1"/>
          </p:cNvSpPr>
          <p:nvPr/>
        </p:nvSpPr>
        <p:spPr>
          <a:xfrm xmlns:a="http://schemas.openxmlformats.org/drawingml/2006/main">
            <a:off x="685800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26" name="">
            <a:extLst xmlns:a="http://schemas.openxmlformats.org/drawingml/2006/main">
              <a:ext uri="{FF2B5EF4-FFF2-40B4-BE49-F238E27FC236}">
                <a16:creationId xmlns:a16="http://schemas.microsoft.com/office/drawing/2014/main" id="{A6166A52-265A-4DA2-941D-47B0FDE3A019}"/>
              </a:ext>
            </a:extLst>
          </p:cNvPr>
          <p:cNvSpPr>
            <a:spLocks xmlns:a="http://schemas.openxmlformats.org/drawingml/2006/main" noGrp="1"/>
          </p:cNvSpPr>
          <p:nvPr/>
        </p:nvSpPr>
        <p:spPr>
          <a:xfrm xmlns:a="http://schemas.openxmlformats.org/drawingml/2006/main">
            <a:off x="729615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Record PM decision on the exact version.</a:t>
            </a:r>
          </a:p>
        </p:txBody>
      </p:sp>
      <p:sp>
        <p:nvSpPr>
          <p:cNvPr id="27" name="">
            <a:extLst xmlns:a="http://schemas.openxmlformats.org/drawingml/2006/main">
              <a:ext uri="{FF2B5EF4-FFF2-40B4-BE49-F238E27FC236}">
                <a16:creationId xmlns:a16="http://schemas.microsoft.com/office/drawing/2014/main" id="{B37E8670-AE32-494E-9ABE-24FA646BED9B}"/>
              </a:ext>
            </a:extLst>
          </p:cNvPr>
          <p:cNvSpPr>
            <a:spLocks xmlns:a="http://schemas.openxmlformats.org/drawingml/2006/main" noGrp="1"/>
          </p:cNvSpPr>
          <p:nvPr/>
        </p:nvSpPr>
        <p:spPr>
          <a:xfrm xmlns:a="http://schemas.openxmlformats.org/drawingml/2006/main">
            <a:off x="685800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28" name="">
            <a:extLst xmlns:a="http://schemas.openxmlformats.org/drawingml/2006/main">
              <a:ext uri="{FF2B5EF4-FFF2-40B4-BE49-F238E27FC236}">
                <a16:creationId xmlns:a16="http://schemas.microsoft.com/office/drawing/2014/main" id="{CF1ADCD3-3ED8-47B1-8919-AA7759DD13AC}"/>
              </a:ext>
            </a:extLst>
          </p:cNvPr>
          <p:cNvSpPr>
            <a:spLocks xmlns:a="http://schemas.openxmlformats.org/drawingml/2006/main" noGrp="1"/>
          </p:cNvSpPr>
          <p:nvPr/>
        </p:nvSpPr>
        <p:spPr>
          <a:xfrm xmlns:a="http://schemas.openxmlformats.org/drawingml/2006/main">
            <a:off x="729615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Export the decision trace.</a:t>
            </a:r>
          </a:p>
        </p:txBody>
      </p:sp>
    </p:spTree>
    <p:extLst>
      <p:ext uri="{BB962C8B-B14F-4D97-AF65-F5344CB8AC3E}">
        <p14:creationId xmlns:p14="http://schemas.microsoft.com/office/powerpoint/2010/main" val="1097620087"/>
      </p:ext>
    </p:extLst>
  </p:cSld>
</p:sld>
</file>

<file path=ppt/slides/slide11.xml><?xml version="1.0" encoding="utf-8"?>
<p:sld xmlns:p="http://schemas.openxmlformats.org/presentationml/2006/main">
  <p:cSld>
    <p:bg>
      <p:bgPr>
        <a:solidFill xmlns:a="http://schemas.openxmlformats.org/drawingml/2006/main">
          <a:srgbClr val="11192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4265F27-0772-45F2-96E3-EEEC59325414}"/>
              </a:ext>
            </a:extLst>
          </p:cNvPr>
          <p:cNvSpPr>
            <a:spLocks xmlns:a="http://schemas.openxmlformats.org/drawingml/2006/main" noGrp="1"/>
          </p:cNvSpPr>
          <p:nvPr/>
        </p:nvSpPr>
        <p:spPr>
          <a:xfrm xmlns:a="http://schemas.openxmlformats.org/drawingml/2006/main">
            <a:off x="514350" y="2381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F2A90B11-AB6A-4AC5-B7C7-6DE768533742}"/>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810BDC54-4369-4B86-9A8E-B05D18BC2CB2}"/>
              </a:ext>
            </a:extLst>
          </p:cNvPr>
          <p:cNvSpPr>
            <a:spLocks xmlns:a="http://schemas.openxmlformats.org/drawingml/2006/main" noGrp="1"/>
          </p:cNvSpPr>
          <p:nvPr/>
        </p:nvSpPr>
        <p:spPr>
          <a:xfrm xmlns:a="http://schemas.openxmlformats.org/drawingml/2006/main">
            <a:off x="1552575" y="2762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AEBBD0"/>
                </a:solidFill>
                <a:latin typeface="Calibri"/>
                <a:ea typeface="Calibri"/>
                <a:cs typeface="Calibri"/>
              </a:defRPr>
            </a:defPPr>
          </a:lstStyle>
          <a:p xmlns:a="http://schemas.openxmlformats.org/drawingml/2006/main">
            <a:pPr algn="l">
              <a:defRPr sz="900" b="0">
                <a:solidFill>
                  <a:srgbClr val="AEBBD0"/>
                </a:solidFill>
                <a:latin typeface="Calibri"/>
                <a:ea typeface="Calibri"/>
                <a:cs typeface="Calibri"/>
              </a:defRPr>
            </a:pPr>
            <a:r>
              <a:rPr sz="900" b="0">
                <a:solidFill>
                  <a:srgbClr val="AEBBD0"/>
                </a:solidFill>
                <a:latin typeface="Calibri"/>
                <a:ea typeface="Calibri"/>
                <a:cs typeface="Calibri"/>
              </a:rPr>
              <a:t>AI VEHICLE REQUIREMENTS LAB</a:t>
            </a:r>
          </a:p>
        </p:txBody>
      </p:sp>
      <p:sp>
        <p:nvSpPr>
          <p:cNvPr id="4" name="">
            <a:extLst xmlns:a="http://schemas.openxmlformats.org/drawingml/2006/main">
              <a:ext uri="{FF2B5EF4-FFF2-40B4-BE49-F238E27FC236}">
                <a16:creationId xmlns:a16="http://schemas.microsoft.com/office/drawing/2014/main" id="{557DFB44-5798-49EF-84F1-C4AF3BF395A1}"/>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AEBBD0"/>
                </a:solidFill>
                <a:latin typeface="Calibri"/>
                <a:ea typeface="Calibri"/>
                <a:cs typeface="Calibri"/>
              </a:defRPr>
            </a:defPPr>
          </a:lstStyle>
          <a:p xmlns:a="http://schemas.openxmlformats.org/drawingml/2006/main">
            <a:pPr algn="r">
              <a:defRPr sz="900" b="0">
                <a:solidFill>
                  <a:srgbClr val="AEBBD0"/>
                </a:solidFill>
                <a:latin typeface="Calibri"/>
                <a:ea typeface="Calibri"/>
                <a:cs typeface="Calibri"/>
              </a:defRPr>
            </a:pPr>
            <a:r>
              <a:rPr sz="900" b="0">
                <a:solidFill>
                  <a:srgbClr val="AEBBD0"/>
                </a:solidFill>
                <a:latin typeface="Calibri"/>
                <a:ea typeface="Calibri"/>
                <a:cs typeface="Calibri"/>
              </a:rPr>
              <a:t>11 / 11</a:t>
            </a:r>
          </a:p>
        </p:txBody>
      </p:sp>
      <p:sp>
        <p:nvSpPr>
          <p:cNvPr id="5" name="">
            <a:extLst xmlns:a="http://schemas.openxmlformats.org/drawingml/2006/main">
              <a:ext uri="{FF2B5EF4-FFF2-40B4-BE49-F238E27FC236}">
                <a16:creationId xmlns:a16="http://schemas.microsoft.com/office/drawing/2014/main" id="{82FE994F-1EEA-4DC1-8DE7-C539512B6665}"/>
              </a:ext>
            </a:extLst>
          </p:cNvPr>
          <p:cNvSpPr>
            <a:spLocks xmlns:a="http://schemas.openxmlformats.org/drawingml/2006/main" noGrp="1"/>
          </p:cNvSpPr>
          <p:nvPr/>
        </p:nvSpPr>
        <p:spPr>
          <a:xfrm xmlns:a="http://schemas.openxmlformats.org/drawingml/2006/main">
            <a:off x="552450" y="1047750"/>
            <a:ext cx="5810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Next proof: one scoped</a:t>
            </a:r>
          </a:p>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G60 case.</a:t>
            </a:r>
          </a:p>
        </p:txBody>
      </p:sp>
      <p:sp>
        <p:nvSpPr>
          <p:cNvPr id="6" name="">
            <a:extLst xmlns:a="http://schemas.openxmlformats.org/drawingml/2006/main">
              <a:ext uri="{FF2B5EF4-FFF2-40B4-BE49-F238E27FC236}">
                <a16:creationId xmlns:a16="http://schemas.microsoft.com/office/drawing/2014/main" id="{92C4F1AD-6267-4841-B6CF-CAA90FC655D4}"/>
              </a:ext>
            </a:extLst>
          </p:cNvPr>
          <p:cNvSpPr>
            <a:spLocks xmlns:a="http://schemas.openxmlformats.org/drawingml/2006/main" noGrp="1"/>
          </p:cNvSpPr>
          <p:nvPr/>
        </p:nvSpPr>
        <p:spPr>
          <a:xfrm xmlns:a="http://schemas.openxmlformats.org/drawingml/2006/main">
            <a:off x="609600" y="2952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Scope</a:t>
            </a:r>
          </a:p>
        </p:txBody>
      </p:sp>
      <p:sp>
        <p:nvSpPr>
          <p:cNvPr id="7" name="">
            <a:extLst xmlns:a="http://schemas.openxmlformats.org/drawingml/2006/main">
              <a:ext uri="{FF2B5EF4-FFF2-40B4-BE49-F238E27FC236}">
                <a16:creationId xmlns:a16="http://schemas.microsoft.com/office/drawing/2014/main" id="{4175F6DF-625A-4947-8C88-296FCCCDB5C2}"/>
              </a:ext>
            </a:extLst>
          </p:cNvPr>
          <p:cNvSpPr>
            <a:spLocks xmlns:a="http://schemas.openxmlformats.org/drawingml/2006/main" noGrp="1"/>
          </p:cNvSpPr>
          <p:nvPr/>
        </p:nvSpPr>
        <p:spPr>
          <a:xfrm xmlns:a="http://schemas.openxmlformats.org/drawingml/2006/main">
            <a:off x="2171700" y="29527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US G60 family; exact trim open</a:t>
            </a:r>
          </a:p>
        </p:txBody>
      </p:sp>
      <p:sp>
        <p:nvSpPr>
          <p:cNvPr id="8" name="">
            <a:extLst xmlns:a="http://schemas.openxmlformats.org/drawingml/2006/main">
              <a:ext uri="{FF2B5EF4-FFF2-40B4-BE49-F238E27FC236}">
                <a16:creationId xmlns:a16="http://schemas.microsoft.com/office/drawing/2014/main" id="{E8EC69CF-16F1-466D-A9F0-A0C3FA7B0C69}"/>
              </a:ext>
            </a:extLst>
          </p:cNvPr>
          <p:cNvSpPr>
            <a:spLocks xmlns:a="http://schemas.openxmlformats.org/drawingml/2006/main" noGrp="1"/>
          </p:cNvSpPr>
          <p:nvPr/>
        </p:nvSpPr>
        <p:spPr>
          <a:xfrm xmlns:a="http://schemas.openxmlformats.org/drawingml/2006/main">
            <a:off x="609600" y="35623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Trace</a:t>
            </a:r>
          </a:p>
        </p:txBody>
      </p:sp>
      <p:sp>
        <p:nvSpPr>
          <p:cNvPr id="9" name="">
            <a:extLst xmlns:a="http://schemas.openxmlformats.org/drawingml/2006/main">
              <a:ext uri="{FF2B5EF4-FFF2-40B4-BE49-F238E27FC236}">
                <a16:creationId xmlns:a16="http://schemas.microsoft.com/office/drawing/2014/main" id="{69C5A8CF-B4DD-4130-8A8F-83C945F3FDEE}"/>
              </a:ext>
            </a:extLst>
          </p:cNvPr>
          <p:cNvSpPr>
            <a:spLocks xmlns:a="http://schemas.openxmlformats.org/drawingml/2006/main" noGrp="1"/>
          </p:cNvSpPr>
          <p:nvPr/>
        </p:nvSpPr>
        <p:spPr>
          <a:xfrm xmlns:a="http://schemas.openxmlformats.org/drawingml/2006/main">
            <a:off x="2171700" y="3562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finding to its source row</a:t>
            </a:r>
          </a:p>
        </p:txBody>
      </p:sp>
      <p:sp>
        <p:nvSpPr>
          <p:cNvPr id="10" name="">
            <a:extLst xmlns:a="http://schemas.openxmlformats.org/drawingml/2006/main">
              <a:ext uri="{FF2B5EF4-FFF2-40B4-BE49-F238E27FC236}">
                <a16:creationId xmlns:a16="http://schemas.microsoft.com/office/drawing/2014/main" id="{1A377E89-6B3C-48EA-8903-075743F5ED90}"/>
              </a:ext>
            </a:extLst>
          </p:cNvPr>
          <p:cNvSpPr>
            <a:spLocks xmlns:a="http://schemas.openxmlformats.org/drawingml/2006/main" noGrp="1"/>
          </p:cNvSpPr>
          <p:nvPr/>
        </p:nvSpPr>
        <p:spPr>
          <a:xfrm xmlns:a="http://schemas.openxmlformats.org/drawingml/2006/main">
            <a:off x="609600" y="41719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Review</a:t>
            </a:r>
          </a:p>
        </p:txBody>
      </p:sp>
      <p:sp>
        <p:nvSpPr>
          <p:cNvPr id="11" name="">
            <a:extLst xmlns:a="http://schemas.openxmlformats.org/drawingml/2006/main">
              <a:ext uri="{FF2B5EF4-FFF2-40B4-BE49-F238E27FC236}">
                <a16:creationId xmlns:a16="http://schemas.microsoft.com/office/drawing/2014/main" id="{5ED27C01-B991-4427-BD39-11A18F05D03F}"/>
              </a:ext>
            </a:extLst>
          </p:cNvPr>
          <p:cNvSpPr>
            <a:spLocks xmlns:a="http://schemas.openxmlformats.org/drawingml/2006/main" noGrp="1"/>
          </p:cNvSpPr>
          <p:nvPr/>
        </p:nvSpPr>
        <p:spPr>
          <a:xfrm xmlns:a="http://schemas.openxmlformats.org/drawingml/2006/main">
            <a:off x="2171700" y="4171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candidate requirement</a:t>
            </a:r>
          </a:p>
        </p:txBody>
      </p:sp>
      <p:sp>
        <p:nvSpPr>
          <p:cNvPr id="12" name="">
            <a:extLst xmlns:a="http://schemas.openxmlformats.org/drawingml/2006/main">
              <a:ext uri="{FF2B5EF4-FFF2-40B4-BE49-F238E27FC236}">
                <a16:creationId xmlns:a16="http://schemas.microsoft.com/office/drawing/2014/main" id="{482C58F8-6879-4F9D-8B57-2A670286FCC8}"/>
              </a:ext>
            </a:extLst>
          </p:cNvPr>
          <p:cNvSpPr>
            <a:spLocks xmlns:a="http://schemas.openxmlformats.org/drawingml/2006/main" noGrp="1"/>
          </p:cNvSpPr>
          <p:nvPr/>
        </p:nvSpPr>
        <p:spPr>
          <a:xfrm xmlns:a="http://schemas.openxmlformats.org/drawingml/2006/main">
            <a:off x="609600" y="47815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Decide</a:t>
            </a:r>
          </a:p>
        </p:txBody>
      </p:sp>
      <p:sp>
        <p:nvSpPr>
          <p:cNvPr id="13" name="">
            <a:extLst xmlns:a="http://schemas.openxmlformats.org/drawingml/2006/main">
              <a:ext uri="{FF2B5EF4-FFF2-40B4-BE49-F238E27FC236}">
                <a16:creationId xmlns:a16="http://schemas.microsoft.com/office/drawing/2014/main" id="{DB8325C7-4B8B-4BE6-9BB4-01AE6B8FEDD8}"/>
              </a:ext>
            </a:extLst>
          </p:cNvPr>
          <p:cNvSpPr>
            <a:spLocks xmlns:a="http://schemas.openxmlformats.org/drawingml/2006/main" noGrp="1"/>
          </p:cNvSpPr>
          <p:nvPr/>
        </p:nvSpPr>
        <p:spPr>
          <a:xfrm xmlns:a="http://schemas.openxmlformats.org/drawingml/2006/main">
            <a:off x="2171700" y="47815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PM-owned version and export</a:t>
            </a:r>
          </a:p>
        </p:txBody>
      </p:sp>
      <p:sp>
        <p:nvSpPr>
          <p:cNvPr id="14" name="">
            <a:extLst xmlns:a="http://schemas.openxmlformats.org/drawingml/2006/main">
              <a:ext uri="{FF2B5EF4-FFF2-40B4-BE49-F238E27FC236}">
                <a16:creationId xmlns:a16="http://schemas.microsoft.com/office/drawing/2014/main" id="{0AC096C9-338C-4192-8220-6697B597DB75}"/>
              </a:ext>
            </a:extLst>
          </p:cNvPr>
          <p:cNvSpPr>
            <a:spLocks xmlns:a="http://schemas.openxmlformats.org/drawingml/2006/main" noGrp="1"/>
          </p:cNvSpPr>
          <p:nvPr/>
        </p:nvSpPr>
        <p:spPr>
          <a:xfrm xmlns:a="http://schemas.openxmlformats.org/drawingml/2006/main">
            <a:off x="609600" y="5619750"/>
            <a:ext cx="12382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pic>
        <p:nvPicPr>
          <p:cNvPr id="15" name="">
            <a:extLst xmlns:a="http://schemas.openxmlformats.org/drawingml/2006/main">
              <a:ext uri="{FF2B5EF4-FFF2-40B4-BE49-F238E27FC236}">
                <a16:creationId xmlns:a16="http://schemas.microsoft.com/office/drawing/2014/main" id="{0DF5AE96-96D9-40B6-96BB-22C297B6AF76}"/>
              </a:ext>
            </a:extLst>
          </p:cNvPr>
          <p:cNvPicPr>
            <a:picLocks xmlns:a="http://schemas.openxmlformats.org/drawingml/2006/main" noChangeAspect="1"/>
          </p:cNvPicPr>
          <p:nvPr/>
        </p:nvPicPr>
        <p:blipFill>
          <a:blip xmlns:r="http://schemas.openxmlformats.org/officeDocument/2006/relationships" xmlns:a="http://schemas.openxmlformats.org/drawingml/2006/main" r:embed="R5d5048ac95354611"/>
          <a:stretch xmlns:a="http://schemas.openxmlformats.org/drawingml/2006/main"/>
        </p:blipFill>
        <p:spPr>
          <a:xfrm xmlns:a="http://schemas.openxmlformats.org/drawingml/2006/main">
            <a:off x="5905500" y="2648630"/>
            <a:ext cx="5715000" cy="2608489"/>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F466D98E-E014-4B26-AAE4-B591C0397347}"/>
              </a:ext>
            </a:extLst>
          </p:cNvPr>
          <p:cNvSpPr>
            <a:spLocks xmlns:a="http://schemas.openxmlformats.org/drawingml/2006/main" noGrp="1"/>
          </p:cNvSpPr>
          <p:nvPr/>
        </p:nvSpPr>
        <p:spPr>
          <a:xfrm xmlns:a="http://schemas.openxmlformats.org/drawingml/2006/main">
            <a:off x="6572250" y="5810250"/>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AEBBD0"/>
                </a:solidFill>
                <a:latin typeface="Calibri"/>
                <a:ea typeface="Calibri"/>
                <a:cs typeface="Calibri"/>
              </a:defRPr>
            </a:defPPr>
          </a:lstStyle>
          <a:p xmlns:a="http://schemas.openxmlformats.org/drawingml/2006/main">
            <a:pPr algn="r">
              <a:defRPr sz="900" b="0">
                <a:solidFill>
                  <a:srgbClr val="AEBBD0"/>
                </a:solidFill>
                <a:latin typeface="Calibri"/>
                <a:ea typeface="Calibri"/>
                <a:cs typeface="Calibri"/>
              </a:defRPr>
            </a:pPr>
            <a:r>
              <a:rPr sz="900" b="0">
                <a:solidFill>
                  <a:srgbClr val="AEBBD0"/>
                </a:solidFill>
                <a:latin typeface="Calibri"/>
                <a:ea typeface="Calibri"/>
                <a:cs typeface="Calibri"/>
              </a:rPr>
              <a:t>Illustrative vehicle image; not an exact G60 trim reference.</a:t>
            </a:r>
          </a:p>
        </p:txBody>
      </p:sp>
    </p:spTree>
    <p:extLst>
      <p:ext uri="{BB962C8B-B14F-4D97-AF65-F5344CB8AC3E}">
        <p14:creationId xmlns:p14="http://schemas.microsoft.com/office/powerpoint/2010/main" val="19398851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2026-10-11T05:17:01.1140000Z</dcterms:created>
  <dcterms:modified xsi:type="dcterms:W3CDTF">2026-10-11T05:17:01.1140000Z</dcterms:modified>
</coreProperties>
</file>